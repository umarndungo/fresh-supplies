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91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583324" y="12"/>
            <a:ext cx="5608320" cy="6857365"/>
          </a:xfrm>
          <a:custGeom>
            <a:avLst/>
            <a:gdLst/>
            <a:ahLst/>
            <a:cxnLst/>
            <a:rect l="l" t="t" r="r" b="b"/>
            <a:pathLst>
              <a:path w="5608320" h="6857365">
                <a:moveTo>
                  <a:pt x="5608066" y="6857263"/>
                </a:moveTo>
                <a:lnTo>
                  <a:pt x="0" y="6857263"/>
                </a:lnTo>
                <a:lnTo>
                  <a:pt x="0" y="0"/>
                </a:lnTo>
                <a:lnTo>
                  <a:pt x="5608066" y="0"/>
                </a:lnTo>
                <a:lnTo>
                  <a:pt x="5608066" y="6857263"/>
                </a:lnTo>
                <a:close/>
              </a:path>
            </a:pathLst>
          </a:custGeom>
          <a:solidFill>
            <a:srgbClr val="0AB5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565925" y="12344"/>
            <a:ext cx="4206240" cy="6845300"/>
          </a:xfrm>
          <a:custGeom>
            <a:avLst/>
            <a:gdLst/>
            <a:ahLst/>
            <a:cxnLst/>
            <a:rect l="l" t="t" r="r" b="b"/>
            <a:pathLst>
              <a:path w="4206240" h="6845300">
                <a:moveTo>
                  <a:pt x="3603144" y="0"/>
                </a:moveTo>
                <a:lnTo>
                  <a:pt x="602862" y="0"/>
                </a:lnTo>
                <a:lnTo>
                  <a:pt x="586268" y="38100"/>
                </a:lnTo>
                <a:lnTo>
                  <a:pt x="566897" y="76200"/>
                </a:lnTo>
                <a:lnTo>
                  <a:pt x="547800" y="127000"/>
                </a:lnTo>
                <a:lnTo>
                  <a:pt x="528979" y="177800"/>
                </a:lnTo>
                <a:lnTo>
                  <a:pt x="510438" y="228600"/>
                </a:lnTo>
                <a:lnTo>
                  <a:pt x="492179" y="279400"/>
                </a:lnTo>
                <a:lnTo>
                  <a:pt x="474205" y="330200"/>
                </a:lnTo>
                <a:lnTo>
                  <a:pt x="456519" y="381000"/>
                </a:lnTo>
                <a:lnTo>
                  <a:pt x="439123" y="431800"/>
                </a:lnTo>
                <a:lnTo>
                  <a:pt x="422021" y="482600"/>
                </a:lnTo>
                <a:lnTo>
                  <a:pt x="405215" y="533400"/>
                </a:lnTo>
                <a:lnTo>
                  <a:pt x="388707" y="584200"/>
                </a:lnTo>
                <a:lnTo>
                  <a:pt x="372501" y="647700"/>
                </a:lnTo>
                <a:lnTo>
                  <a:pt x="356600" y="698500"/>
                </a:lnTo>
                <a:lnTo>
                  <a:pt x="341005" y="749300"/>
                </a:lnTo>
                <a:lnTo>
                  <a:pt x="325721" y="812800"/>
                </a:lnTo>
                <a:lnTo>
                  <a:pt x="310749" y="863600"/>
                </a:lnTo>
                <a:lnTo>
                  <a:pt x="296093" y="914400"/>
                </a:lnTo>
                <a:lnTo>
                  <a:pt x="281755" y="977900"/>
                </a:lnTo>
                <a:lnTo>
                  <a:pt x="270557" y="1028700"/>
                </a:lnTo>
                <a:lnTo>
                  <a:pt x="259578" y="1066800"/>
                </a:lnTo>
                <a:lnTo>
                  <a:pt x="248819" y="1117600"/>
                </a:lnTo>
                <a:lnTo>
                  <a:pt x="238280" y="1155700"/>
                </a:lnTo>
                <a:lnTo>
                  <a:pt x="227962" y="1206500"/>
                </a:lnTo>
                <a:lnTo>
                  <a:pt x="217865" y="1257300"/>
                </a:lnTo>
                <a:lnTo>
                  <a:pt x="207989" y="1295400"/>
                </a:lnTo>
                <a:lnTo>
                  <a:pt x="198336" y="1346200"/>
                </a:lnTo>
                <a:lnTo>
                  <a:pt x="188905" y="1397000"/>
                </a:lnTo>
                <a:lnTo>
                  <a:pt x="179697" y="1447800"/>
                </a:lnTo>
                <a:lnTo>
                  <a:pt x="170713" y="1485900"/>
                </a:lnTo>
                <a:lnTo>
                  <a:pt x="161953" y="1536700"/>
                </a:lnTo>
                <a:lnTo>
                  <a:pt x="153418" y="1587500"/>
                </a:lnTo>
                <a:lnTo>
                  <a:pt x="145107" y="1638300"/>
                </a:lnTo>
                <a:lnTo>
                  <a:pt x="137022" y="1689100"/>
                </a:lnTo>
                <a:lnTo>
                  <a:pt x="129163" y="1739900"/>
                </a:lnTo>
                <a:lnTo>
                  <a:pt x="121531" y="1778000"/>
                </a:lnTo>
                <a:lnTo>
                  <a:pt x="114126" y="1828800"/>
                </a:lnTo>
                <a:lnTo>
                  <a:pt x="106948" y="1879600"/>
                </a:lnTo>
                <a:lnTo>
                  <a:pt x="99998" y="1930400"/>
                </a:lnTo>
                <a:lnTo>
                  <a:pt x="93277" y="1981200"/>
                </a:lnTo>
                <a:lnTo>
                  <a:pt x="86785" y="2032000"/>
                </a:lnTo>
                <a:lnTo>
                  <a:pt x="80523" y="2082800"/>
                </a:lnTo>
                <a:lnTo>
                  <a:pt x="74490" y="2133600"/>
                </a:lnTo>
                <a:lnTo>
                  <a:pt x="68688" y="2184400"/>
                </a:lnTo>
                <a:lnTo>
                  <a:pt x="63117" y="2235200"/>
                </a:lnTo>
                <a:lnTo>
                  <a:pt x="57777" y="2286000"/>
                </a:lnTo>
                <a:lnTo>
                  <a:pt x="52670" y="2336800"/>
                </a:lnTo>
                <a:lnTo>
                  <a:pt x="47795" y="2387600"/>
                </a:lnTo>
                <a:lnTo>
                  <a:pt x="43153" y="2438400"/>
                </a:lnTo>
                <a:lnTo>
                  <a:pt x="38744" y="2489200"/>
                </a:lnTo>
                <a:lnTo>
                  <a:pt x="34569" y="2540000"/>
                </a:lnTo>
                <a:lnTo>
                  <a:pt x="30629" y="2590800"/>
                </a:lnTo>
                <a:lnTo>
                  <a:pt x="26924" y="2641600"/>
                </a:lnTo>
                <a:lnTo>
                  <a:pt x="23454" y="2692400"/>
                </a:lnTo>
                <a:lnTo>
                  <a:pt x="20220" y="2743200"/>
                </a:lnTo>
                <a:lnTo>
                  <a:pt x="17223" y="2794000"/>
                </a:lnTo>
                <a:lnTo>
                  <a:pt x="14463" y="2844800"/>
                </a:lnTo>
                <a:lnTo>
                  <a:pt x="11940" y="2895600"/>
                </a:lnTo>
                <a:lnTo>
                  <a:pt x="9655" y="2946400"/>
                </a:lnTo>
                <a:lnTo>
                  <a:pt x="7608" y="3009900"/>
                </a:lnTo>
                <a:lnTo>
                  <a:pt x="5800" y="3060700"/>
                </a:lnTo>
                <a:lnTo>
                  <a:pt x="4232" y="3111500"/>
                </a:lnTo>
                <a:lnTo>
                  <a:pt x="2904" y="3162300"/>
                </a:lnTo>
                <a:lnTo>
                  <a:pt x="1816" y="3213100"/>
                </a:lnTo>
                <a:lnTo>
                  <a:pt x="969" y="3263900"/>
                </a:lnTo>
                <a:lnTo>
                  <a:pt x="363" y="3314700"/>
                </a:lnTo>
                <a:lnTo>
                  <a:pt x="0" y="3365500"/>
                </a:lnTo>
                <a:lnTo>
                  <a:pt x="0" y="3479800"/>
                </a:lnTo>
                <a:lnTo>
                  <a:pt x="363" y="3530600"/>
                </a:lnTo>
                <a:lnTo>
                  <a:pt x="969" y="3581400"/>
                </a:lnTo>
                <a:lnTo>
                  <a:pt x="1816" y="3632200"/>
                </a:lnTo>
                <a:lnTo>
                  <a:pt x="2904" y="3683000"/>
                </a:lnTo>
                <a:lnTo>
                  <a:pt x="4232" y="3733800"/>
                </a:lnTo>
                <a:lnTo>
                  <a:pt x="5800" y="3784600"/>
                </a:lnTo>
                <a:lnTo>
                  <a:pt x="7608" y="3835400"/>
                </a:lnTo>
                <a:lnTo>
                  <a:pt x="9655" y="3898900"/>
                </a:lnTo>
                <a:lnTo>
                  <a:pt x="11940" y="3949700"/>
                </a:lnTo>
                <a:lnTo>
                  <a:pt x="14463" y="4000500"/>
                </a:lnTo>
                <a:lnTo>
                  <a:pt x="17223" y="4051300"/>
                </a:lnTo>
                <a:lnTo>
                  <a:pt x="20220" y="4102100"/>
                </a:lnTo>
                <a:lnTo>
                  <a:pt x="23454" y="4152900"/>
                </a:lnTo>
                <a:lnTo>
                  <a:pt x="26924" y="4203700"/>
                </a:lnTo>
                <a:lnTo>
                  <a:pt x="30629" y="4254500"/>
                </a:lnTo>
                <a:lnTo>
                  <a:pt x="34569" y="4305300"/>
                </a:lnTo>
                <a:lnTo>
                  <a:pt x="38744" y="4356100"/>
                </a:lnTo>
                <a:lnTo>
                  <a:pt x="43153" y="4406900"/>
                </a:lnTo>
                <a:lnTo>
                  <a:pt x="47795" y="4457700"/>
                </a:lnTo>
                <a:lnTo>
                  <a:pt x="52670" y="4508500"/>
                </a:lnTo>
                <a:lnTo>
                  <a:pt x="57777" y="4559300"/>
                </a:lnTo>
                <a:lnTo>
                  <a:pt x="63117" y="4610100"/>
                </a:lnTo>
                <a:lnTo>
                  <a:pt x="68688" y="4660900"/>
                </a:lnTo>
                <a:lnTo>
                  <a:pt x="74490" y="4711700"/>
                </a:lnTo>
                <a:lnTo>
                  <a:pt x="80523" y="4762500"/>
                </a:lnTo>
                <a:lnTo>
                  <a:pt x="86785" y="4813300"/>
                </a:lnTo>
                <a:lnTo>
                  <a:pt x="93277" y="4864100"/>
                </a:lnTo>
                <a:lnTo>
                  <a:pt x="99998" y="4914900"/>
                </a:lnTo>
                <a:lnTo>
                  <a:pt x="106948" y="4965700"/>
                </a:lnTo>
                <a:lnTo>
                  <a:pt x="114126" y="5016500"/>
                </a:lnTo>
                <a:lnTo>
                  <a:pt x="121531" y="5067300"/>
                </a:lnTo>
                <a:lnTo>
                  <a:pt x="129163" y="5105400"/>
                </a:lnTo>
                <a:lnTo>
                  <a:pt x="137022" y="5156200"/>
                </a:lnTo>
                <a:lnTo>
                  <a:pt x="145107" y="5207000"/>
                </a:lnTo>
                <a:lnTo>
                  <a:pt x="153418" y="5257800"/>
                </a:lnTo>
                <a:lnTo>
                  <a:pt x="161953" y="5308600"/>
                </a:lnTo>
                <a:lnTo>
                  <a:pt x="170713" y="5359400"/>
                </a:lnTo>
                <a:lnTo>
                  <a:pt x="179697" y="5397500"/>
                </a:lnTo>
                <a:lnTo>
                  <a:pt x="188905" y="5448300"/>
                </a:lnTo>
                <a:lnTo>
                  <a:pt x="198336" y="5499100"/>
                </a:lnTo>
                <a:lnTo>
                  <a:pt x="207989" y="5549900"/>
                </a:lnTo>
                <a:lnTo>
                  <a:pt x="217865" y="5588000"/>
                </a:lnTo>
                <a:lnTo>
                  <a:pt x="227962" y="5638800"/>
                </a:lnTo>
                <a:lnTo>
                  <a:pt x="238280" y="5689600"/>
                </a:lnTo>
                <a:lnTo>
                  <a:pt x="248819" y="5727700"/>
                </a:lnTo>
                <a:lnTo>
                  <a:pt x="259578" y="5778500"/>
                </a:lnTo>
                <a:lnTo>
                  <a:pt x="270557" y="5829300"/>
                </a:lnTo>
                <a:lnTo>
                  <a:pt x="281755" y="5867400"/>
                </a:lnTo>
                <a:lnTo>
                  <a:pt x="296093" y="5930900"/>
                </a:lnTo>
                <a:lnTo>
                  <a:pt x="310749" y="5981700"/>
                </a:lnTo>
                <a:lnTo>
                  <a:pt x="325721" y="6032500"/>
                </a:lnTo>
                <a:lnTo>
                  <a:pt x="341005" y="6096000"/>
                </a:lnTo>
                <a:lnTo>
                  <a:pt x="356600" y="6146800"/>
                </a:lnTo>
                <a:lnTo>
                  <a:pt x="372501" y="6197600"/>
                </a:lnTo>
                <a:lnTo>
                  <a:pt x="388707" y="6261100"/>
                </a:lnTo>
                <a:lnTo>
                  <a:pt x="405215" y="6311900"/>
                </a:lnTo>
                <a:lnTo>
                  <a:pt x="422021" y="6362700"/>
                </a:lnTo>
                <a:lnTo>
                  <a:pt x="439123" y="6413500"/>
                </a:lnTo>
                <a:lnTo>
                  <a:pt x="456519" y="6464300"/>
                </a:lnTo>
                <a:lnTo>
                  <a:pt x="474205" y="6515100"/>
                </a:lnTo>
                <a:lnTo>
                  <a:pt x="492179" y="6565900"/>
                </a:lnTo>
                <a:lnTo>
                  <a:pt x="510438" y="6616700"/>
                </a:lnTo>
                <a:lnTo>
                  <a:pt x="528979" y="6667500"/>
                </a:lnTo>
                <a:lnTo>
                  <a:pt x="547800" y="6718300"/>
                </a:lnTo>
                <a:lnTo>
                  <a:pt x="566897" y="6769100"/>
                </a:lnTo>
                <a:lnTo>
                  <a:pt x="586268" y="6807200"/>
                </a:lnTo>
                <a:lnTo>
                  <a:pt x="602998" y="6845300"/>
                </a:lnTo>
                <a:lnTo>
                  <a:pt x="3602987" y="6845300"/>
                </a:lnTo>
                <a:lnTo>
                  <a:pt x="3619716" y="6807200"/>
                </a:lnTo>
                <a:lnTo>
                  <a:pt x="3639087" y="6769100"/>
                </a:lnTo>
                <a:lnTo>
                  <a:pt x="3658185" y="6718300"/>
                </a:lnTo>
                <a:lnTo>
                  <a:pt x="3677005" y="6667500"/>
                </a:lnTo>
                <a:lnTo>
                  <a:pt x="3695546" y="6616700"/>
                </a:lnTo>
                <a:lnTo>
                  <a:pt x="3713805" y="6565900"/>
                </a:lnTo>
                <a:lnTo>
                  <a:pt x="3731779" y="6515100"/>
                </a:lnTo>
                <a:lnTo>
                  <a:pt x="3749465" y="6464300"/>
                </a:lnTo>
                <a:lnTo>
                  <a:pt x="3766861" y="6413500"/>
                </a:lnTo>
                <a:lnTo>
                  <a:pt x="3783963" y="6362700"/>
                </a:lnTo>
                <a:lnTo>
                  <a:pt x="3800769" y="6311900"/>
                </a:lnTo>
                <a:lnTo>
                  <a:pt x="3817277" y="6261100"/>
                </a:lnTo>
                <a:lnTo>
                  <a:pt x="3833482" y="6197600"/>
                </a:lnTo>
                <a:lnTo>
                  <a:pt x="3849384" y="6146800"/>
                </a:lnTo>
                <a:lnTo>
                  <a:pt x="3864978" y="6096000"/>
                </a:lnTo>
                <a:lnTo>
                  <a:pt x="3880263" y="6032500"/>
                </a:lnTo>
                <a:lnTo>
                  <a:pt x="3895235" y="5981700"/>
                </a:lnTo>
                <a:lnTo>
                  <a:pt x="3909891" y="5930900"/>
                </a:lnTo>
                <a:lnTo>
                  <a:pt x="3924229" y="5867400"/>
                </a:lnTo>
                <a:lnTo>
                  <a:pt x="3935427" y="5829300"/>
                </a:lnTo>
                <a:lnTo>
                  <a:pt x="3946405" y="5778500"/>
                </a:lnTo>
                <a:lnTo>
                  <a:pt x="3957164" y="5727700"/>
                </a:lnTo>
                <a:lnTo>
                  <a:pt x="3967703" y="5689600"/>
                </a:lnTo>
                <a:lnTo>
                  <a:pt x="3978022" y="5638800"/>
                </a:lnTo>
                <a:lnTo>
                  <a:pt x="3988119" y="5588000"/>
                </a:lnTo>
                <a:lnTo>
                  <a:pt x="3997995" y="5549900"/>
                </a:lnTo>
                <a:lnTo>
                  <a:pt x="4007648" y="5499100"/>
                </a:lnTo>
                <a:lnTo>
                  <a:pt x="4017080" y="5448300"/>
                </a:lnTo>
                <a:lnTo>
                  <a:pt x="4026288" y="5397500"/>
                </a:lnTo>
                <a:lnTo>
                  <a:pt x="4035272" y="5359400"/>
                </a:lnTo>
                <a:lnTo>
                  <a:pt x="4044032" y="5308600"/>
                </a:lnTo>
                <a:lnTo>
                  <a:pt x="4052568" y="5257800"/>
                </a:lnTo>
                <a:lnTo>
                  <a:pt x="4060879" y="5207000"/>
                </a:lnTo>
                <a:lnTo>
                  <a:pt x="4068964" y="5156200"/>
                </a:lnTo>
                <a:lnTo>
                  <a:pt x="4076823" y="5105400"/>
                </a:lnTo>
                <a:lnTo>
                  <a:pt x="4084456" y="5067300"/>
                </a:lnTo>
                <a:lnTo>
                  <a:pt x="4091862" y="5016500"/>
                </a:lnTo>
                <a:lnTo>
                  <a:pt x="4099040" y="4965700"/>
                </a:lnTo>
                <a:lnTo>
                  <a:pt x="4105990" y="4914900"/>
                </a:lnTo>
                <a:lnTo>
                  <a:pt x="4112711" y="4864100"/>
                </a:lnTo>
                <a:lnTo>
                  <a:pt x="4119204" y="4813300"/>
                </a:lnTo>
                <a:lnTo>
                  <a:pt x="4125467" y="4762500"/>
                </a:lnTo>
                <a:lnTo>
                  <a:pt x="4131500" y="4711700"/>
                </a:lnTo>
                <a:lnTo>
                  <a:pt x="4137302" y="4660900"/>
                </a:lnTo>
                <a:lnTo>
                  <a:pt x="4142874" y="4610100"/>
                </a:lnTo>
                <a:lnTo>
                  <a:pt x="4148214" y="4559300"/>
                </a:lnTo>
                <a:lnTo>
                  <a:pt x="4153322" y="4508500"/>
                </a:lnTo>
                <a:lnTo>
                  <a:pt x="4158197" y="4457700"/>
                </a:lnTo>
                <a:lnTo>
                  <a:pt x="4162839" y="4406900"/>
                </a:lnTo>
                <a:lnTo>
                  <a:pt x="4167248" y="4356100"/>
                </a:lnTo>
                <a:lnTo>
                  <a:pt x="4171423" y="4305300"/>
                </a:lnTo>
                <a:lnTo>
                  <a:pt x="4175364" y="4254500"/>
                </a:lnTo>
                <a:lnTo>
                  <a:pt x="4179069" y="4203700"/>
                </a:lnTo>
                <a:lnTo>
                  <a:pt x="4182540" y="4152900"/>
                </a:lnTo>
                <a:lnTo>
                  <a:pt x="4185774" y="4102100"/>
                </a:lnTo>
                <a:lnTo>
                  <a:pt x="4188771" y="4051300"/>
                </a:lnTo>
                <a:lnTo>
                  <a:pt x="4191532" y="4000500"/>
                </a:lnTo>
                <a:lnTo>
                  <a:pt x="4194055" y="3949700"/>
                </a:lnTo>
                <a:lnTo>
                  <a:pt x="4196340" y="3898900"/>
                </a:lnTo>
                <a:lnTo>
                  <a:pt x="4198387" y="3835400"/>
                </a:lnTo>
                <a:lnTo>
                  <a:pt x="4200195" y="3784600"/>
                </a:lnTo>
                <a:lnTo>
                  <a:pt x="4201764" y="3733800"/>
                </a:lnTo>
                <a:lnTo>
                  <a:pt x="4203092" y="3683000"/>
                </a:lnTo>
                <a:lnTo>
                  <a:pt x="4204180" y="3632200"/>
                </a:lnTo>
                <a:lnTo>
                  <a:pt x="4205027" y="3581400"/>
                </a:lnTo>
                <a:lnTo>
                  <a:pt x="4205633" y="3530600"/>
                </a:lnTo>
                <a:lnTo>
                  <a:pt x="4205997" y="3479800"/>
                </a:lnTo>
                <a:lnTo>
                  <a:pt x="4205997" y="3365500"/>
                </a:lnTo>
                <a:lnTo>
                  <a:pt x="4205633" y="3314700"/>
                </a:lnTo>
                <a:lnTo>
                  <a:pt x="4205027" y="3263900"/>
                </a:lnTo>
                <a:lnTo>
                  <a:pt x="4204180" y="3213100"/>
                </a:lnTo>
                <a:lnTo>
                  <a:pt x="4203092" y="3162300"/>
                </a:lnTo>
                <a:lnTo>
                  <a:pt x="4201764" y="3111500"/>
                </a:lnTo>
                <a:lnTo>
                  <a:pt x="4200195" y="3060700"/>
                </a:lnTo>
                <a:lnTo>
                  <a:pt x="4198387" y="3009900"/>
                </a:lnTo>
                <a:lnTo>
                  <a:pt x="4196340" y="2946400"/>
                </a:lnTo>
                <a:lnTo>
                  <a:pt x="4194055" y="2895600"/>
                </a:lnTo>
                <a:lnTo>
                  <a:pt x="4191532" y="2844800"/>
                </a:lnTo>
                <a:lnTo>
                  <a:pt x="4188771" y="2794000"/>
                </a:lnTo>
                <a:lnTo>
                  <a:pt x="4185774" y="2743200"/>
                </a:lnTo>
                <a:lnTo>
                  <a:pt x="4182540" y="2692400"/>
                </a:lnTo>
                <a:lnTo>
                  <a:pt x="4179069" y="2641600"/>
                </a:lnTo>
                <a:lnTo>
                  <a:pt x="4175364" y="2590800"/>
                </a:lnTo>
                <a:lnTo>
                  <a:pt x="4171423" y="2540000"/>
                </a:lnTo>
                <a:lnTo>
                  <a:pt x="4167248" y="2489200"/>
                </a:lnTo>
                <a:lnTo>
                  <a:pt x="4162839" y="2438400"/>
                </a:lnTo>
                <a:lnTo>
                  <a:pt x="4158197" y="2387600"/>
                </a:lnTo>
                <a:lnTo>
                  <a:pt x="4153322" y="2336800"/>
                </a:lnTo>
                <a:lnTo>
                  <a:pt x="4148214" y="2286000"/>
                </a:lnTo>
                <a:lnTo>
                  <a:pt x="4142874" y="2235200"/>
                </a:lnTo>
                <a:lnTo>
                  <a:pt x="4137302" y="2184400"/>
                </a:lnTo>
                <a:lnTo>
                  <a:pt x="4131500" y="2133600"/>
                </a:lnTo>
                <a:lnTo>
                  <a:pt x="4125467" y="2082800"/>
                </a:lnTo>
                <a:lnTo>
                  <a:pt x="4119204" y="2032000"/>
                </a:lnTo>
                <a:lnTo>
                  <a:pt x="4112711" y="1981200"/>
                </a:lnTo>
                <a:lnTo>
                  <a:pt x="4105990" y="1930400"/>
                </a:lnTo>
                <a:lnTo>
                  <a:pt x="4099040" y="1879600"/>
                </a:lnTo>
                <a:lnTo>
                  <a:pt x="4091862" y="1828800"/>
                </a:lnTo>
                <a:lnTo>
                  <a:pt x="4084456" y="1778000"/>
                </a:lnTo>
                <a:lnTo>
                  <a:pt x="4076823" y="1739900"/>
                </a:lnTo>
                <a:lnTo>
                  <a:pt x="4068964" y="1689100"/>
                </a:lnTo>
                <a:lnTo>
                  <a:pt x="4060879" y="1638300"/>
                </a:lnTo>
                <a:lnTo>
                  <a:pt x="4052568" y="1587500"/>
                </a:lnTo>
                <a:lnTo>
                  <a:pt x="4044032" y="1536700"/>
                </a:lnTo>
                <a:lnTo>
                  <a:pt x="4035272" y="1485900"/>
                </a:lnTo>
                <a:lnTo>
                  <a:pt x="4026288" y="1447800"/>
                </a:lnTo>
                <a:lnTo>
                  <a:pt x="4017080" y="1397000"/>
                </a:lnTo>
                <a:lnTo>
                  <a:pt x="4007648" y="1346200"/>
                </a:lnTo>
                <a:lnTo>
                  <a:pt x="3997995" y="1295400"/>
                </a:lnTo>
                <a:lnTo>
                  <a:pt x="3988119" y="1257300"/>
                </a:lnTo>
                <a:lnTo>
                  <a:pt x="3978022" y="1206500"/>
                </a:lnTo>
                <a:lnTo>
                  <a:pt x="3967703" y="1155700"/>
                </a:lnTo>
                <a:lnTo>
                  <a:pt x="3957164" y="1117600"/>
                </a:lnTo>
                <a:lnTo>
                  <a:pt x="3946405" y="1066800"/>
                </a:lnTo>
                <a:lnTo>
                  <a:pt x="3935427" y="1016000"/>
                </a:lnTo>
                <a:lnTo>
                  <a:pt x="3924229" y="977900"/>
                </a:lnTo>
                <a:lnTo>
                  <a:pt x="3909891" y="914400"/>
                </a:lnTo>
                <a:lnTo>
                  <a:pt x="3895235" y="863600"/>
                </a:lnTo>
                <a:lnTo>
                  <a:pt x="3880263" y="812800"/>
                </a:lnTo>
                <a:lnTo>
                  <a:pt x="3864978" y="749300"/>
                </a:lnTo>
                <a:lnTo>
                  <a:pt x="3849384" y="698500"/>
                </a:lnTo>
                <a:lnTo>
                  <a:pt x="3833482" y="647700"/>
                </a:lnTo>
                <a:lnTo>
                  <a:pt x="3817277" y="584200"/>
                </a:lnTo>
                <a:lnTo>
                  <a:pt x="3800769" y="533400"/>
                </a:lnTo>
                <a:lnTo>
                  <a:pt x="3783963" y="482600"/>
                </a:lnTo>
                <a:lnTo>
                  <a:pt x="3766861" y="431800"/>
                </a:lnTo>
                <a:lnTo>
                  <a:pt x="3749465" y="381000"/>
                </a:lnTo>
                <a:lnTo>
                  <a:pt x="3731779" y="330200"/>
                </a:lnTo>
                <a:lnTo>
                  <a:pt x="3713805" y="279400"/>
                </a:lnTo>
                <a:lnTo>
                  <a:pt x="3695546" y="228600"/>
                </a:lnTo>
                <a:lnTo>
                  <a:pt x="3677005" y="177800"/>
                </a:lnTo>
                <a:lnTo>
                  <a:pt x="3658185" y="127000"/>
                </a:lnTo>
                <a:lnTo>
                  <a:pt x="3639087" y="76200"/>
                </a:lnTo>
                <a:lnTo>
                  <a:pt x="3619716" y="38100"/>
                </a:lnTo>
                <a:lnTo>
                  <a:pt x="36031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919" y="411111"/>
            <a:ext cx="1371244" cy="137124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35584" y="2394978"/>
            <a:ext cx="4027804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0AB5B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49494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8ACA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0AB5B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49494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8ACA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58" y="6858000"/>
                </a:lnTo>
                <a:lnTo>
                  <a:pt x="12191758" y="0"/>
                </a:lnTo>
                <a:close/>
              </a:path>
            </a:pathLst>
          </a:custGeom>
          <a:solidFill>
            <a:srgbClr val="E9F7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0AB5B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8ACA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" y="2285631"/>
            <a:ext cx="1645564" cy="182844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0AB5B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8ACA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8ACA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584" y="642149"/>
            <a:ext cx="11120831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0AB5B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10540" y="1259903"/>
            <a:ext cx="9941839" cy="4280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49494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91695" y="6527746"/>
            <a:ext cx="192404" cy="180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A8ACA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000000"/>
                </a:solidFill>
              </a:rPr>
              <a:t>Fresh</a:t>
            </a:r>
            <a:r>
              <a:rPr sz="4400" spc="-150" dirty="0">
                <a:solidFill>
                  <a:srgbClr val="000000"/>
                </a:solidFill>
              </a:rPr>
              <a:t> </a:t>
            </a:r>
            <a:r>
              <a:rPr sz="4400" spc="-10" dirty="0">
                <a:solidFill>
                  <a:srgbClr val="000000"/>
                </a:solidFill>
              </a:rPr>
              <a:t>Supplies</a:t>
            </a:r>
            <a:endParaRPr sz="4400"/>
          </a:p>
        </p:txBody>
      </p:sp>
      <p:pic>
        <p:nvPicPr>
          <p:cNvPr id="3" name="object 3" descr="assets/droplet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7239" y="3276600"/>
            <a:ext cx="3066823" cy="27432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347938" y="3111017"/>
            <a:ext cx="341566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640" marR="5080" indent="-155575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chemeClr val="tx1"/>
                </a:solidFill>
                <a:latin typeface="Arial"/>
                <a:cs typeface="Arial"/>
              </a:rPr>
              <a:t>Less</a:t>
            </a:r>
            <a:r>
              <a:rPr sz="2000" b="1" spc="-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chemeClr val="tx1"/>
                </a:solidFill>
                <a:latin typeface="Arial"/>
                <a:cs typeface="Arial"/>
              </a:rPr>
              <a:t>waste.</a:t>
            </a:r>
            <a:r>
              <a:rPr sz="2000" b="1" spc="-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chemeClr val="tx1"/>
                </a:solidFill>
                <a:latin typeface="Arial"/>
                <a:cs typeface="Arial"/>
              </a:rPr>
              <a:t>More</a:t>
            </a:r>
            <a:r>
              <a:rPr sz="2000" b="1" spc="-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chemeClr val="tx1"/>
                </a:solidFill>
                <a:latin typeface="Arial"/>
                <a:cs typeface="Arial"/>
              </a:rPr>
              <a:t>recovered </a:t>
            </a:r>
            <a:r>
              <a:rPr sz="2000" b="1" dirty="0">
                <a:solidFill>
                  <a:schemeClr val="tx1"/>
                </a:solidFill>
                <a:latin typeface="Arial"/>
                <a:cs typeface="Arial"/>
              </a:rPr>
              <a:t>income.</a:t>
            </a:r>
            <a:r>
              <a:rPr sz="2000" b="1" spc="-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chemeClr val="tx1"/>
                </a:solidFill>
                <a:latin typeface="Arial"/>
                <a:cs typeface="Arial"/>
              </a:rPr>
              <a:t>Better</a:t>
            </a:r>
            <a:r>
              <a:rPr sz="2000" b="1" spc="-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chemeClr val="tx1"/>
                </a:solidFill>
                <a:latin typeface="Arial"/>
                <a:cs typeface="Arial"/>
              </a:rPr>
              <a:t>decisions.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584" y="6342011"/>
            <a:ext cx="25590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98E8B"/>
                </a:solidFill>
                <a:latin typeface="Calibri"/>
                <a:cs typeface="Calibri"/>
              </a:rPr>
              <a:t>Board</a:t>
            </a:r>
            <a:r>
              <a:rPr sz="1200" spc="-20" dirty="0">
                <a:solidFill>
                  <a:srgbClr val="898E8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98E8B"/>
                </a:solidFill>
                <a:latin typeface="Calibri"/>
                <a:cs typeface="Calibri"/>
              </a:rPr>
              <a:t>Pitch</a:t>
            </a:r>
            <a:r>
              <a:rPr sz="1200" spc="245" dirty="0">
                <a:solidFill>
                  <a:srgbClr val="898E8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98E8B"/>
                </a:solidFill>
                <a:latin typeface="Calibri"/>
                <a:cs typeface="Calibri"/>
              </a:rPr>
              <a:t>|</a:t>
            </a:r>
            <a:r>
              <a:rPr sz="1200" spc="235" dirty="0">
                <a:solidFill>
                  <a:srgbClr val="898E8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98E8B"/>
                </a:solidFill>
                <a:latin typeface="Calibri"/>
                <a:cs typeface="Calibri"/>
              </a:rPr>
              <a:t>Week</a:t>
            </a:r>
            <a:r>
              <a:rPr sz="1200" spc="-20" dirty="0">
                <a:solidFill>
                  <a:srgbClr val="898E8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98E8B"/>
                </a:solidFill>
                <a:latin typeface="Calibri"/>
                <a:cs typeface="Calibri"/>
              </a:rPr>
              <a:t>11</a:t>
            </a:r>
            <a:r>
              <a:rPr sz="1200" spc="240" dirty="0">
                <a:solidFill>
                  <a:srgbClr val="898E8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98E8B"/>
                </a:solidFill>
                <a:latin typeface="Calibri"/>
                <a:cs typeface="Calibri"/>
              </a:rPr>
              <a:t>|</a:t>
            </a:r>
            <a:r>
              <a:rPr sz="1200" spc="235" dirty="0">
                <a:solidFill>
                  <a:srgbClr val="898E8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98E8B"/>
                </a:solidFill>
                <a:latin typeface="Calibri"/>
                <a:cs typeface="Calibri"/>
              </a:rPr>
              <a:t>Amos</a:t>
            </a:r>
            <a:r>
              <a:rPr sz="1200" spc="-20" dirty="0">
                <a:solidFill>
                  <a:srgbClr val="898E8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98E8B"/>
                </a:solidFill>
                <a:latin typeface="Calibri"/>
                <a:cs typeface="Calibri"/>
              </a:rPr>
              <a:t>Ndungo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640" y="502919"/>
            <a:ext cx="201244" cy="20124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8680" y="502919"/>
            <a:ext cx="201244" cy="2012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719" y="502919"/>
            <a:ext cx="201244" cy="201244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35584" y="1114463"/>
            <a:ext cx="372999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Problem</a:t>
            </a:r>
            <a:r>
              <a:rPr sz="3200" spc="-85" dirty="0"/>
              <a:t> </a:t>
            </a:r>
            <a:r>
              <a:rPr sz="3200" spc="-10" dirty="0"/>
              <a:t>Statement</a:t>
            </a:r>
            <a:endParaRPr sz="3200"/>
          </a:p>
        </p:txBody>
      </p:sp>
      <p:sp>
        <p:nvSpPr>
          <p:cNvPr id="6" name="object 6"/>
          <p:cNvSpPr txBox="1"/>
          <p:nvPr/>
        </p:nvSpPr>
        <p:spPr>
          <a:xfrm>
            <a:off x="535584" y="2209855"/>
            <a:ext cx="5343525" cy="1340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8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A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quarter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every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harvest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never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reaches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30" dirty="0">
                <a:latin typeface="Calibri"/>
                <a:cs typeface="Calibri"/>
              </a:rPr>
              <a:t>buyer.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Produce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is </a:t>
            </a:r>
            <a:r>
              <a:rPr sz="1600" spc="-10" dirty="0">
                <a:latin typeface="Calibri"/>
                <a:cs typeface="Calibri"/>
              </a:rPr>
              <a:t>routed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nearest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market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instead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30" dirty="0">
                <a:latin typeface="Calibri"/>
                <a:cs typeface="Calibri"/>
              </a:rPr>
              <a:t>best-</a:t>
            </a:r>
            <a:r>
              <a:rPr sz="1600" dirty="0">
                <a:latin typeface="Calibri"/>
                <a:cs typeface="Calibri"/>
              </a:rPr>
              <a:t>paying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one,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and </a:t>
            </a:r>
            <a:r>
              <a:rPr sz="1600" dirty="0">
                <a:latin typeface="Calibri"/>
                <a:cs typeface="Calibri"/>
              </a:rPr>
              <a:t>fragile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transport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corridors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compound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loss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before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ever </a:t>
            </a:r>
            <a:r>
              <a:rPr sz="1600" dirty="0">
                <a:latin typeface="Calibri"/>
                <a:cs typeface="Calibri"/>
              </a:rPr>
              <a:t>reaches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customer.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584" y="4269498"/>
            <a:ext cx="1133475" cy="821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25" dirty="0">
                <a:solidFill>
                  <a:srgbClr val="8F103D"/>
                </a:solidFill>
                <a:latin typeface="Arial"/>
                <a:cs typeface="Arial"/>
              </a:rPr>
              <a:t>25%</a:t>
            </a:r>
            <a:endParaRPr sz="2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45"/>
              </a:spcBef>
            </a:pPr>
            <a:r>
              <a:rPr sz="1250" dirty="0">
                <a:solidFill>
                  <a:srgbClr val="494949"/>
                </a:solidFill>
                <a:latin typeface="Calibri"/>
                <a:cs typeface="Calibri"/>
              </a:rPr>
              <a:t>spoils</a:t>
            </a:r>
            <a:r>
              <a:rPr sz="1250" spc="-5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494949"/>
                </a:solidFill>
                <a:latin typeface="Calibri"/>
                <a:cs typeface="Calibri"/>
              </a:rPr>
              <a:t>before</a:t>
            </a:r>
            <a:r>
              <a:rPr sz="1250" spc="-5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494949"/>
                </a:solidFill>
                <a:latin typeface="Calibri"/>
                <a:cs typeface="Calibri"/>
              </a:rPr>
              <a:t>sale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78784" y="4269498"/>
            <a:ext cx="1447165" cy="821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8F103D"/>
                </a:solidFill>
                <a:latin typeface="Arial"/>
                <a:cs typeface="Arial"/>
              </a:rPr>
              <a:t>KES</a:t>
            </a:r>
            <a:r>
              <a:rPr sz="2600" b="1" spc="-45" dirty="0">
                <a:solidFill>
                  <a:srgbClr val="8F103D"/>
                </a:solidFill>
                <a:latin typeface="Arial"/>
                <a:cs typeface="Arial"/>
              </a:rPr>
              <a:t> </a:t>
            </a:r>
            <a:r>
              <a:rPr sz="2600" b="1" spc="-25" dirty="0">
                <a:solidFill>
                  <a:srgbClr val="8F103D"/>
                </a:solidFill>
                <a:latin typeface="Arial"/>
                <a:cs typeface="Arial"/>
              </a:rPr>
              <a:t>5M+</a:t>
            </a:r>
            <a:endParaRPr sz="2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45"/>
              </a:spcBef>
            </a:pPr>
            <a:r>
              <a:rPr sz="1250" dirty="0">
                <a:solidFill>
                  <a:srgbClr val="494949"/>
                </a:solidFill>
                <a:latin typeface="Calibri"/>
                <a:cs typeface="Calibri"/>
              </a:rPr>
              <a:t>lost</a:t>
            </a:r>
            <a:r>
              <a:rPr sz="1250" spc="-4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94949"/>
                </a:solidFill>
                <a:latin typeface="Calibri"/>
                <a:cs typeface="Calibri"/>
              </a:rPr>
              <a:t>value</a:t>
            </a:r>
            <a:r>
              <a:rPr sz="1250" spc="-4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94949"/>
                </a:solidFill>
                <a:latin typeface="Calibri"/>
                <a:cs typeface="Calibri"/>
              </a:rPr>
              <a:t>/</a:t>
            </a:r>
            <a:r>
              <a:rPr sz="1250" spc="-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494949"/>
                </a:solidFill>
                <a:latin typeface="Calibri"/>
                <a:cs typeface="Calibri"/>
              </a:rPr>
              <a:t>year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497724" y="1051204"/>
            <a:ext cx="4114800" cy="4846320"/>
          </a:xfrm>
          <a:custGeom>
            <a:avLst/>
            <a:gdLst/>
            <a:ahLst/>
            <a:cxnLst/>
            <a:rect l="l" t="t" r="r" b="b"/>
            <a:pathLst>
              <a:path w="4114800" h="4846320">
                <a:moveTo>
                  <a:pt x="4114431" y="0"/>
                </a:moveTo>
                <a:lnTo>
                  <a:pt x="365760" y="0"/>
                </a:lnTo>
                <a:lnTo>
                  <a:pt x="365760" y="3108960"/>
                </a:lnTo>
                <a:lnTo>
                  <a:pt x="0" y="3108960"/>
                </a:lnTo>
                <a:lnTo>
                  <a:pt x="0" y="4845951"/>
                </a:lnTo>
                <a:lnTo>
                  <a:pt x="1874520" y="4845951"/>
                </a:lnTo>
                <a:lnTo>
                  <a:pt x="3748671" y="4845951"/>
                </a:lnTo>
                <a:lnTo>
                  <a:pt x="3748671" y="4205871"/>
                </a:lnTo>
                <a:lnTo>
                  <a:pt x="4114431" y="4205871"/>
                </a:lnTo>
                <a:lnTo>
                  <a:pt x="4114431" y="0"/>
                </a:lnTo>
                <a:close/>
              </a:path>
            </a:pathLst>
          </a:custGeom>
          <a:solidFill>
            <a:srgbClr val="0AB5B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FFE09D8-A28E-66EE-1E57-457641AF2D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371320"/>
            <a:ext cx="5336090" cy="3654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58" y="6858000"/>
                </a:lnTo>
                <a:lnTo>
                  <a:pt x="12191758" y="0"/>
                </a:lnTo>
                <a:close/>
              </a:path>
            </a:pathLst>
          </a:custGeom>
          <a:solidFill>
            <a:srgbClr val="0AB5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35584" y="509295"/>
            <a:ext cx="2088514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spc="85" dirty="0">
                <a:solidFill>
                  <a:srgbClr val="FFFFFF"/>
                </a:solidFill>
                <a:latin typeface="Calibri"/>
                <a:cs typeface="Calibri"/>
              </a:rPr>
              <a:t>WHY</a:t>
            </a:r>
            <a:r>
              <a:rPr sz="1250" b="1" spc="3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b="1" spc="105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1250" b="1" spc="3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b="1" spc="60" dirty="0">
                <a:solidFill>
                  <a:srgbClr val="FFFFFF"/>
                </a:solidFill>
                <a:latin typeface="Calibri"/>
                <a:cs typeface="Calibri"/>
              </a:rPr>
              <a:t>MAT</a:t>
            </a:r>
            <a:r>
              <a:rPr sz="1250" b="1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b="1" spc="100" dirty="0">
                <a:solidFill>
                  <a:srgbClr val="FFFFFF"/>
                </a:solidFill>
                <a:latin typeface="Calibri"/>
                <a:cs typeface="Calibri"/>
              </a:rPr>
              <a:t>TERS</a:t>
            </a:r>
            <a:r>
              <a:rPr sz="1250" b="1" spc="3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b="1" spc="55" dirty="0">
                <a:solidFill>
                  <a:srgbClr val="FFFFFF"/>
                </a:solidFill>
                <a:latin typeface="Calibri"/>
                <a:cs typeface="Calibri"/>
              </a:rPr>
              <a:t>NOW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35584" y="1038491"/>
            <a:ext cx="88423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</a:rPr>
              <a:t>Every</a:t>
            </a:r>
            <a:r>
              <a:rPr spc="-5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season</a:t>
            </a:r>
            <a:r>
              <a:rPr spc="-5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this</a:t>
            </a:r>
            <a:r>
              <a:rPr spc="-5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goes</a:t>
            </a:r>
            <a:r>
              <a:rPr spc="-4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unsolved,</a:t>
            </a:r>
            <a:r>
              <a:rPr spc="-4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it</a:t>
            </a:r>
            <a:r>
              <a:rPr spc="-45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compounds.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5584" y="2010067"/>
            <a:ext cx="6539865" cy="916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900"/>
              </a:lnSpc>
              <a:spcBef>
                <a:spcPts val="100"/>
              </a:spcBef>
            </a:pP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Spoilage</a:t>
            </a:r>
            <a:r>
              <a:rPr sz="1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isn't</a:t>
            </a:r>
            <a:r>
              <a:rPr sz="15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5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one-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1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loss.</a:t>
            </a:r>
            <a:r>
              <a:rPr sz="1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It's</a:t>
            </a:r>
            <a:r>
              <a:rPr sz="15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5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recurring</a:t>
            </a:r>
            <a:r>
              <a:rPr sz="15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tax</a:t>
            </a:r>
            <a:r>
              <a:rPr sz="15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15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every</a:t>
            </a:r>
            <a:r>
              <a:rPr sz="15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harvest,</a:t>
            </a:r>
            <a:r>
              <a:rPr sz="15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every</a:t>
            </a:r>
            <a:r>
              <a:rPr sz="15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season,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compounded</a:t>
            </a:r>
            <a:r>
              <a:rPr sz="1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15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produce</a:t>
            </a:r>
            <a:r>
              <a:rPr sz="15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routed</a:t>
            </a:r>
            <a:r>
              <a:rPr sz="1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nearest</a:t>
            </a:r>
            <a:r>
              <a:rPr sz="1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market</a:t>
            </a:r>
            <a:r>
              <a:rPr sz="1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instead</a:t>
            </a:r>
            <a:r>
              <a:rPr sz="1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5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sz="15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paying</a:t>
            </a:r>
            <a:r>
              <a:rPr sz="1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most.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47916" y="3291116"/>
            <a:ext cx="6584315" cy="2652395"/>
          </a:xfrm>
          <a:custGeom>
            <a:avLst/>
            <a:gdLst/>
            <a:ahLst/>
            <a:cxnLst/>
            <a:rect l="l" t="t" r="r" b="b"/>
            <a:pathLst>
              <a:path w="6584315" h="2652395">
                <a:moveTo>
                  <a:pt x="110159" y="0"/>
                </a:moveTo>
                <a:lnTo>
                  <a:pt x="68095" y="8358"/>
                </a:lnTo>
                <a:lnTo>
                  <a:pt x="32535" y="32224"/>
                </a:lnTo>
                <a:lnTo>
                  <a:pt x="8721" y="67882"/>
                </a:lnTo>
                <a:lnTo>
                  <a:pt x="368" y="109804"/>
                </a:lnTo>
                <a:lnTo>
                  <a:pt x="0" y="2542324"/>
                </a:lnTo>
                <a:lnTo>
                  <a:pt x="939" y="2556754"/>
                </a:lnTo>
                <a:lnTo>
                  <a:pt x="3736" y="2570811"/>
                </a:lnTo>
                <a:lnTo>
                  <a:pt x="8307" y="2584245"/>
                </a:lnTo>
                <a:lnTo>
                  <a:pt x="8358" y="2584395"/>
                </a:lnTo>
                <a:lnTo>
                  <a:pt x="14770" y="2597404"/>
                </a:lnTo>
                <a:lnTo>
                  <a:pt x="22686" y="2609117"/>
                </a:lnTo>
                <a:lnTo>
                  <a:pt x="22788" y="2609267"/>
                </a:lnTo>
                <a:lnTo>
                  <a:pt x="55079" y="2637358"/>
                </a:lnTo>
                <a:lnTo>
                  <a:pt x="95379" y="2651188"/>
                </a:lnTo>
                <a:lnTo>
                  <a:pt x="109804" y="2652128"/>
                </a:lnTo>
                <a:lnTo>
                  <a:pt x="6474244" y="2652128"/>
                </a:lnTo>
                <a:lnTo>
                  <a:pt x="6516315" y="2643770"/>
                </a:lnTo>
                <a:lnTo>
                  <a:pt x="6551817" y="2619948"/>
                </a:lnTo>
                <a:lnTo>
                  <a:pt x="6575614" y="2584395"/>
                </a:lnTo>
                <a:lnTo>
                  <a:pt x="6575690" y="2584245"/>
                </a:lnTo>
                <a:lnTo>
                  <a:pt x="6580296" y="2570811"/>
                </a:lnTo>
                <a:lnTo>
                  <a:pt x="6583107" y="2556754"/>
                </a:lnTo>
                <a:lnTo>
                  <a:pt x="6584048" y="2542324"/>
                </a:lnTo>
                <a:lnTo>
                  <a:pt x="6584025" y="109804"/>
                </a:lnTo>
                <a:lnTo>
                  <a:pt x="6575690" y="68095"/>
                </a:lnTo>
                <a:lnTo>
                  <a:pt x="6551823" y="32535"/>
                </a:lnTo>
                <a:lnTo>
                  <a:pt x="6516165" y="8721"/>
                </a:lnTo>
                <a:lnTo>
                  <a:pt x="6474244" y="368"/>
                </a:lnTo>
                <a:lnTo>
                  <a:pt x="1101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01344" y="3614605"/>
            <a:ext cx="4906645" cy="1853564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300" b="1" dirty="0">
                <a:solidFill>
                  <a:srgbClr val="079094"/>
                </a:solidFill>
                <a:latin typeface="Calibri"/>
                <a:cs typeface="Calibri"/>
              </a:rPr>
              <a:t>The</a:t>
            </a:r>
            <a:r>
              <a:rPr sz="1300" b="1" spc="-30" dirty="0">
                <a:solidFill>
                  <a:srgbClr val="079094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79094"/>
                </a:solidFill>
                <a:latin typeface="Calibri"/>
                <a:cs typeface="Calibri"/>
              </a:rPr>
              <a:t>cost,</a:t>
            </a:r>
            <a:r>
              <a:rPr sz="1300" b="1" spc="-35" dirty="0">
                <a:solidFill>
                  <a:srgbClr val="079094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79094"/>
                </a:solidFill>
                <a:latin typeface="Calibri"/>
                <a:cs typeface="Calibri"/>
              </a:rPr>
              <a:t>in</a:t>
            </a:r>
            <a:r>
              <a:rPr sz="1300" b="1" spc="-35" dirty="0">
                <a:solidFill>
                  <a:srgbClr val="079094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79094"/>
                </a:solidFill>
                <a:latin typeface="Calibri"/>
                <a:cs typeface="Calibri"/>
              </a:rPr>
              <a:t>one</a:t>
            </a:r>
            <a:r>
              <a:rPr sz="1300" b="1" spc="-30" dirty="0">
                <a:solidFill>
                  <a:srgbClr val="079094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79094"/>
                </a:solidFill>
                <a:latin typeface="Calibri"/>
                <a:cs typeface="Calibri"/>
              </a:rPr>
              <a:t>number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4400" b="1" dirty="0">
                <a:solidFill>
                  <a:srgbClr val="8F103D"/>
                </a:solidFill>
                <a:latin typeface="Arial"/>
                <a:cs typeface="Arial"/>
              </a:rPr>
              <a:t>KES</a:t>
            </a:r>
            <a:r>
              <a:rPr sz="4400" b="1" spc="-114" dirty="0">
                <a:solidFill>
                  <a:srgbClr val="8F103D"/>
                </a:solidFill>
                <a:latin typeface="Arial"/>
                <a:cs typeface="Arial"/>
              </a:rPr>
              <a:t> </a:t>
            </a:r>
            <a:r>
              <a:rPr sz="4400" b="1" spc="-10" dirty="0">
                <a:solidFill>
                  <a:srgbClr val="8F103D"/>
                </a:solidFill>
                <a:latin typeface="Arial"/>
                <a:cs typeface="Arial"/>
              </a:rPr>
              <a:t>5,000,000+</a:t>
            </a:r>
            <a:endParaRPr sz="4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35"/>
              </a:spcBef>
            </a:pPr>
            <a:r>
              <a:rPr sz="1400" dirty="0">
                <a:solidFill>
                  <a:srgbClr val="494949"/>
                </a:solidFill>
                <a:latin typeface="Calibri"/>
                <a:cs typeface="Calibri"/>
              </a:rPr>
              <a:t>lost</a:t>
            </a:r>
            <a:r>
              <a:rPr sz="1400" spc="-4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94949"/>
                </a:solidFill>
                <a:latin typeface="Calibri"/>
                <a:cs typeface="Calibri"/>
              </a:rPr>
              <a:t>to</a:t>
            </a:r>
            <a:r>
              <a:rPr sz="1400" spc="-4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94949"/>
                </a:solidFill>
                <a:latin typeface="Calibri"/>
                <a:cs typeface="Calibri"/>
              </a:rPr>
              <a:t>spoilage</a:t>
            </a:r>
            <a:r>
              <a:rPr sz="1400" spc="-4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94949"/>
                </a:solidFill>
                <a:latin typeface="Calibri"/>
                <a:cs typeface="Calibri"/>
              </a:rPr>
              <a:t>alone,</a:t>
            </a:r>
            <a:r>
              <a:rPr sz="1400" spc="-4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94949"/>
                </a:solidFill>
                <a:latin typeface="Calibri"/>
                <a:cs typeface="Calibri"/>
              </a:rPr>
              <a:t>every</a:t>
            </a:r>
            <a:r>
              <a:rPr sz="1400" spc="-4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94949"/>
                </a:solidFill>
                <a:latin typeface="Calibri"/>
                <a:cs typeface="Calibri"/>
              </a:rPr>
              <a:t>single</a:t>
            </a:r>
            <a:r>
              <a:rPr sz="1400" spc="-4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400" spc="-30" dirty="0">
                <a:solidFill>
                  <a:srgbClr val="494949"/>
                </a:solidFill>
                <a:latin typeface="Calibri"/>
                <a:cs typeface="Calibri"/>
              </a:rPr>
              <a:t>year,</a:t>
            </a:r>
            <a:r>
              <a:rPr sz="1400" spc="-4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94949"/>
                </a:solidFill>
                <a:latin typeface="Calibri"/>
                <a:cs typeface="Calibri"/>
              </a:rPr>
              <a:t>on</a:t>
            </a:r>
            <a:r>
              <a:rPr sz="1400" spc="-5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94949"/>
                </a:solidFill>
                <a:latin typeface="Calibri"/>
                <a:cs typeface="Calibri"/>
              </a:rPr>
              <a:t>current</a:t>
            </a:r>
            <a:r>
              <a:rPr sz="1400" spc="-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494949"/>
                </a:solidFill>
                <a:latin typeface="Calibri"/>
                <a:cs typeface="Calibri"/>
              </a:rPr>
              <a:t>harvest</a:t>
            </a:r>
            <a:r>
              <a:rPr sz="1400" spc="-4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494949"/>
                </a:solidFill>
                <a:latin typeface="Calibri"/>
                <a:cs typeface="Calibri"/>
              </a:rPr>
              <a:t>volumes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320684" y="2468524"/>
            <a:ext cx="2926080" cy="2926080"/>
            <a:chOff x="8320684" y="2468524"/>
            <a:chExt cx="2926080" cy="2926080"/>
          </a:xfrm>
        </p:grpSpPr>
        <p:sp>
          <p:nvSpPr>
            <p:cNvPr id="9" name="object 9"/>
            <p:cNvSpPr/>
            <p:nvPr/>
          </p:nvSpPr>
          <p:spPr>
            <a:xfrm>
              <a:off x="8320684" y="2468524"/>
              <a:ext cx="2926080" cy="2926080"/>
            </a:xfrm>
            <a:custGeom>
              <a:avLst/>
              <a:gdLst/>
              <a:ahLst/>
              <a:cxnLst/>
              <a:rect l="l" t="t" r="r" b="b"/>
              <a:pathLst>
                <a:path w="2926079" h="2926079">
                  <a:moveTo>
                    <a:pt x="1463039" y="0"/>
                  </a:moveTo>
                  <a:lnTo>
                    <a:pt x="1411769" y="900"/>
                  </a:lnTo>
                  <a:lnTo>
                    <a:pt x="1360659" y="3592"/>
                  </a:lnTo>
                  <a:lnTo>
                    <a:pt x="1309754" y="8063"/>
                  </a:lnTo>
                  <a:lnTo>
                    <a:pt x="1259102" y="14301"/>
                  </a:lnTo>
                  <a:lnTo>
                    <a:pt x="1208746" y="22292"/>
                  </a:lnTo>
                  <a:lnTo>
                    <a:pt x="1158733" y="32024"/>
                  </a:lnTo>
                  <a:lnTo>
                    <a:pt x="1109107" y="43484"/>
                  </a:lnTo>
                  <a:lnTo>
                    <a:pt x="1059915" y="56659"/>
                  </a:lnTo>
                  <a:lnTo>
                    <a:pt x="1011202" y="71537"/>
                  </a:lnTo>
                  <a:lnTo>
                    <a:pt x="963012" y="88104"/>
                  </a:lnTo>
                  <a:lnTo>
                    <a:pt x="915393" y="106347"/>
                  </a:lnTo>
                  <a:lnTo>
                    <a:pt x="868388" y="126255"/>
                  </a:lnTo>
                  <a:lnTo>
                    <a:pt x="822044" y="147814"/>
                  </a:lnTo>
                  <a:lnTo>
                    <a:pt x="776406" y="171011"/>
                  </a:lnTo>
                  <a:lnTo>
                    <a:pt x="731520" y="195833"/>
                  </a:lnTo>
                  <a:lnTo>
                    <a:pt x="687533" y="222282"/>
                  </a:lnTo>
                  <a:lnTo>
                    <a:pt x="644587" y="250195"/>
                  </a:lnTo>
                  <a:lnTo>
                    <a:pt x="602715" y="279540"/>
                  </a:lnTo>
                  <a:lnTo>
                    <a:pt x="561948" y="310285"/>
                  </a:lnTo>
                  <a:lnTo>
                    <a:pt x="522319" y="342397"/>
                  </a:lnTo>
                  <a:lnTo>
                    <a:pt x="483862" y="375844"/>
                  </a:lnTo>
                  <a:lnTo>
                    <a:pt x="446609" y="410592"/>
                  </a:lnTo>
                  <a:lnTo>
                    <a:pt x="410592" y="446609"/>
                  </a:lnTo>
                  <a:lnTo>
                    <a:pt x="375844" y="483862"/>
                  </a:lnTo>
                  <a:lnTo>
                    <a:pt x="342397" y="522319"/>
                  </a:lnTo>
                  <a:lnTo>
                    <a:pt x="310285" y="561948"/>
                  </a:lnTo>
                  <a:lnTo>
                    <a:pt x="279540" y="602715"/>
                  </a:lnTo>
                  <a:lnTo>
                    <a:pt x="250195" y="644587"/>
                  </a:lnTo>
                  <a:lnTo>
                    <a:pt x="222282" y="687533"/>
                  </a:lnTo>
                  <a:lnTo>
                    <a:pt x="195833" y="731519"/>
                  </a:lnTo>
                  <a:lnTo>
                    <a:pt x="171011" y="776406"/>
                  </a:lnTo>
                  <a:lnTo>
                    <a:pt x="147814" y="822044"/>
                  </a:lnTo>
                  <a:lnTo>
                    <a:pt x="126255" y="868388"/>
                  </a:lnTo>
                  <a:lnTo>
                    <a:pt x="106347" y="915393"/>
                  </a:lnTo>
                  <a:lnTo>
                    <a:pt x="88104" y="963012"/>
                  </a:lnTo>
                  <a:lnTo>
                    <a:pt x="71537" y="1011202"/>
                  </a:lnTo>
                  <a:lnTo>
                    <a:pt x="56659" y="1059915"/>
                  </a:lnTo>
                  <a:lnTo>
                    <a:pt x="43484" y="1109107"/>
                  </a:lnTo>
                  <a:lnTo>
                    <a:pt x="32024" y="1158733"/>
                  </a:lnTo>
                  <a:lnTo>
                    <a:pt x="22292" y="1208746"/>
                  </a:lnTo>
                  <a:lnTo>
                    <a:pt x="14301" y="1259102"/>
                  </a:lnTo>
                  <a:lnTo>
                    <a:pt x="8063" y="1309754"/>
                  </a:lnTo>
                  <a:lnTo>
                    <a:pt x="3592" y="1360659"/>
                  </a:lnTo>
                  <a:lnTo>
                    <a:pt x="900" y="1411769"/>
                  </a:lnTo>
                  <a:lnTo>
                    <a:pt x="0" y="1463039"/>
                  </a:lnTo>
                  <a:lnTo>
                    <a:pt x="900" y="1514310"/>
                  </a:lnTo>
                  <a:lnTo>
                    <a:pt x="3592" y="1565420"/>
                  </a:lnTo>
                  <a:lnTo>
                    <a:pt x="8063" y="1616325"/>
                  </a:lnTo>
                  <a:lnTo>
                    <a:pt x="14301" y="1666977"/>
                  </a:lnTo>
                  <a:lnTo>
                    <a:pt x="22292" y="1717333"/>
                  </a:lnTo>
                  <a:lnTo>
                    <a:pt x="32024" y="1767346"/>
                  </a:lnTo>
                  <a:lnTo>
                    <a:pt x="43484" y="1816972"/>
                  </a:lnTo>
                  <a:lnTo>
                    <a:pt x="56659" y="1866164"/>
                  </a:lnTo>
                  <a:lnTo>
                    <a:pt x="71537" y="1914877"/>
                  </a:lnTo>
                  <a:lnTo>
                    <a:pt x="88104" y="1963067"/>
                  </a:lnTo>
                  <a:lnTo>
                    <a:pt x="106347" y="2010686"/>
                  </a:lnTo>
                  <a:lnTo>
                    <a:pt x="126255" y="2057691"/>
                  </a:lnTo>
                  <a:lnTo>
                    <a:pt x="147814" y="2104035"/>
                  </a:lnTo>
                  <a:lnTo>
                    <a:pt x="171011" y="2149673"/>
                  </a:lnTo>
                  <a:lnTo>
                    <a:pt x="195833" y="2194560"/>
                  </a:lnTo>
                  <a:lnTo>
                    <a:pt x="222282" y="2238546"/>
                  </a:lnTo>
                  <a:lnTo>
                    <a:pt x="250195" y="2281491"/>
                  </a:lnTo>
                  <a:lnTo>
                    <a:pt x="279540" y="2323363"/>
                  </a:lnTo>
                  <a:lnTo>
                    <a:pt x="310285" y="2364129"/>
                  </a:lnTo>
                  <a:lnTo>
                    <a:pt x="342397" y="2403756"/>
                  </a:lnTo>
                  <a:lnTo>
                    <a:pt x="375844" y="2442212"/>
                  </a:lnTo>
                  <a:lnTo>
                    <a:pt x="410592" y="2479465"/>
                  </a:lnTo>
                  <a:lnTo>
                    <a:pt x="446609" y="2515480"/>
                  </a:lnTo>
                  <a:lnTo>
                    <a:pt x="483862" y="2550227"/>
                  </a:lnTo>
                  <a:lnTo>
                    <a:pt x="522319" y="2583672"/>
                  </a:lnTo>
                  <a:lnTo>
                    <a:pt x="561948" y="2615783"/>
                  </a:lnTo>
                  <a:lnTo>
                    <a:pt x="602715" y="2646528"/>
                  </a:lnTo>
                  <a:lnTo>
                    <a:pt x="644587" y="2675872"/>
                  </a:lnTo>
                  <a:lnTo>
                    <a:pt x="687533" y="2703785"/>
                  </a:lnTo>
                  <a:lnTo>
                    <a:pt x="731520" y="2730233"/>
                  </a:lnTo>
                  <a:lnTo>
                    <a:pt x="776406" y="2755058"/>
                  </a:lnTo>
                  <a:lnTo>
                    <a:pt x="822044" y="2778257"/>
                  </a:lnTo>
                  <a:lnTo>
                    <a:pt x="868388" y="2799818"/>
                  </a:lnTo>
                  <a:lnTo>
                    <a:pt x="915393" y="2819727"/>
                  </a:lnTo>
                  <a:lnTo>
                    <a:pt x="963012" y="2837972"/>
                  </a:lnTo>
                  <a:lnTo>
                    <a:pt x="1011202" y="2854540"/>
                  </a:lnTo>
                  <a:lnTo>
                    <a:pt x="1059915" y="2869418"/>
                  </a:lnTo>
                  <a:lnTo>
                    <a:pt x="1109107" y="2882594"/>
                  </a:lnTo>
                  <a:lnTo>
                    <a:pt x="1158733" y="2894054"/>
                  </a:lnTo>
                  <a:lnTo>
                    <a:pt x="1208746" y="2903786"/>
                  </a:lnTo>
                  <a:lnTo>
                    <a:pt x="1259102" y="2911778"/>
                  </a:lnTo>
                  <a:lnTo>
                    <a:pt x="1309754" y="2918016"/>
                  </a:lnTo>
                  <a:lnTo>
                    <a:pt x="1360659" y="2922487"/>
                  </a:lnTo>
                  <a:lnTo>
                    <a:pt x="1411769" y="2925179"/>
                  </a:lnTo>
                  <a:lnTo>
                    <a:pt x="1463039" y="2926079"/>
                  </a:lnTo>
                  <a:lnTo>
                    <a:pt x="1514310" y="2925179"/>
                  </a:lnTo>
                  <a:lnTo>
                    <a:pt x="1565420" y="2922487"/>
                  </a:lnTo>
                  <a:lnTo>
                    <a:pt x="1616325" y="2918016"/>
                  </a:lnTo>
                  <a:lnTo>
                    <a:pt x="1666977" y="2911778"/>
                  </a:lnTo>
                  <a:lnTo>
                    <a:pt x="1717333" y="2903786"/>
                  </a:lnTo>
                  <a:lnTo>
                    <a:pt x="1767346" y="2894054"/>
                  </a:lnTo>
                  <a:lnTo>
                    <a:pt x="1816972" y="2882594"/>
                  </a:lnTo>
                  <a:lnTo>
                    <a:pt x="1866164" y="2869418"/>
                  </a:lnTo>
                  <a:lnTo>
                    <a:pt x="1914877" y="2854540"/>
                  </a:lnTo>
                  <a:lnTo>
                    <a:pt x="1963067" y="2837972"/>
                  </a:lnTo>
                  <a:lnTo>
                    <a:pt x="2010686" y="2819727"/>
                  </a:lnTo>
                  <a:lnTo>
                    <a:pt x="2057691" y="2799818"/>
                  </a:lnTo>
                  <a:lnTo>
                    <a:pt x="2104035" y="2778257"/>
                  </a:lnTo>
                  <a:lnTo>
                    <a:pt x="2149673" y="2755058"/>
                  </a:lnTo>
                  <a:lnTo>
                    <a:pt x="2194559" y="2730233"/>
                  </a:lnTo>
                  <a:lnTo>
                    <a:pt x="2238546" y="2703785"/>
                  </a:lnTo>
                  <a:lnTo>
                    <a:pt x="2281491" y="2675872"/>
                  </a:lnTo>
                  <a:lnTo>
                    <a:pt x="2323363" y="2646528"/>
                  </a:lnTo>
                  <a:lnTo>
                    <a:pt x="2364129" y="2615783"/>
                  </a:lnTo>
                  <a:lnTo>
                    <a:pt x="2403756" y="2583672"/>
                  </a:lnTo>
                  <a:lnTo>
                    <a:pt x="2442212" y="2550227"/>
                  </a:lnTo>
                  <a:lnTo>
                    <a:pt x="2479465" y="2515480"/>
                  </a:lnTo>
                  <a:lnTo>
                    <a:pt x="2515480" y="2479465"/>
                  </a:lnTo>
                  <a:lnTo>
                    <a:pt x="2550227" y="2442212"/>
                  </a:lnTo>
                  <a:lnTo>
                    <a:pt x="2583672" y="2403756"/>
                  </a:lnTo>
                  <a:lnTo>
                    <a:pt x="2615783" y="2364129"/>
                  </a:lnTo>
                  <a:lnTo>
                    <a:pt x="2646528" y="2323363"/>
                  </a:lnTo>
                  <a:lnTo>
                    <a:pt x="2675872" y="2281491"/>
                  </a:lnTo>
                  <a:lnTo>
                    <a:pt x="2703785" y="2238546"/>
                  </a:lnTo>
                  <a:lnTo>
                    <a:pt x="2730233" y="2194560"/>
                  </a:lnTo>
                  <a:lnTo>
                    <a:pt x="2755058" y="2149673"/>
                  </a:lnTo>
                  <a:lnTo>
                    <a:pt x="2778257" y="2104035"/>
                  </a:lnTo>
                  <a:lnTo>
                    <a:pt x="2799818" y="2057691"/>
                  </a:lnTo>
                  <a:lnTo>
                    <a:pt x="2819727" y="2010686"/>
                  </a:lnTo>
                  <a:lnTo>
                    <a:pt x="2837972" y="1963067"/>
                  </a:lnTo>
                  <a:lnTo>
                    <a:pt x="2854540" y="1914877"/>
                  </a:lnTo>
                  <a:lnTo>
                    <a:pt x="2869418" y="1866164"/>
                  </a:lnTo>
                  <a:lnTo>
                    <a:pt x="2882594" y="1816972"/>
                  </a:lnTo>
                  <a:lnTo>
                    <a:pt x="2894054" y="1767346"/>
                  </a:lnTo>
                  <a:lnTo>
                    <a:pt x="2903786" y="1717333"/>
                  </a:lnTo>
                  <a:lnTo>
                    <a:pt x="2911778" y="1666977"/>
                  </a:lnTo>
                  <a:lnTo>
                    <a:pt x="2918016" y="1616325"/>
                  </a:lnTo>
                  <a:lnTo>
                    <a:pt x="2922487" y="1565420"/>
                  </a:lnTo>
                  <a:lnTo>
                    <a:pt x="2925179" y="1514310"/>
                  </a:lnTo>
                  <a:lnTo>
                    <a:pt x="2926079" y="1463039"/>
                  </a:lnTo>
                  <a:lnTo>
                    <a:pt x="2925179" y="1411769"/>
                  </a:lnTo>
                  <a:lnTo>
                    <a:pt x="2922487" y="1360659"/>
                  </a:lnTo>
                  <a:lnTo>
                    <a:pt x="2918016" y="1309754"/>
                  </a:lnTo>
                  <a:lnTo>
                    <a:pt x="2911778" y="1259102"/>
                  </a:lnTo>
                  <a:lnTo>
                    <a:pt x="2903786" y="1208746"/>
                  </a:lnTo>
                  <a:lnTo>
                    <a:pt x="2894054" y="1158733"/>
                  </a:lnTo>
                  <a:lnTo>
                    <a:pt x="2882594" y="1109107"/>
                  </a:lnTo>
                  <a:lnTo>
                    <a:pt x="2869418" y="1059915"/>
                  </a:lnTo>
                  <a:lnTo>
                    <a:pt x="2854540" y="1011202"/>
                  </a:lnTo>
                  <a:lnTo>
                    <a:pt x="2837972" y="963012"/>
                  </a:lnTo>
                  <a:lnTo>
                    <a:pt x="2819727" y="915393"/>
                  </a:lnTo>
                  <a:lnTo>
                    <a:pt x="2799818" y="868388"/>
                  </a:lnTo>
                  <a:lnTo>
                    <a:pt x="2778257" y="822044"/>
                  </a:lnTo>
                  <a:lnTo>
                    <a:pt x="2755058" y="776406"/>
                  </a:lnTo>
                  <a:lnTo>
                    <a:pt x="2730233" y="731519"/>
                  </a:lnTo>
                  <a:lnTo>
                    <a:pt x="2703785" y="687533"/>
                  </a:lnTo>
                  <a:lnTo>
                    <a:pt x="2675872" y="644587"/>
                  </a:lnTo>
                  <a:lnTo>
                    <a:pt x="2646528" y="602715"/>
                  </a:lnTo>
                  <a:lnTo>
                    <a:pt x="2615783" y="561948"/>
                  </a:lnTo>
                  <a:lnTo>
                    <a:pt x="2583672" y="522319"/>
                  </a:lnTo>
                  <a:lnTo>
                    <a:pt x="2550227" y="483862"/>
                  </a:lnTo>
                  <a:lnTo>
                    <a:pt x="2515480" y="446609"/>
                  </a:lnTo>
                  <a:lnTo>
                    <a:pt x="2479465" y="410592"/>
                  </a:lnTo>
                  <a:lnTo>
                    <a:pt x="2442212" y="375844"/>
                  </a:lnTo>
                  <a:lnTo>
                    <a:pt x="2403756" y="342397"/>
                  </a:lnTo>
                  <a:lnTo>
                    <a:pt x="2364129" y="310285"/>
                  </a:lnTo>
                  <a:lnTo>
                    <a:pt x="2323363" y="279540"/>
                  </a:lnTo>
                  <a:lnTo>
                    <a:pt x="2281491" y="250195"/>
                  </a:lnTo>
                  <a:lnTo>
                    <a:pt x="2238546" y="222282"/>
                  </a:lnTo>
                  <a:lnTo>
                    <a:pt x="2194559" y="195833"/>
                  </a:lnTo>
                  <a:lnTo>
                    <a:pt x="2149673" y="171011"/>
                  </a:lnTo>
                  <a:lnTo>
                    <a:pt x="2104035" y="147814"/>
                  </a:lnTo>
                  <a:lnTo>
                    <a:pt x="2057691" y="126255"/>
                  </a:lnTo>
                  <a:lnTo>
                    <a:pt x="2010686" y="106347"/>
                  </a:lnTo>
                  <a:lnTo>
                    <a:pt x="1963067" y="88104"/>
                  </a:lnTo>
                  <a:lnTo>
                    <a:pt x="1914877" y="71537"/>
                  </a:lnTo>
                  <a:lnTo>
                    <a:pt x="1866164" y="56659"/>
                  </a:lnTo>
                  <a:lnTo>
                    <a:pt x="1816972" y="43484"/>
                  </a:lnTo>
                  <a:lnTo>
                    <a:pt x="1767346" y="32024"/>
                  </a:lnTo>
                  <a:lnTo>
                    <a:pt x="1717333" y="22292"/>
                  </a:lnTo>
                  <a:lnTo>
                    <a:pt x="1666977" y="14301"/>
                  </a:lnTo>
                  <a:lnTo>
                    <a:pt x="1616325" y="8063"/>
                  </a:lnTo>
                  <a:lnTo>
                    <a:pt x="1565420" y="3592"/>
                  </a:lnTo>
                  <a:lnTo>
                    <a:pt x="1514310" y="900"/>
                  </a:lnTo>
                  <a:lnTo>
                    <a:pt x="1463039" y="0"/>
                  </a:lnTo>
                  <a:close/>
                </a:path>
              </a:pathLst>
            </a:custGeom>
            <a:solidFill>
              <a:srgbClr val="0790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 descr="icons/chart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81719" y="3229203"/>
              <a:ext cx="1403997" cy="1403997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dirty="0"/>
              <a:t>Our</a:t>
            </a:r>
            <a:r>
              <a:rPr sz="3400" spc="-70" dirty="0"/>
              <a:t> </a:t>
            </a:r>
            <a:r>
              <a:rPr sz="3400" spc="-10" dirty="0"/>
              <a:t>Solution</a:t>
            </a:r>
            <a:endParaRPr sz="3400"/>
          </a:p>
        </p:txBody>
      </p:sp>
      <p:pic>
        <p:nvPicPr>
          <p:cNvPr id="3" name="object 3" descr="assets/lightbulb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90" y="1736991"/>
            <a:ext cx="1942062" cy="242280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370224" y="2634386"/>
            <a:ext cx="7381875" cy="765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9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We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predictive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analytics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30" dirty="0">
                <a:latin typeface="Calibri"/>
                <a:cs typeface="Calibri"/>
              </a:rPr>
              <a:t>market-</a:t>
            </a:r>
            <a:r>
              <a:rPr sz="1800" dirty="0">
                <a:latin typeface="Calibri"/>
                <a:cs typeface="Calibri"/>
              </a:rPr>
              <a:t>aware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routing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connect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fresh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produce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wholesale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buyer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pays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most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before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spoils.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6884" y="4434484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79">
                <a:moveTo>
                  <a:pt x="320040" y="0"/>
                </a:moveTo>
                <a:lnTo>
                  <a:pt x="278201" y="2744"/>
                </a:lnTo>
                <a:lnTo>
                  <a:pt x="237239" y="10888"/>
                </a:lnTo>
                <a:lnTo>
                  <a:pt x="197624" y="24297"/>
                </a:lnTo>
                <a:lnTo>
                  <a:pt x="159829" y="42837"/>
                </a:lnTo>
                <a:lnTo>
                  <a:pt x="124999" y="66136"/>
                </a:lnTo>
                <a:lnTo>
                  <a:pt x="93641" y="93687"/>
                </a:lnTo>
                <a:lnTo>
                  <a:pt x="66130" y="125154"/>
                </a:lnTo>
                <a:lnTo>
                  <a:pt x="42837" y="160197"/>
                </a:lnTo>
                <a:lnTo>
                  <a:pt x="24297" y="197780"/>
                </a:lnTo>
                <a:lnTo>
                  <a:pt x="10888" y="237285"/>
                </a:lnTo>
                <a:lnTo>
                  <a:pt x="2744" y="278207"/>
                </a:lnTo>
                <a:lnTo>
                  <a:pt x="0" y="320039"/>
                </a:lnTo>
                <a:lnTo>
                  <a:pt x="2744" y="361878"/>
                </a:lnTo>
                <a:lnTo>
                  <a:pt x="10888" y="402839"/>
                </a:lnTo>
                <a:lnTo>
                  <a:pt x="24297" y="442449"/>
                </a:lnTo>
                <a:lnTo>
                  <a:pt x="42837" y="480237"/>
                </a:lnTo>
                <a:lnTo>
                  <a:pt x="66136" y="515073"/>
                </a:lnTo>
                <a:lnTo>
                  <a:pt x="93687" y="546430"/>
                </a:lnTo>
                <a:lnTo>
                  <a:pt x="125154" y="573938"/>
                </a:lnTo>
                <a:lnTo>
                  <a:pt x="160197" y="597230"/>
                </a:lnTo>
                <a:lnTo>
                  <a:pt x="197780" y="615771"/>
                </a:lnTo>
                <a:lnTo>
                  <a:pt x="237285" y="629184"/>
                </a:lnTo>
                <a:lnTo>
                  <a:pt x="278207" y="637333"/>
                </a:lnTo>
                <a:lnTo>
                  <a:pt x="320040" y="640079"/>
                </a:lnTo>
                <a:lnTo>
                  <a:pt x="361878" y="637333"/>
                </a:lnTo>
                <a:lnTo>
                  <a:pt x="402839" y="629184"/>
                </a:lnTo>
                <a:lnTo>
                  <a:pt x="442449" y="615771"/>
                </a:lnTo>
                <a:lnTo>
                  <a:pt x="480237" y="597230"/>
                </a:lnTo>
                <a:lnTo>
                  <a:pt x="515073" y="573938"/>
                </a:lnTo>
                <a:lnTo>
                  <a:pt x="546430" y="546430"/>
                </a:lnTo>
                <a:lnTo>
                  <a:pt x="573938" y="515073"/>
                </a:lnTo>
                <a:lnTo>
                  <a:pt x="597230" y="480237"/>
                </a:lnTo>
                <a:lnTo>
                  <a:pt x="615771" y="442449"/>
                </a:lnTo>
                <a:lnTo>
                  <a:pt x="629184" y="402839"/>
                </a:lnTo>
                <a:lnTo>
                  <a:pt x="637333" y="361878"/>
                </a:lnTo>
                <a:lnTo>
                  <a:pt x="640080" y="320039"/>
                </a:lnTo>
                <a:lnTo>
                  <a:pt x="637333" y="278207"/>
                </a:lnTo>
                <a:lnTo>
                  <a:pt x="629184" y="237285"/>
                </a:lnTo>
                <a:lnTo>
                  <a:pt x="615771" y="197780"/>
                </a:lnTo>
                <a:lnTo>
                  <a:pt x="597230" y="160197"/>
                </a:lnTo>
                <a:lnTo>
                  <a:pt x="573938" y="125154"/>
                </a:lnTo>
                <a:lnTo>
                  <a:pt x="546430" y="93687"/>
                </a:lnTo>
                <a:lnTo>
                  <a:pt x="515073" y="66136"/>
                </a:lnTo>
                <a:lnTo>
                  <a:pt x="480237" y="42837"/>
                </a:lnTo>
                <a:lnTo>
                  <a:pt x="442449" y="24297"/>
                </a:lnTo>
                <a:lnTo>
                  <a:pt x="402839" y="10888"/>
                </a:lnTo>
                <a:lnTo>
                  <a:pt x="361878" y="2744"/>
                </a:lnTo>
                <a:lnTo>
                  <a:pt x="320040" y="0"/>
                </a:lnTo>
                <a:close/>
              </a:path>
            </a:pathLst>
          </a:custGeom>
          <a:solidFill>
            <a:srgbClr val="8F10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93863" y="4394415"/>
            <a:ext cx="2063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0" dirty="0">
                <a:solidFill>
                  <a:srgbClr val="FFFFFF"/>
                </a:solidFill>
                <a:latin typeface="Arial"/>
                <a:cs typeface="Arial"/>
              </a:rPr>
              <a:t>"</a:t>
            </a:r>
            <a:endParaRPr sz="30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535584" y="5320703"/>
            <a:ext cx="15487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79094"/>
                </a:solidFill>
                <a:latin typeface="Arial"/>
                <a:cs typeface="Arial"/>
              </a:rPr>
              <a:t>1.</a:t>
            </a:r>
            <a:r>
              <a:rPr sz="1400" b="1" spc="-10" dirty="0">
                <a:solidFill>
                  <a:srgbClr val="079094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79094"/>
                </a:solidFill>
                <a:latin typeface="Arial"/>
                <a:cs typeface="Arial"/>
              </a:rPr>
              <a:t>Log</a:t>
            </a:r>
            <a:r>
              <a:rPr sz="1400" b="1" spc="-10" dirty="0">
                <a:solidFill>
                  <a:srgbClr val="079094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79094"/>
                </a:solidFill>
                <a:latin typeface="Arial"/>
                <a:cs typeface="Arial"/>
              </a:rPr>
              <a:t>the</a:t>
            </a:r>
            <a:r>
              <a:rPr sz="1400" b="1" spc="5" dirty="0">
                <a:solidFill>
                  <a:srgbClr val="079094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79094"/>
                </a:solidFill>
                <a:latin typeface="Arial"/>
                <a:cs typeface="Arial"/>
              </a:rPr>
              <a:t>harvest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5584" y="5830161"/>
            <a:ext cx="3444875" cy="446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Crop,</a:t>
            </a:r>
            <a:r>
              <a:rPr sz="1150" spc="-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494949"/>
                </a:solidFill>
                <a:latin typeface="Calibri"/>
                <a:cs typeface="Calibri"/>
              </a:rPr>
              <a:t>quantity,</a:t>
            </a:r>
            <a:r>
              <a:rPr sz="1150" spc="-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and</a:t>
            </a:r>
            <a:r>
              <a:rPr sz="1150" spc="-2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basic</a:t>
            </a:r>
            <a:r>
              <a:rPr sz="1150" spc="-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494949"/>
                </a:solidFill>
                <a:latin typeface="Calibri"/>
                <a:cs typeface="Calibri"/>
              </a:rPr>
              <a:t>storage</a:t>
            </a:r>
            <a:r>
              <a:rPr sz="1150" spc="-2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494949"/>
                </a:solidFill>
                <a:latin typeface="Calibri"/>
                <a:cs typeface="Calibri"/>
              </a:rPr>
              <a:t>conditions</a:t>
            </a:r>
            <a:r>
              <a:rPr sz="1150" spc="-2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—</a:t>
            </a:r>
            <a:r>
              <a:rPr sz="1150" spc="-1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phone</a:t>
            </a:r>
            <a:r>
              <a:rPr sz="1150" spc="-25" dirty="0">
                <a:solidFill>
                  <a:srgbClr val="494949"/>
                </a:solidFill>
                <a:latin typeface="Calibri"/>
                <a:cs typeface="Calibri"/>
              </a:rPr>
              <a:t> app </a:t>
            </a: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or</a:t>
            </a:r>
            <a:r>
              <a:rPr sz="1150" spc="-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a</a:t>
            </a:r>
            <a:r>
              <a:rPr sz="1150" spc="-2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simple</a:t>
            </a:r>
            <a:r>
              <a:rPr sz="1150" spc="-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text</a:t>
            </a:r>
            <a:r>
              <a:rPr sz="1150" spc="-20" dirty="0">
                <a:solidFill>
                  <a:srgbClr val="494949"/>
                </a:solidFill>
                <a:latin typeface="Calibri"/>
                <a:cs typeface="Calibri"/>
              </a:rPr>
              <a:t> menu.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21784" y="5320703"/>
            <a:ext cx="15087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79094"/>
                </a:solidFill>
                <a:latin typeface="Arial"/>
                <a:cs typeface="Arial"/>
              </a:rPr>
              <a:t>2.</a:t>
            </a:r>
            <a:r>
              <a:rPr sz="1400" b="1" spc="-25" dirty="0">
                <a:solidFill>
                  <a:srgbClr val="079094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79094"/>
                </a:solidFill>
                <a:latin typeface="Arial"/>
                <a:cs typeface="Arial"/>
              </a:rPr>
              <a:t>Predict</a:t>
            </a:r>
            <a:r>
              <a:rPr sz="1400" b="1" spc="-15" dirty="0">
                <a:solidFill>
                  <a:srgbClr val="079094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79094"/>
                </a:solidFill>
                <a:latin typeface="Arial"/>
                <a:cs typeface="Arial"/>
              </a:rPr>
              <a:t>the</a:t>
            </a:r>
            <a:r>
              <a:rPr sz="1400" b="1" spc="-10" dirty="0">
                <a:solidFill>
                  <a:srgbClr val="079094"/>
                </a:solidFill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079094"/>
                </a:solidFill>
                <a:latin typeface="Arial"/>
                <a:cs typeface="Arial"/>
              </a:rPr>
              <a:t>risk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21784" y="5830161"/>
            <a:ext cx="3083560" cy="446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The</a:t>
            </a:r>
            <a:r>
              <a:rPr sz="1150" spc="-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494949"/>
                </a:solidFill>
                <a:latin typeface="Calibri"/>
                <a:cs typeface="Calibri"/>
              </a:rPr>
              <a:t>system</a:t>
            </a:r>
            <a:r>
              <a:rPr sz="1150" spc="-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494949"/>
                </a:solidFill>
                <a:latin typeface="Calibri"/>
                <a:cs typeface="Calibri"/>
              </a:rPr>
              <a:t>estimates</a:t>
            </a:r>
            <a:r>
              <a:rPr sz="1150" spc="-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spoilage</a:t>
            </a:r>
            <a:r>
              <a:rPr sz="1150" spc="-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risk</a:t>
            </a:r>
            <a:r>
              <a:rPr sz="1150" spc="-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for</a:t>
            </a:r>
            <a:r>
              <a:rPr sz="1150" spc="-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that</a:t>
            </a:r>
            <a:r>
              <a:rPr sz="1150" spc="-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batch,</a:t>
            </a:r>
            <a:r>
              <a:rPr sz="1150" spc="-1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spc="-25" dirty="0">
                <a:solidFill>
                  <a:srgbClr val="494949"/>
                </a:solidFill>
                <a:latin typeface="Calibri"/>
                <a:cs typeface="Calibri"/>
              </a:rPr>
              <a:t>in </a:t>
            </a:r>
            <a:r>
              <a:rPr sz="1150" spc="-10" dirty="0">
                <a:solidFill>
                  <a:srgbClr val="494949"/>
                </a:solidFill>
                <a:latin typeface="Calibri"/>
                <a:cs typeface="Calibri"/>
              </a:rPr>
              <a:t>seconds.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07984" y="5320703"/>
            <a:ext cx="224155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79094"/>
                </a:solidFill>
                <a:latin typeface="Arial"/>
                <a:cs typeface="Arial"/>
              </a:rPr>
              <a:t>3.</a:t>
            </a:r>
            <a:r>
              <a:rPr sz="1400" b="1" spc="-30" dirty="0">
                <a:solidFill>
                  <a:srgbClr val="079094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79094"/>
                </a:solidFill>
                <a:latin typeface="Arial"/>
                <a:cs typeface="Arial"/>
              </a:rPr>
              <a:t>Recommend</a:t>
            </a:r>
            <a:r>
              <a:rPr sz="1400" b="1" spc="-20" dirty="0">
                <a:solidFill>
                  <a:srgbClr val="079094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79094"/>
                </a:solidFill>
                <a:latin typeface="Arial"/>
                <a:cs typeface="Arial"/>
              </a:rPr>
              <a:t>the</a:t>
            </a:r>
            <a:r>
              <a:rPr sz="1400" b="1" spc="-35" dirty="0">
                <a:solidFill>
                  <a:srgbClr val="079094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79094"/>
                </a:solidFill>
                <a:latin typeface="Arial"/>
                <a:cs typeface="Arial"/>
              </a:rPr>
              <a:t>market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07984" y="5830161"/>
            <a:ext cx="3566160" cy="446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One</a:t>
            </a:r>
            <a:r>
              <a:rPr sz="1150" spc="-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494949"/>
                </a:solidFill>
                <a:latin typeface="Calibri"/>
                <a:cs typeface="Calibri"/>
              </a:rPr>
              <a:t>sentence:</a:t>
            </a:r>
            <a:r>
              <a:rPr sz="1150" spc="-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which</a:t>
            </a:r>
            <a:r>
              <a:rPr sz="1150" spc="-2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nearby</a:t>
            </a:r>
            <a:r>
              <a:rPr sz="1150" spc="-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494949"/>
                </a:solidFill>
                <a:latin typeface="Calibri"/>
                <a:cs typeface="Calibri"/>
              </a:rPr>
              <a:t>market</a:t>
            </a:r>
            <a:r>
              <a:rPr sz="1150" spc="-1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pays</a:t>
            </a:r>
            <a:r>
              <a:rPr sz="1150" spc="-2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the</a:t>
            </a:r>
            <a:r>
              <a:rPr sz="1150" spc="-2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most</a:t>
            </a:r>
            <a:r>
              <a:rPr sz="1150" spc="-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494949"/>
                </a:solidFill>
                <a:latin typeface="Calibri"/>
                <a:cs typeface="Calibri"/>
              </a:rPr>
              <a:t>before</a:t>
            </a:r>
            <a:r>
              <a:rPr sz="1150" spc="-25" dirty="0">
                <a:solidFill>
                  <a:srgbClr val="494949"/>
                </a:solidFill>
                <a:latin typeface="Calibri"/>
                <a:cs typeface="Calibri"/>
              </a:rPr>
              <a:t> it </a:t>
            </a:r>
            <a:r>
              <a:rPr sz="1150" spc="-10" dirty="0">
                <a:solidFill>
                  <a:srgbClr val="494949"/>
                </a:solidFill>
                <a:latin typeface="Calibri"/>
                <a:cs typeface="Calibri"/>
              </a:rPr>
              <a:t>spoils.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Built</a:t>
            </a:r>
            <a:r>
              <a:rPr sz="3200" spc="-30" dirty="0"/>
              <a:t> </a:t>
            </a:r>
            <a:r>
              <a:rPr sz="3200" dirty="0"/>
              <a:t>for</a:t>
            </a:r>
            <a:r>
              <a:rPr sz="3200" spc="-25" dirty="0"/>
              <a:t> </a:t>
            </a:r>
            <a:r>
              <a:rPr sz="3200" dirty="0"/>
              <a:t>Every</a:t>
            </a:r>
            <a:r>
              <a:rPr sz="3200" spc="-25" dirty="0"/>
              <a:t> </a:t>
            </a:r>
            <a:r>
              <a:rPr sz="3200" spc="-10" dirty="0"/>
              <a:t>Farmer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35584" y="1305623"/>
            <a:ext cx="35890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solidFill>
                  <a:srgbClr val="494949"/>
                </a:solidFill>
                <a:latin typeface="Calibri"/>
                <a:cs typeface="Calibri"/>
              </a:rPr>
              <a:t>Works</a:t>
            </a:r>
            <a:r>
              <a:rPr sz="1600" spc="-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94949"/>
                </a:solidFill>
                <a:latin typeface="Calibri"/>
                <a:cs typeface="Calibri"/>
              </a:rPr>
              <a:t>on</a:t>
            </a:r>
            <a:r>
              <a:rPr sz="1600" spc="-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94949"/>
                </a:solidFill>
                <a:latin typeface="Calibri"/>
                <a:cs typeface="Calibri"/>
              </a:rPr>
              <a:t>any</a:t>
            </a:r>
            <a:r>
              <a:rPr sz="1600" spc="-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94949"/>
                </a:solidFill>
                <a:latin typeface="Calibri"/>
                <a:cs typeface="Calibri"/>
              </a:rPr>
              <a:t>phone</a:t>
            </a:r>
            <a:r>
              <a:rPr sz="1600" spc="-2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94949"/>
                </a:solidFill>
                <a:latin typeface="Calibri"/>
                <a:cs typeface="Calibri"/>
              </a:rPr>
              <a:t>—</a:t>
            </a:r>
            <a:r>
              <a:rPr sz="1600" spc="-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94949"/>
                </a:solidFill>
                <a:latin typeface="Calibri"/>
                <a:cs typeface="Calibri"/>
              </a:rPr>
              <a:t>smartphone</a:t>
            </a:r>
            <a:r>
              <a:rPr sz="1600" spc="-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94949"/>
                </a:solidFill>
                <a:latin typeface="Calibri"/>
                <a:cs typeface="Calibri"/>
              </a:rPr>
              <a:t>or</a:t>
            </a:r>
            <a:r>
              <a:rPr sz="1600" spc="-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494949"/>
                </a:solidFill>
                <a:latin typeface="Calibri"/>
                <a:cs typeface="Calibri"/>
              </a:rPr>
              <a:t>not.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7916" y="2102396"/>
            <a:ext cx="5121275" cy="3566795"/>
            <a:chOff x="547916" y="2102396"/>
            <a:chExt cx="5121275" cy="3566795"/>
          </a:xfrm>
        </p:grpSpPr>
        <p:sp>
          <p:nvSpPr>
            <p:cNvPr id="5" name="object 5"/>
            <p:cNvSpPr/>
            <p:nvPr/>
          </p:nvSpPr>
          <p:spPr>
            <a:xfrm>
              <a:off x="547916" y="2102396"/>
              <a:ext cx="5121275" cy="3566795"/>
            </a:xfrm>
            <a:custGeom>
              <a:avLst/>
              <a:gdLst/>
              <a:ahLst/>
              <a:cxnLst/>
              <a:rect l="l" t="t" r="r" b="b"/>
              <a:pathLst>
                <a:path w="5121275" h="3566795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3456724"/>
                  </a:lnTo>
                  <a:lnTo>
                    <a:pt x="939" y="3471154"/>
                  </a:lnTo>
                  <a:lnTo>
                    <a:pt x="3736" y="3485211"/>
                  </a:lnTo>
                  <a:lnTo>
                    <a:pt x="8307" y="3498645"/>
                  </a:lnTo>
                  <a:lnTo>
                    <a:pt x="8358" y="3498795"/>
                  </a:lnTo>
                  <a:lnTo>
                    <a:pt x="14770" y="3511804"/>
                  </a:lnTo>
                  <a:lnTo>
                    <a:pt x="22686" y="3523517"/>
                  </a:lnTo>
                  <a:lnTo>
                    <a:pt x="22788" y="3523667"/>
                  </a:lnTo>
                  <a:lnTo>
                    <a:pt x="55079" y="3551758"/>
                  </a:lnTo>
                  <a:lnTo>
                    <a:pt x="95379" y="3565588"/>
                  </a:lnTo>
                  <a:lnTo>
                    <a:pt x="109804" y="3566528"/>
                  </a:lnTo>
                  <a:lnTo>
                    <a:pt x="5011204" y="3566528"/>
                  </a:lnTo>
                  <a:lnTo>
                    <a:pt x="5053275" y="3558170"/>
                  </a:lnTo>
                  <a:lnTo>
                    <a:pt x="5088777" y="3534348"/>
                  </a:lnTo>
                  <a:lnTo>
                    <a:pt x="5112574" y="3498795"/>
                  </a:lnTo>
                  <a:lnTo>
                    <a:pt x="5121008" y="3456724"/>
                  </a:lnTo>
                  <a:lnTo>
                    <a:pt x="5120985" y="109804"/>
                  </a:lnTo>
                  <a:lnTo>
                    <a:pt x="5112650" y="68095"/>
                  </a:lnTo>
                  <a:lnTo>
                    <a:pt x="5088783" y="32535"/>
                  </a:lnTo>
                  <a:lnTo>
                    <a:pt x="5053125" y="8721"/>
                  </a:lnTo>
                  <a:lnTo>
                    <a:pt x="501120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4044" y="2468524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60" h="822960">
                  <a:moveTo>
                    <a:pt x="411480" y="0"/>
                  </a:moveTo>
                  <a:lnTo>
                    <a:pt x="357584" y="3543"/>
                  </a:lnTo>
                  <a:lnTo>
                    <a:pt x="304871" y="14038"/>
                  </a:lnTo>
                  <a:lnTo>
                    <a:pt x="253979" y="31284"/>
                  </a:lnTo>
                  <a:lnTo>
                    <a:pt x="205549" y="55079"/>
                  </a:lnTo>
                  <a:lnTo>
                    <a:pt x="160830" y="85024"/>
                  </a:lnTo>
                  <a:lnTo>
                    <a:pt x="120461" y="120507"/>
                  </a:lnTo>
                  <a:lnTo>
                    <a:pt x="85018" y="160985"/>
                  </a:lnTo>
                  <a:lnTo>
                    <a:pt x="55079" y="205917"/>
                  </a:lnTo>
                  <a:lnTo>
                    <a:pt x="31284" y="254135"/>
                  </a:lnTo>
                  <a:lnTo>
                    <a:pt x="14038" y="304917"/>
                  </a:lnTo>
                  <a:lnTo>
                    <a:pt x="3543" y="357590"/>
                  </a:lnTo>
                  <a:lnTo>
                    <a:pt x="0" y="411479"/>
                  </a:lnTo>
                  <a:lnTo>
                    <a:pt x="3543" y="465369"/>
                  </a:lnTo>
                  <a:lnTo>
                    <a:pt x="14038" y="518082"/>
                  </a:lnTo>
                  <a:lnTo>
                    <a:pt x="31284" y="568972"/>
                  </a:lnTo>
                  <a:lnTo>
                    <a:pt x="55079" y="617397"/>
                  </a:lnTo>
                  <a:lnTo>
                    <a:pt x="85018" y="662122"/>
                  </a:lnTo>
                  <a:lnTo>
                    <a:pt x="120461" y="702492"/>
                  </a:lnTo>
                  <a:lnTo>
                    <a:pt x="160830" y="737936"/>
                  </a:lnTo>
                  <a:lnTo>
                    <a:pt x="205549" y="767880"/>
                  </a:lnTo>
                  <a:lnTo>
                    <a:pt x="253979" y="791670"/>
                  </a:lnTo>
                  <a:lnTo>
                    <a:pt x="304871" y="808916"/>
                  </a:lnTo>
                  <a:lnTo>
                    <a:pt x="357584" y="819415"/>
                  </a:lnTo>
                  <a:lnTo>
                    <a:pt x="411480" y="822960"/>
                  </a:lnTo>
                  <a:lnTo>
                    <a:pt x="465369" y="819415"/>
                  </a:lnTo>
                  <a:lnTo>
                    <a:pt x="518082" y="808916"/>
                  </a:lnTo>
                  <a:lnTo>
                    <a:pt x="568972" y="791670"/>
                  </a:lnTo>
                  <a:lnTo>
                    <a:pt x="617397" y="767880"/>
                  </a:lnTo>
                  <a:lnTo>
                    <a:pt x="662122" y="737936"/>
                  </a:lnTo>
                  <a:lnTo>
                    <a:pt x="702492" y="702492"/>
                  </a:lnTo>
                  <a:lnTo>
                    <a:pt x="737936" y="662122"/>
                  </a:lnTo>
                  <a:lnTo>
                    <a:pt x="767880" y="617397"/>
                  </a:lnTo>
                  <a:lnTo>
                    <a:pt x="791670" y="568972"/>
                  </a:lnTo>
                  <a:lnTo>
                    <a:pt x="808916" y="518082"/>
                  </a:lnTo>
                  <a:lnTo>
                    <a:pt x="819415" y="465369"/>
                  </a:lnTo>
                  <a:lnTo>
                    <a:pt x="822960" y="411479"/>
                  </a:lnTo>
                  <a:lnTo>
                    <a:pt x="819415" y="357590"/>
                  </a:lnTo>
                  <a:lnTo>
                    <a:pt x="808916" y="304917"/>
                  </a:lnTo>
                  <a:lnTo>
                    <a:pt x="791670" y="254135"/>
                  </a:lnTo>
                  <a:lnTo>
                    <a:pt x="767880" y="205917"/>
                  </a:lnTo>
                  <a:lnTo>
                    <a:pt x="737930" y="160985"/>
                  </a:lnTo>
                  <a:lnTo>
                    <a:pt x="702446" y="120507"/>
                  </a:lnTo>
                  <a:lnTo>
                    <a:pt x="661966" y="85024"/>
                  </a:lnTo>
                  <a:lnTo>
                    <a:pt x="617029" y="55079"/>
                  </a:lnTo>
                  <a:lnTo>
                    <a:pt x="568817" y="31284"/>
                  </a:lnTo>
                  <a:lnTo>
                    <a:pt x="518036" y="14038"/>
                  </a:lnTo>
                  <a:lnTo>
                    <a:pt x="465364" y="3543"/>
                  </a:lnTo>
                  <a:lnTo>
                    <a:pt x="411480" y="0"/>
                  </a:lnTo>
                  <a:close/>
                </a:path>
              </a:pathLst>
            </a:custGeom>
            <a:solidFill>
              <a:srgbClr val="0AB5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 descr="icons/mobile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8242" y="2682354"/>
              <a:ext cx="394563" cy="394563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907184" y="2722587"/>
            <a:ext cx="131254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-10" dirty="0">
                <a:latin typeface="Arial"/>
                <a:cs typeface="Arial"/>
              </a:rPr>
              <a:t>Mobile</a:t>
            </a:r>
            <a:r>
              <a:rPr sz="1900" b="1" spc="-114" dirty="0">
                <a:latin typeface="Arial"/>
                <a:cs typeface="Arial"/>
              </a:rPr>
              <a:t> </a:t>
            </a:r>
            <a:r>
              <a:rPr sz="1900" b="1" spc="-25" dirty="0">
                <a:latin typeface="Arial"/>
                <a:cs typeface="Arial"/>
              </a:rPr>
              <a:t>App</a:t>
            </a:r>
            <a:endParaRPr sz="1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1344" y="4112610"/>
            <a:ext cx="4347845" cy="8267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800"/>
              </a:lnSpc>
              <a:spcBef>
                <a:spcPts val="100"/>
              </a:spcBef>
            </a:pPr>
            <a:r>
              <a:rPr sz="1350" dirty="0">
                <a:solidFill>
                  <a:srgbClr val="494949"/>
                </a:solidFill>
                <a:latin typeface="Calibri"/>
                <a:cs typeface="Calibri"/>
              </a:rPr>
              <a:t>For</a:t>
            </a:r>
            <a:r>
              <a:rPr sz="1350" spc="-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494949"/>
                </a:solidFill>
                <a:latin typeface="Calibri"/>
                <a:cs typeface="Calibri"/>
              </a:rPr>
              <a:t>farmers</a:t>
            </a:r>
            <a:r>
              <a:rPr sz="1350" spc="-2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494949"/>
                </a:solidFill>
                <a:latin typeface="Calibri"/>
                <a:cs typeface="Calibri"/>
              </a:rPr>
              <a:t>and</a:t>
            </a:r>
            <a:r>
              <a:rPr sz="1350" spc="-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494949"/>
                </a:solidFill>
                <a:latin typeface="Calibri"/>
                <a:cs typeface="Calibri"/>
              </a:rPr>
              <a:t>drivers</a:t>
            </a:r>
            <a:r>
              <a:rPr sz="1350" spc="-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494949"/>
                </a:solidFill>
                <a:latin typeface="Calibri"/>
                <a:cs typeface="Calibri"/>
              </a:rPr>
              <a:t>with</a:t>
            </a:r>
            <a:r>
              <a:rPr sz="1350" spc="-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494949"/>
                </a:solidFill>
                <a:latin typeface="Calibri"/>
                <a:cs typeface="Calibri"/>
              </a:rPr>
              <a:t>a</a:t>
            </a:r>
            <a:r>
              <a:rPr sz="1350" spc="-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494949"/>
                </a:solidFill>
                <a:latin typeface="Calibri"/>
                <a:cs typeface="Calibri"/>
              </a:rPr>
              <a:t>smartphone</a:t>
            </a:r>
            <a:r>
              <a:rPr sz="1350" spc="-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494949"/>
                </a:solidFill>
                <a:latin typeface="Calibri"/>
                <a:cs typeface="Calibri"/>
              </a:rPr>
              <a:t>—</a:t>
            </a:r>
            <a:r>
              <a:rPr sz="1350" spc="-25" dirty="0">
                <a:solidFill>
                  <a:srgbClr val="494949"/>
                </a:solidFill>
                <a:latin typeface="Calibri"/>
                <a:cs typeface="Calibri"/>
              </a:rPr>
              <a:t> offline-</a:t>
            </a:r>
            <a:r>
              <a:rPr sz="1350" spc="-10" dirty="0">
                <a:solidFill>
                  <a:srgbClr val="494949"/>
                </a:solidFill>
                <a:latin typeface="Calibri"/>
                <a:cs typeface="Calibri"/>
              </a:rPr>
              <a:t>first,</a:t>
            </a:r>
            <a:r>
              <a:rPr sz="1350" spc="-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494949"/>
                </a:solidFill>
                <a:latin typeface="Calibri"/>
                <a:cs typeface="Calibri"/>
              </a:rPr>
              <a:t>so</a:t>
            </a:r>
            <a:r>
              <a:rPr sz="1350" spc="-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350" spc="-25" dirty="0">
                <a:solidFill>
                  <a:srgbClr val="494949"/>
                </a:solidFill>
                <a:latin typeface="Calibri"/>
                <a:cs typeface="Calibri"/>
              </a:rPr>
              <a:t>it </a:t>
            </a:r>
            <a:r>
              <a:rPr sz="1350" dirty="0">
                <a:solidFill>
                  <a:srgbClr val="494949"/>
                </a:solidFill>
                <a:latin typeface="Calibri"/>
                <a:cs typeface="Calibri"/>
              </a:rPr>
              <a:t>works</a:t>
            </a:r>
            <a:r>
              <a:rPr sz="1350" spc="-5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494949"/>
                </a:solidFill>
                <a:latin typeface="Calibri"/>
                <a:cs typeface="Calibri"/>
              </a:rPr>
              <a:t>even</a:t>
            </a:r>
            <a:r>
              <a:rPr sz="1350" spc="-4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494949"/>
                </a:solidFill>
                <a:latin typeface="Calibri"/>
                <a:cs typeface="Calibri"/>
              </a:rPr>
              <a:t>without</a:t>
            </a:r>
            <a:r>
              <a:rPr sz="1350" spc="-5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494949"/>
                </a:solidFill>
                <a:latin typeface="Calibri"/>
                <a:cs typeface="Calibri"/>
              </a:rPr>
              <a:t>a</a:t>
            </a:r>
            <a:r>
              <a:rPr sz="1350" spc="-4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494949"/>
                </a:solidFill>
                <a:latin typeface="Calibri"/>
                <a:cs typeface="Calibri"/>
              </a:rPr>
              <a:t>live</a:t>
            </a:r>
            <a:r>
              <a:rPr sz="1350" spc="-5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494949"/>
                </a:solidFill>
                <a:latin typeface="Calibri"/>
                <a:cs typeface="Calibri"/>
              </a:rPr>
              <a:t>data</a:t>
            </a:r>
            <a:r>
              <a:rPr sz="1350" spc="-5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494949"/>
                </a:solidFill>
                <a:latin typeface="Calibri"/>
                <a:cs typeface="Calibri"/>
              </a:rPr>
              <a:t>connection,</a:t>
            </a:r>
            <a:r>
              <a:rPr sz="1350" spc="-5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494949"/>
                </a:solidFill>
                <a:latin typeface="Calibri"/>
                <a:cs typeface="Calibri"/>
              </a:rPr>
              <a:t>syncing automatically</a:t>
            </a:r>
            <a:r>
              <a:rPr sz="1350" spc="-4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494949"/>
                </a:solidFill>
                <a:latin typeface="Calibri"/>
                <a:cs typeface="Calibri"/>
              </a:rPr>
              <a:t>once</a:t>
            </a:r>
            <a:r>
              <a:rPr sz="1350" spc="-4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494949"/>
                </a:solidFill>
                <a:latin typeface="Calibri"/>
                <a:cs typeface="Calibri"/>
              </a:rPr>
              <a:t>back</a:t>
            </a:r>
            <a:r>
              <a:rPr sz="1350" spc="-4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494949"/>
                </a:solidFill>
                <a:latin typeface="Calibri"/>
                <a:cs typeface="Calibri"/>
              </a:rPr>
              <a:t>in</a:t>
            </a:r>
            <a:r>
              <a:rPr sz="1350" spc="-4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494949"/>
                </a:solidFill>
                <a:latin typeface="Calibri"/>
                <a:cs typeface="Calibri"/>
              </a:rPr>
              <a:t>range.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125755" y="2102396"/>
            <a:ext cx="5121275" cy="3566795"/>
            <a:chOff x="6125755" y="2102396"/>
            <a:chExt cx="5121275" cy="3566795"/>
          </a:xfrm>
        </p:grpSpPr>
        <p:sp>
          <p:nvSpPr>
            <p:cNvPr id="11" name="object 11"/>
            <p:cNvSpPr/>
            <p:nvPr/>
          </p:nvSpPr>
          <p:spPr>
            <a:xfrm>
              <a:off x="6125755" y="2102396"/>
              <a:ext cx="5121275" cy="3566795"/>
            </a:xfrm>
            <a:custGeom>
              <a:avLst/>
              <a:gdLst/>
              <a:ahLst/>
              <a:cxnLst/>
              <a:rect l="l" t="t" r="r" b="b"/>
              <a:pathLst>
                <a:path w="5121275" h="3566795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3456724"/>
                  </a:lnTo>
                  <a:lnTo>
                    <a:pt x="939" y="3471154"/>
                  </a:lnTo>
                  <a:lnTo>
                    <a:pt x="14770" y="3511804"/>
                  </a:lnTo>
                  <a:lnTo>
                    <a:pt x="22686" y="3523517"/>
                  </a:lnTo>
                  <a:lnTo>
                    <a:pt x="22788" y="3523667"/>
                  </a:lnTo>
                  <a:lnTo>
                    <a:pt x="55079" y="3551758"/>
                  </a:lnTo>
                  <a:lnTo>
                    <a:pt x="95379" y="3565588"/>
                  </a:lnTo>
                  <a:lnTo>
                    <a:pt x="109804" y="3566528"/>
                  </a:lnTo>
                  <a:lnTo>
                    <a:pt x="5011204" y="3566528"/>
                  </a:lnTo>
                  <a:lnTo>
                    <a:pt x="5053275" y="3558170"/>
                  </a:lnTo>
                  <a:lnTo>
                    <a:pt x="5088777" y="3534348"/>
                  </a:lnTo>
                  <a:lnTo>
                    <a:pt x="5112574" y="3498795"/>
                  </a:lnTo>
                  <a:lnTo>
                    <a:pt x="5121008" y="3456724"/>
                  </a:lnTo>
                  <a:lnTo>
                    <a:pt x="5120985" y="109804"/>
                  </a:lnTo>
                  <a:lnTo>
                    <a:pt x="5112650" y="68095"/>
                  </a:lnTo>
                  <a:lnTo>
                    <a:pt x="5088783" y="32535"/>
                  </a:lnTo>
                  <a:lnTo>
                    <a:pt x="5053125" y="8721"/>
                  </a:lnTo>
                  <a:lnTo>
                    <a:pt x="501120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491884" y="2468524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59" h="822960">
                  <a:moveTo>
                    <a:pt x="411479" y="0"/>
                  </a:moveTo>
                  <a:lnTo>
                    <a:pt x="357590" y="3543"/>
                  </a:lnTo>
                  <a:lnTo>
                    <a:pt x="304917" y="14038"/>
                  </a:lnTo>
                  <a:lnTo>
                    <a:pt x="254135" y="31284"/>
                  </a:lnTo>
                  <a:lnTo>
                    <a:pt x="205917" y="55079"/>
                  </a:lnTo>
                  <a:lnTo>
                    <a:pt x="160985" y="85024"/>
                  </a:lnTo>
                  <a:lnTo>
                    <a:pt x="120507" y="120507"/>
                  </a:lnTo>
                  <a:lnTo>
                    <a:pt x="85024" y="160985"/>
                  </a:lnTo>
                  <a:lnTo>
                    <a:pt x="55079" y="205917"/>
                  </a:lnTo>
                  <a:lnTo>
                    <a:pt x="31284" y="254135"/>
                  </a:lnTo>
                  <a:lnTo>
                    <a:pt x="14038" y="304917"/>
                  </a:lnTo>
                  <a:lnTo>
                    <a:pt x="3543" y="357590"/>
                  </a:lnTo>
                  <a:lnTo>
                    <a:pt x="0" y="411479"/>
                  </a:lnTo>
                  <a:lnTo>
                    <a:pt x="3543" y="465369"/>
                  </a:lnTo>
                  <a:lnTo>
                    <a:pt x="14038" y="518082"/>
                  </a:lnTo>
                  <a:lnTo>
                    <a:pt x="31284" y="568972"/>
                  </a:lnTo>
                  <a:lnTo>
                    <a:pt x="55079" y="617397"/>
                  </a:lnTo>
                  <a:lnTo>
                    <a:pt x="85024" y="662122"/>
                  </a:lnTo>
                  <a:lnTo>
                    <a:pt x="120507" y="702492"/>
                  </a:lnTo>
                  <a:lnTo>
                    <a:pt x="160985" y="737936"/>
                  </a:lnTo>
                  <a:lnTo>
                    <a:pt x="205917" y="767880"/>
                  </a:lnTo>
                  <a:lnTo>
                    <a:pt x="254135" y="791670"/>
                  </a:lnTo>
                  <a:lnTo>
                    <a:pt x="304917" y="808916"/>
                  </a:lnTo>
                  <a:lnTo>
                    <a:pt x="357590" y="819415"/>
                  </a:lnTo>
                  <a:lnTo>
                    <a:pt x="411479" y="822960"/>
                  </a:lnTo>
                  <a:lnTo>
                    <a:pt x="465369" y="819415"/>
                  </a:lnTo>
                  <a:lnTo>
                    <a:pt x="518082" y="808916"/>
                  </a:lnTo>
                  <a:lnTo>
                    <a:pt x="568972" y="791670"/>
                  </a:lnTo>
                  <a:lnTo>
                    <a:pt x="617397" y="767880"/>
                  </a:lnTo>
                  <a:lnTo>
                    <a:pt x="662122" y="737936"/>
                  </a:lnTo>
                  <a:lnTo>
                    <a:pt x="702492" y="702492"/>
                  </a:lnTo>
                  <a:lnTo>
                    <a:pt x="737936" y="662122"/>
                  </a:lnTo>
                  <a:lnTo>
                    <a:pt x="767880" y="617397"/>
                  </a:lnTo>
                  <a:lnTo>
                    <a:pt x="791670" y="568972"/>
                  </a:lnTo>
                  <a:lnTo>
                    <a:pt x="808916" y="518082"/>
                  </a:lnTo>
                  <a:lnTo>
                    <a:pt x="819415" y="465369"/>
                  </a:lnTo>
                  <a:lnTo>
                    <a:pt x="822959" y="411479"/>
                  </a:lnTo>
                  <a:lnTo>
                    <a:pt x="819415" y="357590"/>
                  </a:lnTo>
                  <a:lnTo>
                    <a:pt x="808916" y="304917"/>
                  </a:lnTo>
                  <a:lnTo>
                    <a:pt x="791670" y="254135"/>
                  </a:lnTo>
                  <a:lnTo>
                    <a:pt x="767880" y="205917"/>
                  </a:lnTo>
                  <a:lnTo>
                    <a:pt x="737936" y="160985"/>
                  </a:lnTo>
                  <a:lnTo>
                    <a:pt x="702492" y="120507"/>
                  </a:lnTo>
                  <a:lnTo>
                    <a:pt x="662122" y="85024"/>
                  </a:lnTo>
                  <a:lnTo>
                    <a:pt x="617397" y="55079"/>
                  </a:lnTo>
                  <a:lnTo>
                    <a:pt x="568972" y="31284"/>
                  </a:lnTo>
                  <a:lnTo>
                    <a:pt x="518082" y="14038"/>
                  </a:lnTo>
                  <a:lnTo>
                    <a:pt x="465369" y="3543"/>
                  </a:lnTo>
                  <a:lnTo>
                    <a:pt x="411479" y="0"/>
                  </a:lnTo>
                  <a:close/>
                </a:path>
              </a:pathLst>
            </a:custGeom>
            <a:solidFill>
              <a:srgbClr val="0AB5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 descr="icons/sms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06082" y="2682354"/>
              <a:ext cx="394563" cy="394563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7485024" y="2722587"/>
            <a:ext cx="229298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-50" dirty="0">
                <a:latin typeface="Arial"/>
                <a:cs typeface="Arial"/>
              </a:rPr>
              <a:t>Text-</a:t>
            </a:r>
            <a:r>
              <a:rPr sz="1900" b="1" dirty="0">
                <a:latin typeface="Arial"/>
                <a:cs typeface="Arial"/>
              </a:rPr>
              <a:t>Message</a:t>
            </a:r>
            <a:r>
              <a:rPr sz="1900" b="1" spc="-90" dirty="0">
                <a:latin typeface="Arial"/>
                <a:cs typeface="Arial"/>
              </a:rPr>
              <a:t> </a:t>
            </a:r>
            <a:r>
              <a:rPr sz="1900" b="1" spc="-20" dirty="0">
                <a:latin typeface="Arial"/>
                <a:cs typeface="Arial"/>
              </a:rPr>
              <a:t>Menu</a:t>
            </a:r>
            <a:endParaRPr sz="19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15" name="object 15"/>
          <p:cNvSpPr txBox="1"/>
          <p:nvPr/>
        </p:nvSpPr>
        <p:spPr>
          <a:xfrm>
            <a:off x="6479184" y="4112610"/>
            <a:ext cx="4394835" cy="8267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800"/>
              </a:lnSpc>
              <a:spcBef>
                <a:spcPts val="100"/>
              </a:spcBef>
            </a:pPr>
            <a:r>
              <a:rPr sz="1350" dirty="0">
                <a:solidFill>
                  <a:srgbClr val="494949"/>
                </a:solidFill>
                <a:latin typeface="Calibri"/>
                <a:cs typeface="Calibri"/>
              </a:rPr>
              <a:t>For</a:t>
            </a:r>
            <a:r>
              <a:rPr sz="1350" spc="-4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494949"/>
                </a:solidFill>
                <a:latin typeface="Calibri"/>
                <a:cs typeface="Calibri"/>
              </a:rPr>
              <a:t>any</a:t>
            </a:r>
            <a:r>
              <a:rPr sz="1350" spc="-4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494949"/>
                </a:solidFill>
                <a:latin typeface="Calibri"/>
                <a:cs typeface="Calibri"/>
              </a:rPr>
              <a:t>phone,</a:t>
            </a:r>
            <a:r>
              <a:rPr sz="1350" spc="-4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494949"/>
                </a:solidFill>
                <a:latin typeface="Calibri"/>
                <a:cs typeface="Calibri"/>
              </a:rPr>
              <a:t>on</a:t>
            </a:r>
            <a:r>
              <a:rPr sz="1350" spc="-4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494949"/>
                </a:solidFill>
                <a:latin typeface="Calibri"/>
                <a:cs typeface="Calibri"/>
              </a:rPr>
              <a:t>any</a:t>
            </a:r>
            <a:r>
              <a:rPr sz="1350" spc="-4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494949"/>
                </a:solidFill>
                <a:latin typeface="Calibri"/>
                <a:cs typeface="Calibri"/>
              </a:rPr>
              <a:t>network,</a:t>
            </a:r>
            <a:r>
              <a:rPr sz="1350" spc="-4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494949"/>
                </a:solidFill>
                <a:latin typeface="Calibri"/>
                <a:cs typeface="Calibri"/>
              </a:rPr>
              <a:t>with</a:t>
            </a:r>
            <a:r>
              <a:rPr sz="1350" spc="-5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494949"/>
                </a:solidFill>
                <a:latin typeface="Calibri"/>
                <a:cs typeface="Calibri"/>
              </a:rPr>
              <a:t>no</a:t>
            </a:r>
            <a:r>
              <a:rPr sz="1350" spc="-4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494949"/>
                </a:solidFill>
                <a:latin typeface="Calibri"/>
                <a:cs typeface="Calibri"/>
              </a:rPr>
              <a:t>app</a:t>
            </a:r>
            <a:r>
              <a:rPr sz="1350" spc="-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494949"/>
                </a:solidFill>
                <a:latin typeface="Calibri"/>
                <a:cs typeface="Calibri"/>
              </a:rPr>
              <a:t>install</a:t>
            </a:r>
            <a:r>
              <a:rPr sz="1350" spc="-4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494949"/>
                </a:solidFill>
                <a:latin typeface="Calibri"/>
                <a:cs typeface="Calibri"/>
              </a:rPr>
              <a:t>and</a:t>
            </a:r>
            <a:r>
              <a:rPr sz="1350" spc="-4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494949"/>
                </a:solidFill>
                <a:latin typeface="Calibri"/>
                <a:cs typeface="Calibri"/>
              </a:rPr>
              <a:t>no</a:t>
            </a:r>
            <a:r>
              <a:rPr sz="1350" spc="-4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350" spc="-20" dirty="0">
                <a:solidFill>
                  <a:srgbClr val="494949"/>
                </a:solidFill>
                <a:latin typeface="Calibri"/>
                <a:cs typeface="Calibri"/>
              </a:rPr>
              <a:t>data </a:t>
            </a:r>
            <a:r>
              <a:rPr sz="1350" dirty="0">
                <a:solidFill>
                  <a:srgbClr val="494949"/>
                </a:solidFill>
                <a:latin typeface="Calibri"/>
                <a:cs typeface="Calibri"/>
              </a:rPr>
              <a:t>plan</a:t>
            </a:r>
            <a:r>
              <a:rPr sz="1350" spc="-4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494949"/>
                </a:solidFill>
                <a:latin typeface="Calibri"/>
                <a:cs typeface="Calibri"/>
              </a:rPr>
              <a:t>required</a:t>
            </a:r>
            <a:r>
              <a:rPr sz="1350" spc="-4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494949"/>
                </a:solidFill>
                <a:latin typeface="Calibri"/>
                <a:cs typeface="Calibri"/>
              </a:rPr>
              <a:t>—</a:t>
            </a:r>
            <a:r>
              <a:rPr sz="1350" spc="-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494949"/>
                </a:solidFill>
                <a:latin typeface="Calibri"/>
                <a:cs typeface="Calibri"/>
              </a:rPr>
              <a:t>the</a:t>
            </a:r>
            <a:r>
              <a:rPr sz="1350" spc="-4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494949"/>
                </a:solidFill>
                <a:latin typeface="Calibri"/>
                <a:cs typeface="Calibri"/>
              </a:rPr>
              <a:t>same</a:t>
            </a:r>
            <a:r>
              <a:rPr sz="1350" spc="-4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494949"/>
                </a:solidFill>
                <a:latin typeface="Calibri"/>
                <a:cs typeface="Calibri"/>
              </a:rPr>
              <a:t>predictions</a:t>
            </a:r>
            <a:r>
              <a:rPr sz="1350" spc="-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494949"/>
                </a:solidFill>
                <a:latin typeface="Calibri"/>
                <a:cs typeface="Calibri"/>
              </a:rPr>
              <a:t>and</a:t>
            </a:r>
            <a:r>
              <a:rPr sz="1350" spc="-4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494949"/>
                </a:solidFill>
                <a:latin typeface="Calibri"/>
                <a:cs typeface="Calibri"/>
              </a:rPr>
              <a:t>market recommendation,</a:t>
            </a:r>
            <a:r>
              <a:rPr sz="1350" spc="-4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494949"/>
                </a:solidFill>
                <a:latin typeface="Calibri"/>
                <a:cs typeface="Calibri"/>
              </a:rPr>
              <a:t>one</a:t>
            </a:r>
            <a:r>
              <a:rPr sz="1350" spc="-4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494949"/>
                </a:solidFill>
                <a:latin typeface="Calibri"/>
                <a:cs typeface="Calibri"/>
              </a:rPr>
              <a:t>text</a:t>
            </a:r>
            <a:r>
              <a:rPr sz="1350" spc="-4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494949"/>
                </a:solidFill>
                <a:latin typeface="Calibri"/>
                <a:cs typeface="Calibri"/>
              </a:rPr>
              <a:t>at</a:t>
            </a:r>
            <a:r>
              <a:rPr sz="1350" spc="-4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494949"/>
                </a:solidFill>
                <a:latin typeface="Calibri"/>
                <a:cs typeface="Calibri"/>
              </a:rPr>
              <a:t>a</a:t>
            </a:r>
            <a:r>
              <a:rPr sz="1350" spc="-4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350" spc="-20" dirty="0">
                <a:solidFill>
                  <a:srgbClr val="494949"/>
                </a:solidFill>
                <a:latin typeface="Calibri"/>
                <a:cs typeface="Calibri"/>
              </a:rPr>
              <a:t>time.</a:t>
            </a:r>
            <a:endParaRPr sz="1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-65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dirty="0"/>
              <a:t>Prediction</a:t>
            </a:r>
            <a:r>
              <a:rPr spc="-65" dirty="0"/>
              <a:t> </a:t>
            </a:r>
            <a:r>
              <a:rPr spc="-10" dirty="0"/>
              <a:t>Works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48640" y="1965960"/>
            <a:ext cx="777240" cy="777240"/>
            <a:chOff x="548640" y="1965960"/>
            <a:chExt cx="777240" cy="777240"/>
          </a:xfrm>
        </p:grpSpPr>
        <p:sp>
          <p:nvSpPr>
            <p:cNvPr id="4" name="object 4"/>
            <p:cNvSpPr/>
            <p:nvPr/>
          </p:nvSpPr>
          <p:spPr>
            <a:xfrm>
              <a:off x="548640" y="1965960"/>
              <a:ext cx="777240" cy="777240"/>
            </a:xfrm>
            <a:custGeom>
              <a:avLst/>
              <a:gdLst/>
              <a:ahLst/>
              <a:cxnLst/>
              <a:rect l="l" t="t" r="r" b="b"/>
              <a:pathLst>
                <a:path w="777240" h="777239">
                  <a:moveTo>
                    <a:pt x="388797" y="0"/>
                  </a:moveTo>
                  <a:lnTo>
                    <a:pt x="337868" y="3290"/>
                  </a:lnTo>
                  <a:lnTo>
                    <a:pt x="288088" y="13095"/>
                  </a:lnTo>
                  <a:lnTo>
                    <a:pt x="240063" y="29312"/>
                  </a:lnTo>
                  <a:lnTo>
                    <a:pt x="194398" y="51841"/>
                  </a:lnTo>
                  <a:lnTo>
                    <a:pt x="152030" y="80186"/>
                  </a:lnTo>
                  <a:lnTo>
                    <a:pt x="113849" y="113626"/>
                  </a:lnTo>
                  <a:lnTo>
                    <a:pt x="80391" y="151725"/>
                  </a:lnTo>
                  <a:lnTo>
                    <a:pt x="52196" y="194043"/>
                  </a:lnTo>
                  <a:lnTo>
                    <a:pt x="29612" y="239757"/>
                  </a:lnTo>
                  <a:lnTo>
                    <a:pt x="13273" y="287866"/>
                  </a:lnTo>
                  <a:lnTo>
                    <a:pt x="3346" y="337663"/>
                  </a:lnTo>
                  <a:lnTo>
                    <a:pt x="0" y="388442"/>
                  </a:lnTo>
                  <a:lnTo>
                    <a:pt x="3346" y="439216"/>
                  </a:lnTo>
                  <a:lnTo>
                    <a:pt x="13273" y="489013"/>
                  </a:lnTo>
                  <a:lnTo>
                    <a:pt x="29612" y="537125"/>
                  </a:lnTo>
                  <a:lnTo>
                    <a:pt x="52196" y="582841"/>
                  </a:lnTo>
                  <a:lnTo>
                    <a:pt x="80391" y="625159"/>
                  </a:lnTo>
                  <a:lnTo>
                    <a:pt x="113849" y="663257"/>
                  </a:lnTo>
                  <a:lnTo>
                    <a:pt x="152030" y="696698"/>
                  </a:lnTo>
                  <a:lnTo>
                    <a:pt x="194398" y="725042"/>
                  </a:lnTo>
                  <a:lnTo>
                    <a:pt x="240063" y="747627"/>
                  </a:lnTo>
                  <a:lnTo>
                    <a:pt x="288088" y="763966"/>
                  </a:lnTo>
                  <a:lnTo>
                    <a:pt x="337868" y="773893"/>
                  </a:lnTo>
                  <a:lnTo>
                    <a:pt x="388797" y="777239"/>
                  </a:lnTo>
                  <a:lnTo>
                    <a:pt x="439521" y="773893"/>
                  </a:lnTo>
                  <a:lnTo>
                    <a:pt x="489196" y="763966"/>
                  </a:lnTo>
                  <a:lnTo>
                    <a:pt x="537182" y="747627"/>
                  </a:lnTo>
                  <a:lnTo>
                    <a:pt x="582841" y="725042"/>
                  </a:lnTo>
                  <a:lnTo>
                    <a:pt x="625209" y="696698"/>
                  </a:lnTo>
                  <a:lnTo>
                    <a:pt x="663390" y="663257"/>
                  </a:lnTo>
                  <a:lnTo>
                    <a:pt x="696848" y="625159"/>
                  </a:lnTo>
                  <a:lnTo>
                    <a:pt x="725043" y="582841"/>
                  </a:lnTo>
                  <a:lnTo>
                    <a:pt x="747627" y="537125"/>
                  </a:lnTo>
                  <a:lnTo>
                    <a:pt x="763966" y="489013"/>
                  </a:lnTo>
                  <a:lnTo>
                    <a:pt x="773893" y="439216"/>
                  </a:lnTo>
                  <a:lnTo>
                    <a:pt x="777240" y="388442"/>
                  </a:lnTo>
                  <a:lnTo>
                    <a:pt x="773893" y="337663"/>
                  </a:lnTo>
                  <a:lnTo>
                    <a:pt x="763966" y="287866"/>
                  </a:lnTo>
                  <a:lnTo>
                    <a:pt x="747627" y="239757"/>
                  </a:lnTo>
                  <a:lnTo>
                    <a:pt x="725043" y="194043"/>
                  </a:lnTo>
                  <a:lnTo>
                    <a:pt x="696848" y="151725"/>
                  </a:lnTo>
                  <a:lnTo>
                    <a:pt x="663390" y="113626"/>
                  </a:lnTo>
                  <a:lnTo>
                    <a:pt x="625209" y="80186"/>
                  </a:lnTo>
                  <a:lnTo>
                    <a:pt x="582841" y="51841"/>
                  </a:lnTo>
                  <a:lnTo>
                    <a:pt x="537182" y="29312"/>
                  </a:lnTo>
                  <a:lnTo>
                    <a:pt x="489196" y="13095"/>
                  </a:lnTo>
                  <a:lnTo>
                    <a:pt x="439521" y="3290"/>
                  </a:lnTo>
                  <a:lnTo>
                    <a:pt x="388797" y="0"/>
                  </a:lnTo>
                  <a:close/>
                </a:path>
              </a:pathLst>
            </a:custGeom>
            <a:solidFill>
              <a:srgbClr val="0AB5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 descr="icons/seedling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0595" y="2167559"/>
              <a:ext cx="372605" cy="372605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548640" y="3264484"/>
            <a:ext cx="777240" cy="777240"/>
            <a:chOff x="548640" y="3264484"/>
            <a:chExt cx="777240" cy="777240"/>
          </a:xfrm>
        </p:grpSpPr>
        <p:sp>
          <p:nvSpPr>
            <p:cNvPr id="7" name="object 7"/>
            <p:cNvSpPr/>
            <p:nvPr/>
          </p:nvSpPr>
          <p:spPr>
            <a:xfrm>
              <a:off x="548640" y="3264484"/>
              <a:ext cx="777240" cy="777240"/>
            </a:xfrm>
            <a:custGeom>
              <a:avLst/>
              <a:gdLst/>
              <a:ahLst/>
              <a:cxnLst/>
              <a:rect l="l" t="t" r="r" b="b"/>
              <a:pathLst>
                <a:path w="777240" h="777239">
                  <a:moveTo>
                    <a:pt x="388797" y="0"/>
                  </a:moveTo>
                  <a:lnTo>
                    <a:pt x="337868" y="3290"/>
                  </a:lnTo>
                  <a:lnTo>
                    <a:pt x="288088" y="13095"/>
                  </a:lnTo>
                  <a:lnTo>
                    <a:pt x="240063" y="29312"/>
                  </a:lnTo>
                  <a:lnTo>
                    <a:pt x="194398" y="51841"/>
                  </a:lnTo>
                  <a:lnTo>
                    <a:pt x="152030" y="80180"/>
                  </a:lnTo>
                  <a:lnTo>
                    <a:pt x="113849" y="113620"/>
                  </a:lnTo>
                  <a:lnTo>
                    <a:pt x="80391" y="151718"/>
                  </a:lnTo>
                  <a:lnTo>
                    <a:pt x="52196" y="194030"/>
                  </a:lnTo>
                  <a:lnTo>
                    <a:pt x="29612" y="239746"/>
                  </a:lnTo>
                  <a:lnTo>
                    <a:pt x="13273" y="287858"/>
                  </a:lnTo>
                  <a:lnTo>
                    <a:pt x="3346" y="337655"/>
                  </a:lnTo>
                  <a:lnTo>
                    <a:pt x="0" y="388429"/>
                  </a:lnTo>
                  <a:lnTo>
                    <a:pt x="3346" y="439210"/>
                  </a:lnTo>
                  <a:lnTo>
                    <a:pt x="13273" y="489011"/>
                  </a:lnTo>
                  <a:lnTo>
                    <a:pt x="29612" y="537124"/>
                  </a:lnTo>
                  <a:lnTo>
                    <a:pt x="52196" y="582841"/>
                  </a:lnTo>
                  <a:lnTo>
                    <a:pt x="80391" y="625153"/>
                  </a:lnTo>
                  <a:lnTo>
                    <a:pt x="113849" y="663251"/>
                  </a:lnTo>
                  <a:lnTo>
                    <a:pt x="152030" y="696691"/>
                  </a:lnTo>
                  <a:lnTo>
                    <a:pt x="194398" y="725030"/>
                  </a:lnTo>
                  <a:lnTo>
                    <a:pt x="240063" y="747616"/>
                  </a:lnTo>
                  <a:lnTo>
                    <a:pt x="288088" y="763960"/>
                  </a:lnTo>
                  <a:lnTo>
                    <a:pt x="337868" y="773891"/>
                  </a:lnTo>
                  <a:lnTo>
                    <a:pt x="388797" y="777240"/>
                  </a:lnTo>
                  <a:lnTo>
                    <a:pt x="439521" y="773891"/>
                  </a:lnTo>
                  <a:lnTo>
                    <a:pt x="489196" y="763960"/>
                  </a:lnTo>
                  <a:lnTo>
                    <a:pt x="537182" y="747616"/>
                  </a:lnTo>
                  <a:lnTo>
                    <a:pt x="582841" y="725030"/>
                  </a:lnTo>
                  <a:lnTo>
                    <a:pt x="625209" y="696691"/>
                  </a:lnTo>
                  <a:lnTo>
                    <a:pt x="663390" y="663251"/>
                  </a:lnTo>
                  <a:lnTo>
                    <a:pt x="696848" y="625153"/>
                  </a:lnTo>
                  <a:lnTo>
                    <a:pt x="725043" y="582841"/>
                  </a:lnTo>
                  <a:lnTo>
                    <a:pt x="747627" y="537124"/>
                  </a:lnTo>
                  <a:lnTo>
                    <a:pt x="763966" y="489011"/>
                  </a:lnTo>
                  <a:lnTo>
                    <a:pt x="773893" y="439210"/>
                  </a:lnTo>
                  <a:lnTo>
                    <a:pt x="777240" y="388429"/>
                  </a:lnTo>
                  <a:lnTo>
                    <a:pt x="773893" y="337655"/>
                  </a:lnTo>
                  <a:lnTo>
                    <a:pt x="763966" y="287858"/>
                  </a:lnTo>
                  <a:lnTo>
                    <a:pt x="747627" y="239746"/>
                  </a:lnTo>
                  <a:lnTo>
                    <a:pt x="725043" y="194030"/>
                  </a:lnTo>
                  <a:lnTo>
                    <a:pt x="696848" y="151718"/>
                  </a:lnTo>
                  <a:lnTo>
                    <a:pt x="663390" y="113620"/>
                  </a:lnTo>
                  <a:lnTo>
                    <a:pt x="625209" y="80180"/>
                  </a:lnTo>
                  <a:lnTo>
                    <a:pt x="582841" y="51841"/>
                  </a:lnTo>
                  <a:lnTo>
                    <a:pt x="537182" y="29312"/>
                  </a:lnTo>
                  <a:lnTo>
                    <a:pt x="489196" y="13095"/>
                  </a:lnTo>
                  <a:lnTo>
                    <a:pt x="439521" y="3290"/>
                  </a:lnTo>
                  <a:lnTo>
                    <a:pt x="388797" y="0"/>
                  </a:lnTo>
                  <a:close/>
                </a:path>
              </a:pathLst>
            </a:custGeom>
            <a:solidFill>
              <a:srgbClr val="0AB5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 descr="icons/truck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0595" y="3466071"/>
              <a:ext cx="372605" cy="372605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548640" y="4562995"/>
            <a:ext cx="777240" cy="777240"/>
            <a:chOff x="548640" y="4562995"/>
            <a:chExt cx="777240" cy="777240"/>
          </a:xfrm>
        </p:grpSpPr>
        <p:sp>
          <p:nvSpPr>
            <p:cNvPr id="10" name="object 10"/>
            <p:cNvSpPr/>
            <p:nvPr/>
          </p:nvSpPr>
          <p:spPr>
            <a:xfrm>
              <a:off x="548640" y="4562995"/>
              <a:ext cx="777240" cy="777240"/>
            </a:xfrm>
            <a:custGeom>
              <a:avLst/>
              <a:gdLst/>
              <a:ahLst/>
              <a:cxnLst/>
              <a:rect l="l" t="t" r="r" b="b"/>
              <a:pathLst>
                <a:path w="777240" h="777239">
                  <a:moveTo>
                    <a:pt x="388797" y="0"/>
                  </a:moveTo>
                  <a:lnTo>
                    <a:pt x="337868" y="3290"/>
                  </a:lnTo>
                  <a:lnTo>
                    <a:pt x="288088" y="13095"/>
                  </a:lnTo>
                  <a:lnTo>
                    <a:pt x="240063" y="29312"/>
                  </a:lnTo>
                  <a:lnTo>
                    <a:pt x="194398" y="51841"/>
                  </a:lnTo>
                  <a:lnTo>
                    <a:pt x="152030" y="80186"/>
                  </a:lnTo>
                  <a:lnTo>
                    <a:pt x="113849" y="113626"/>
                  </a:lnTo>
                  <a:lnTo>
                    <a:pt x="80391" y="151725"/>
                  </a:lnTo>
                  <a:lnTo>
                    <a:pt x="52196" y="194043"/>
                  </a:lnTo>
                  <a:lnTo>
                    <a:pt x="29612" y="239759"/>
                  </a:lnTo>
                  <a:lnTo>
                    <a:pt x="13273" y="287870"/>
                  </a:lnTo>
                  <a:lnTo>
                    <a:pt x="3346" y="337668"/>
                  </a:lnTo>
                  <a:lnTo>
                    <a:pt x="0" y="388442"/>
                  </a:lnTo>
                  <a:lnTo>
                    <a:pt x="3346" y="439221"/>
                  </a:lnTo>
                  <a:lnTo>
                    <a:pt x="13273" y="489018"/>
                  </a:lnTo>
                  <a:lnTo>
                    <a:pt x="29612" y="537126"/>
                  </a:lnTo>
                  <a:lnTo>
                    <a:pt x="52196" y="582841"/>
                  </a:lnTo>
                  <a:lnTo>
                    <a:pt x="80391" y="625159"/>
                  </a:lnTo>
                  <a:lnTo>
                    <a:pt x="113849" y="663257"/>
                  </a:lnTo>
                  <a:lnTo>
                    <a:pt x="152030" y="696698"/>
                  </a:lnTo>
                  <a:lnTo>
                    <a:pt x="194398" y="725043"/>
                  </a:lnTo>
                  <a:lnTo>
                    <a:pt x="240063" y="747627"/>
                  </a:lnTo>
                  <a:lnTo>
                    <a:pt x="288088" y="763966"/>
                  </a:lnTo>
                  <a:lnTo>
                    <a:pt x="337868" y="773893"/>
                  </a:lnTo>
                  <a:lnTo>
                    <a:pt x="388797" y="777240"/>
                  </a:lnTo>
                  <a:lnTo>
                    <a:pt x="439521" y="773893"/>
                  </a:lnTo>
                  <a:lnTo>
                    <a:pt x="489196" y="763966"/>
                  </a:lnTo>
                  <a:lnTo>
                    <a:pt x="537182" y="747627"/>
                  </a:lnTo>
                  <a:lnTo>
                    <a:pt x="582841" y="725043"/>
                  </a:lnTo>
                  <a:lnTo>
                    <a:pt x="625209" y="696698"/>
                  </a:lnTo>
                  <a:lnTo>
                    <a:pt x="663390" y="663257"/>
                  </a:lnTo>
                  <a:lnTo>
                    <a:pt x="696848" y="625159"/>
                  </a:lnTo>
                  <a:lnTo>
                    <a:pt x="725043" y="582841"/>
                  </a:lnTo>
                  <a:lnTo>
                    <a:pt x="747627" y="537126"/>
                  </a:lnTo>
                  <a:lnTo>
                    <a:pt x="763966" y="489018"/>
                  </a:lnTo>
                  <a:lnTo>
                    <a:pt x="773893" y="439221"/>
                  </a:lnTo>
                  <a:lnTo>
                    <a:pt x="777240" y="388442"/>
                  </a:lnTo>
                  <a:lnTo>
                    <a:pt x="773893" y="337668"/>
                  </a:lnTo>
                  <a:lnTo>
                    <a:pt x="763966" y="287870"/>
                  </a:lnTo>
                  <a:lnTo>
                    <a:pt x="747627" y="239759"/>
                  </a:lnTo>
                  <a:lnTo>
                    <a:pt x="725043" y="194043"/>
                  </a:lnTo>
                  <a:lnTo>
                    <a:pt x="696848" y="151725"/>
                  </a:lnTo>
                  <a:lnTo>
                    <a:pt x="663390" y="113626"/>
                  </a:lnTo>
                  <a:lnTo>
                    <a:pt x="625209" y="80186"/>
                  </a:lnTo>
                  <a:lnTo>
                    <a:pt x="582841" y="51841"/>
                  </a:lnTo>
                  <a:lnTo>
                    <a:pt x="537182" y="29312"/>
                  </a:lnTo>
                  <a:lnTo>
                    <a:pt x="489196" y="13095"/>
                  </a:lnTo>
                  <a:lnTo>
                    <a:pt x="439521" y="3290"/>
                  </a:lnTo>
                  <a:lnTo>
                    <a:pt x="388797" y="0"/>
                  </a:lnTo>
                  <a:close/>
                </a:path>
              </a:pathLst>
            </a:custGeom>
            <a:solidFill>
              <a:srgbClr val="0AB5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 descr="icons/money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0595" y="4764595"/>
              <a:ext cx="372605" cy="372605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Two</a:t>
            </a:r>
            <a:r>
              <a:rPr spc="-60" dirty="0"/>
              <a:t> </a:t>
            </a:r>
            <a:r>
              <a:rPr dirty="0"/>
              <a:t>signals,</a:t>
            </a:r>
            <a:r>
              <a:rPr spc="-55" dirty="0"/>
              <a:t> </a:t>
            </a:r>
            <a:r>
              <a:rPr dirty="0"/>
              <a:t>combined</a:t>
            </a:r>
            <a:r>
              <a:rPr spc="-55" dirty="0"/>
              <a:t> </a:t>
            </a:r>
            <a:r>
              <a:rPr dirty="0"/>
              <a:t>into</a:t>
            </a:r>
            <a:r>
              <a:rPr spc="-60" dirty="0"/>
              <a:t> </a:t>
            </a:r>
            <a:r>
              <a:rPr dirty="0"/>
              <a:t>one</a:t>
            </a:r>
            <a:r>
              <a:rPr spc="-60" dirty="0"/>
              <a:t> </a:t>
            </a:r>
            <a:r>
              <a:rPr spc="-10" dirty="0"/>
              <a:t>answer.</a:t>
            </a:r>
          </a:p>
          <a:p>
            <a:pPr marL="24765">
              <a:lnSpc>
                <a:spcPct val="100000"/>
              </a:lnSpc>
            </a:pPr>
            <a:endParaRPr spc="-10" dirty="0"/>
          </a:p>
          <a:p>
            <a:pPr marL="24765">
              <a:lnSpc>
                <a:spcPct val="100000"/>
              </a:lnSpc>
              <a:spcBef>
                <a:spcPts val="20"/>
              </a:spcBef>
            </a:pPr>
            <a:endParaRPr spc="-10" dirty="0"/>
          </a:p>
          <a:p>
            <a:pPr marL="1089025">
              <a:lnSpc>
                <a:spcPct val="100000"/>
              </a:lnSpc>
            </a:pPr>
            <a:r>
              <a:rPr sz="1700" b="1" dirty="0">
                <a:solidFill>
                  <a:srgbClr val="000000"/>
                </a:solidFill>
                <a:latin typeface="Arial"/>
                <a:cs typeface="Arial"/>
              </a:rPr>
              <a:t>Storage</a:t>
            </a:r>
            <a:r>
              <a:rPr sz="1700" b="1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00000"/>
                </a:solidFill>
                <a:latin typeface="Arial"/>
                <a:cs typeface="Arial"/>
              </a:rPr>
              <a:t>&amp;</a:t>
            </a:r>
            <a:r>
              <a:rPr sz="1700" b="1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00000"/>
                </a:solidFill>
                <a:latin typeface="Arial"/>
                <a:cs typeface="Arial"/>
              </a:rPr>
              <a:t>handling</a:t>
            </a:r>
            <a:r>
              <a:rPr sz="1700" b="1" spc="-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700" b="1" spc="-20" dirty="0">
                <a:solidFill>
                  <a:srgbClr val="000000"/>
                </a:solidFill>
                <a:latin typeface="Arial"/>
                <a:cs typeface="Arial"/>
              </a:rPr>
              <a:t>risk</a:t>
            </a:r>
            <a:endParaRPr sz="1700">
              <a:latin typeface="Arial"/>
              <a:cs typeface="Arial"/>
            </a:endParaRPr>
          </a:p>
          <a:p>
            <a:pPr marL="24765">
              <a:lnSpc>
                <a:spcPct val="100000"/>
              </a:lnSpc>
              <a:spcBef>
                <a:spcPts val="720"/>
              </a:spcBef>
            </a:pPr>
            <a:endParaRPr sz="1700">
              <a:latin typeface="Arial"/>
              <a:cs typeface="Arial"/>
            </a:endParaRPr>
          </a:p>
          <a:p>
            <a:pPr marL="1089025">
              <a:lnSpc>
                <a:spcPct val="100000"/>
              </a:lnSpc>
              <a:spcBef>
                <a:spcPts val="5"/>
              </a:spcBef>
            </a:pPr>
            <a:r>
              <a:rPr sz="1300" dirty="0"/>
              <a:t>How</a:t>
            </a:r>
            <a:r>
              <a:rPr sz="1300" spc="-25" dirty="0"/>
              <a:t> </a:t>
            </a:r>
            <a:r>
              <a:rPr sz="1300" dirty="0"/>
              <a:t>the</a:t>
            </a:r>
            <a:r>
              <a:rPr sz="1300" spc="-30" dirty="0"/>
              <a:t> </a:t>
            </a:r>
            <a:r>
              <a:rPr sz="1300" spc="-10" dirty="0"/>
              <a:t>batch</a:t>
            </a:r>
            <a:r>
              <a:rPr sz="1300" spc="-30" dirty="0"/>
              <a:t> </a:t>
            </a:r>
            <a:r>
              <a:rPr sz="1300" dirty="0"/>
              <a:t>has</a:t>
            </a:r>
            <a:r>
              <a:rPr sz="1300" spc="-35" dirty="0"/>
              <a:t> </a:t>
            </a:r>
            <a:r>
              <a:rPr sz="1300" dirty="0"/>
              <a:t>been</a:t>
            </a:r>
            <a:r>
              <a:rPr sz="1300" spc="-35" dirty="0"/>
              <a:t> </a:t>
            </a:r>
            <a:r>
              <a:rPr sz="1300" spc="-10" dirty="0"/>
              <a:t>stored</a:t>
            </a:r>
            <a:r>
              <a:rPr sz="1300" spc="-30" dirty="0"/>
              <a:t> </a:t>
            </a:r>
            <a:r>
              <a:rPr sz="1300" dirty="0"/>
              <a:t>and</a:t>
            </a:r>
            <a:r>
              <a:rPr sz="1300" spc="-20" dirty="0"/>
              <a:t> </a:t>
            </a:r>
            <a:r>
              <a:rPr sz="1300" spc="-10" dirty="0"/>
              <a:t>handled</a:t>
            </a:r>
            <a:r>
              <a:rPr sz="1300" spc="-30" dirty="0"/>
              <a:t> </a:t>
            </a:r>
            <a:r>
              <a:rPr sz="1300" dirty="0"/>
              <a:t>since</a:t>
            </a:r>
            <a:r>
              <a:rPr sz="1300" spc="-35" dirty="0"/>
              <a:t> </a:t>
            </a:r>
            <a:r>
              <a:rPr sz="1300" spc="-10" dirty="0"/>
              <a:t>harvest</a:t>
            </a:r>
            <a:r>
              <a:rPr sz="1300" spc="-20" dirty="0"/>
              <a:t> </a:t>
            </a:r>
            <a:r>
              <a:rPr sz="1300" dirty="0"/>
              <a:t>—</a:t>
            </a:r>
            <a:r>
              <a:rPr sz="1300" spc="-30" dirty="0"/>
              <a:t> </a:t>
            </a:r>
            <a:r>
              <a:rPr sz="1300" spc="-20" dirty="0"/>
              <a:t>temperature,</a:t>
            </a:r>
            <a:r>
              <a:rPr sz="1300" spc="-30" dirty="0"/>
              <a:t> </a:t>
            </a:r>
            <a:r>
              <a:rPr sz="1300" dirty="0"/>
              <a:t>time</a:t>
            </a:r>
            <a:r>
              <a:rPr sz="1300" spc="-30" dirty="0"/>
              <a:t> </a:t>
            </a:r>
            <a:r>
              <a:rPr sz="1300" spc="-10" dirty="0"/>
              <a:t>elapsed,</a:t>
            </a:r>
            <a:r>
              <a:rPr sz="1300" spc="-35" dirty="0"/>
              <a:t> </a:t>
            </a:r>
            <a:r>
              <a:rPr sz="1300" dirty="0"/>
              <a:t>and</a:t>
            </a:r>
            <a:r>
              <a:rPr sz="1300" spc="-30" dirty="0"/>
              <a:t> </a:t>
            </a:r>
            <a:r>
              <a:rPr sz="1300" dirty="0"/>
              <a:t>how</a:t>
            </a:r>
            <a:r>
              <a:rPr sz="1300" spc="-20" dirty="0"/>
              <a:t> </a:t>
            </a:r>
            <a:r>
              <a:rPr sz="1300" spc="-10" dirty="0"/>
              <a:t>fragile</a:t>
            </a:r>
            <a:r>
              <a:rPr sz="1300" spc="-30" dirty="0"/>
              <a:t> </a:t>
            </a:r>
            <a:r>
              <a:rPr sz="1300" dirty="0"/>
              <a:t>that</a:t>
            </a:r>
            <a:r>
              <a:rPr sz="1300" spc="-20" dirty="0"/>
              <a:t> </a:t>
            </a:r>
            <a:r>
              <a:rPr sz="1300" dirty="0"/>
              <a:t>crop</a:t>
            </a:r>
            <a:r>
              <a:rPr sz="1300" spc="-30" dirty="0"/>
              <a:t> </a:t>
            </a:r>
            <a:r>
              <a:rPr sz="1300" spc="-10" dirty="0"/>
              <a:t>typically</a:t>
            </a:r>
            <a:r>
              <a:rPr sz="1300" spc="-25" dirty="0"/>
              <a:t> is.</a:t>
            </a:r>
            <a:endParaRPr sz="1300"/>
          </a:p>
          <a:p>
            <a:pPr marL="24765">
              <a:lnSpc>
                <a:spcPct val="100000"/>
              </a:lnSpc>
            </a:pPr>
            <a:endParaRPr sz="1300"/>
          </a:p>
          <a:p>
            <a:pPr marL="24765">
              <a:lnSpc>
                <a:spcPct val="100000"/>
              </a:lnSpc>
              <a:spcBef>
                <a:spcPts val="770"/>
              </a:spcBef>
            </a:pPr>
            <a:endParaRPr sz="1300"/>
          </a:p>
          <a:p>
            <a:pPr marL="1089025">
              <a:lnSpc>
                <a:spcPct val="100000"/>
              </a:lnSpc>
            </a:pPr>
            <a:r>
              <a:rPr sz="1700" b="1" spc="-10" dirty="0">
                <a:solidFill>
                  <a:srgbClr val="000000"/>
                </a:solidFill>
                <a:latin typeface="Arial"/>
                <a:cs typeface="Arial"/>
              </a:rPr>
              <a:t>Transit</a:t>
            </a:r>
            <a:r>
              <a:rPr sz="1700" b="1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700" b="1" spc="-20" dirty="0">
                <a:solidFill>
                  <a:srgbClr val="000000"/>
                </a:solidFill>
                <a:latin typeface="Arial"/>
                <a:cs typeface="Arial"/>
              </a:rPr>
              <a:t>risk</a:t>
            </a:r>
            <a:endParaRPr sz="1700">
              <a:latin typeface="Arial"/>
              <a:cs typeface="Arial"/>
            </a:endParaRPr>
          </a:p>
          <a:p>
            <a:pPr marL="24765">
              <a:lnSpc>
                <a:spcPct val="100000"/>
              </a:lnSpc>
              <a:spcBef>
                <a:spcPts val="725"/>
              </a:spcBef>
            </a:pPr>
            <a:endParaRPr sz="1700">
              <a:latin typeface="Arial"/>
              <a:cs typeface="Arial"/>
            </a:endParaRPr>
          </a:p>
          <a:p>
            <a:pPr marL="1089025">
              <a:lnSpc>
                <a:spcPct val="100000"/>
              </a:lnSpc>
            </a:pPr>
            <a:r>
              <a:rPr sz="1300" dirty="0"/>
              <a:t>How</a:t>
            </a:r>
            <a:r>
              <a:rPr sz="1300" spc="-30" dirty="0"/>
              <a:t> </a:t>
            </a:r>
            <a:r>
              <a:rPr sz="1300" dirty="0"/>
              <a:t>the</a:t>
            </a:r>
            <a:r>
              <a:rPr sz="1300" spc="-35" dirty="0"/>
              <a:t> </a:t>
            </a:r>
            <a:r>
              <a:rPr sz="1300" dirty="0"/>
              <a:t>trip</a:t>
            </a:r>
            <a:r>
              <a:rPr sz="1300" spc="-35" dirty="0"/>
              <a:t> </a:t>
            </a:r>
            <a:r>
              <a:rPr sz="1300" dirty="0"/>
              <a:t>to</a:t>
            </a:r>
            <a:r>
              <a:rPr sz="1300" spc="-40" dirty="0"/>
              <a:t> </a:t>
            </a:r>
            <a:r>
              <a:rPr sz="1300" dirty="0"/>
              <a:t>a</a:t>
            </a:r>
            <a:r>
              <a:rPr sz="1300" spc="-35" dirty="0"/>
              <a:t> </a:t>
            </a:r>
            <a:r>
              <a:rPr sz="1300" dirty="0"/>
              <a:t>given</a:t>
            </a:r>
            <a:r>
              <a:rPr sz="1300" spc="-35" dirty="0"/>
              <a:t> </a:t>
            </a:r>
            <a:r>
              <a:rPr sz="1300" spc="-10" dirty="0"/>
              <a:t>market</a:t>
            </a:r>
            <a:r>
              <a:rPr sz="1300" spc="-30" dirty="0"/>
              <a:t> </a:t>
            </a:r>
            <a:r>
              <a:rPr sz="1300" dirty="0"/>
              <a:t>—</a:t>
            </a:r>
            <a:r>
              <a:rPr sz="1300" spc="-35" dirty="0"/>
              <a:t> </a:t>
            </a:r>
            <a:r>
              <a:rPr sz="1300" spc="-10" dirty="0"/>
              <a:t>distance,</a:t>
            </a:r>
            <a:r>
              <a:rPr sz="1300" spc="-20" dirty="0"/>
              <a:t> </a:t>
            </a:r>
            <a:r>
              <a:rPr sz="1300" dirty="0"/>
              <a:t>road</a:t>
            </a:r>
            <a:r>
              <a:rPr sz="1300" spc="-35" dirty="0"/>
              <a:t> </a:t>
            </a:r>
            <a:r>
              <a:rPr sz="1300" spc="-10" dirty="0"/>
              <a:t>conditions,</a:t>
            </a:r>
            <a:r>
              <a:rPr sz="1300" spc="-25" dirty="0"/>
              <a:t> </a:t>
            </a:r>
            <a:r>
              <a:rPr sz="1300" spc="-10" dirty="0"/>
              <a:t>expected</a:t>
            </a:r>
            <a:r>
              <a:rPr sz="1300" spc="-35" dirty="0"/>
              <a:t> </a:t>
            </a:r>
            <a:r>
              <a:rPr sz="1300" spc="-10" dirty="0"/>
              <a:t>duration</a:t>
            </a:r>
            <a:r>
              <a:rPr sz="1300" spc="-25" dirty="0"/>
              <a:t> </a:t>
            </a:r>
            <a:r>
              <a:rPr sz="1300" dirty="0"/>
              <a:t>—</a:t>
            </a:r>
            <a:r>
              <a:rPr sz="1300" spc="-35" dirty="0"/>
              <a:t> </a:t>
            </a:r>
            <a:r>
              <a:rPr sz="1300" dirty="0"/>
              <a:t>is</a:t>
            </a:r>
            <a:r>
              <a:rPr sz="1300" spc="-40" dirty="0"/>
              <a:t> </a:t>
            </a:r>
            <a:r>
              <a:rPr sz="1300" spc="-10" dirty="0"/>
              <a:t>likely</a:t>
            </a:r>
            <a:r>
              <a:rPr sz="1300" spc="-35" dirty="0"/>
              <a:t> </a:t>
            </a:r>
            <a:r>
              <a:rPr sz="1300" dirty="0"/>
              <a:t>to</a:t>
            </a:r>
            <a:r>
              <a:rPr sz="1300" spc="-30" dirty="0"/>
              <a:t> </a:t>
            </a:r>
            <a:r>
              <a:rPr sz="1300" spc="-20" dirty="0"/>
              <a:t>affect</a:t>
            </a:r>
            <a:r>
              <a:rPr sz="1300" spc="-40" dirty="0"/>
              <a:t> </a:t>
            </a:r>
            <a:r>
              <a:rPr sz="1300" dirty="0"/>
              <a:t>that</a:t>
            </a:r>
            <a:r>
              <a:rPr sz="1300" spc="-35" dirty="0"/>
              <a:t> </a:t>
            </a:r>
            <a:r>
              <a:rPr sz="1300" dirty="0"/>
              <a:t>same</a:t>
            </a:r>
            <a:r>
              <a:rPr sz="1300" spc="-30" dirty="0"/>
              <a:t> </a:t>
            </a:r>
            <a:r>
              <a:rPr sz="1300" spc="-10" dirty="0"/>
              <a:t>batch.</a:t>
            </a:r>
            <a:endParaRPr sz="1300"/>
          </a:p>
          <a:p>
            <a:pPr marL="24765">
              <a:lnSpc>
                <a:spcPct val="100000"/>
              </a:lnSpc>
            </a:pPr>
            <a:endParaRPr sz="1300"/>
          </a:p>
          <a:p>
            <a:pPr marL="24765">
              <a:lnSpc>
                <a:spcPct val="100000"/>
              </a:lnSpc>
              <a:spcBef>
                <a:spcPts val="770"/>
              </a:spcBef>
            </a:pPr>
            <a:endParaRPr sz="1300"/>
          </a:p>
          <a:p>
            <a:pPr marL="1089025">
              <a:lnSpc>
                <a:spcPct val="100000"/>
              </a:lnSpc>
            </a:pPr>
            <a:r>
              <a:rPr sz="1700" b="1" dirty="0">
                <a:solidFill>
                  <a:srgbClr val="000000"/>
                </a:solidFill>
                <a:latin typeface="Arial"/>
                <a:cs typeface="Arial"/>
              </a:rPr>
              <a:t>Combined</a:t>
            </a:r>
            <a:r>
              <a:rPr sz="1700" b="1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00000"/>
                </a:solidFill>
                <a:latin typeface="Arial"/>
                <a:cs typeface="Arial"/>
              </a:rPr>
              <a:t>into:</a:t>
            </a:r>
            <a:r>
              <a:rPr sz="1700" b="1" spc="-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00000"/>
                </a:solidFill>
                <a:latin typeface="Arial"/>
                <a:cs typeface="Arial"/>
              </a:rPr>
              <a:t>what's</a:t>
            </a:r>
            <a:r>
              <a:rPr sz="1700" b="1" spc="-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00000"/>
                </a:solidFill>
                <a:latin typeface="Arial"/>
                <a:cs typeface="Arial"/>
              </a:rPr>
              <a:t>it</a:t>
            </a:r>
            <a:r>
              <a:rPr sz="1700" b="1" spc="-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00000"/>
                </a:solidFill>
                <a:latin typeface="Arial"/>
                <a:cs typeface="Arial"/>
              </a:rPr>
              <a:t>worth,</a:t>
            </a:r>
            <a:r>
              <a:rPr sz="1700" b="1" spc="-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000000"/>
                </a:solidFill>
                <a:latin typeface="Arial"/>
                <a:cs typeface="Arial"/>
              </a:rPr>
              <a:t>where?</a:t>
            </a:r>
            <a:endParaRPr sz="1700">
              <a:latin typeface="Arial"/>
              <a:cs typeface="Arial"/>
            </a:endParaRPr>
          </a:p>
          <a:p>
            <a:pPr marL="1089025" marR="5080">
              <a:lnSpc>
                <a:spcPct val="120100"/>
              </a:lnSpc>
              <a:spcBef>
                <a:spcPts val="1425"/>
              </a:spcBef>
            </a:pPr>
            <a:r>
              <a:rPr sz="1300" dirty="0"/>
              <a:t>The</a:t>
            </a:r>
            <a:r>
              <a:rPr sz="1300" spc="-45" dirty="0"/>
              <a:t> </a:t>
            </a:r>
            <a:r>
              <a:rPr sz="1300" dirty="0"/>
              <a:t>two</a:t>
            </a:r>
            <a:r>
              <a:rPr sz="1300" spc="-40" dirty="0"/>
              <a:t> </a:t>
            </a:r>
            <a:r>
              <a:rPr sz="1300" dirty="0"/>
              <a:t>risks</a:t>
            </a:r>
            <a:r>
              <a:rPr sz="1300" spc="-50" dirty="0"/>
              <a:t> </a:t>
            </a:r>
            <a:r>
              <a:rPr sz="1300" dirty="0"/>
              <a:t>combine</a:t>
            </a:r>
            <a:r>
              <a:rPr sz="1300" spc="-35" dirty="0"/>
              <a:t> </a:t>
            </a:r>
            <a:r>
              <a:rPr sz="1300" dirty="0"/>
              <a:t>into</a:t>
            </a:r>
            <a:r>
              <a:rPr sz="1300" spc="-40" dirty="0"/>
              <a:t> </a:t>
            </a:r>
            <a:r>
              <a:rPr sz="1300" dirty="0"/>
              <a:t>one</a:t>
            </a:r>
            <a:r>
              <a:rPr sz="1300" spc="-50" dirty="0"/>
              <a:t> </a:t>
            </a:r>
            <a:r>
              <a:rPr sz="1300" spc="-10" dirty="0"/>
              <a:t>spoilage</a:t>
            </a:r>
            <a:r>
              <a:rPr sz="1300" spc="-45" dirty="0"/>
              <a:t> </a:t>
            </a:r>
            <a:r>
              <a:rPr sz="1300" spc="-10" dirty="0"/>
              <a:t>estimate</a:t>
            </a:r>
            <a:r>
              <a:rPr sz="1300" spc="-45" dirty="0"/>
              <a:t> </a:t>
            </a:r>
            <a:r>
              <a:rPr sz="1300" dirty="0"/>
              <a:t>per</a:t>
            </a:r>
            <a:r>
              <a:rPr sz="1300" spc="-40" dirty="0"/>
              <a:t> </a:t>
            </a:r>
            <a:r>
              <a:rPr sz="1300" spc="-10" dirty="0"/>
              <a:t>market,</a:t>
            </a:r>
            <a:r>
              <a:rPr sz="1300" spc="-50" dirty="0"/>
              <a:t> </a:t>
            </a:r>
            <a:r>
              <a:rPr sz="1300" spc="-10" dirty="0"/>
              <a:t>ranked</a:t>
            </a:r>
            <a:r>
              <a:rPr sz="1300" spc="-45" dirty="0"/>
              <a:t> </a:t>
            </a:r>
            <a:r>
              <a:rPr sz="1300" dirty="0"/>
              <a:t>by</a:t>
            </a:r>
            <a:r>
              <a:rPr sz="1300" spc="-50" dirty="0"/>
              <a:t> </a:t>
            </a:r>
            <a:r>
              <a:rPr sz="1300" dirty="0"/>
              <a:t>the</a:t>
            </a:r>
            <a:r>
              <a:rPr sz="1300" spc="-45" dirty="0"/>
              <a:t> </a:t>
            </a:r>
            <a:r>
              <a:rPr sz="1300" dirty="0"/>
              <a:t>money</a:t>
            </a:r>
            <a:r>
              <a:rPr sz="1300" spc="-40" dirty="0"/>
              <a:t> </a:t>
            </a:r>
            <a:r>
              <a:rPr sz="1300" dirty="0"/>
              <a:t>actually</a:t>
            </a:r>
            <a:r>
              <a:rPr sz="1300" spc="-35" dirty="0"/>
              <a:t> </a:t>
            </a:r>
            <a:r>
              <a:rPr sz="1300" spc="-10" dirty="0"/>
              <a:t>retained</a:t>
            </a:r>
            <a:r>
              <a:rPr sz="1300" spc="-50" dirty="0"/>
              <a:t> </a:t>
            </a:r>
            <a:r>
              <a:rPr sz="1300" spc="-10" dirty="0"/>
              <a:t>after</a:t>
            </a:r>
            <a:r>
              <a:rPr sz="1300" spc="-45" dirty="0"/>
              <a:t> </a:t>
            </a:r>
            <a:r>
              <a:rPr sz="1300" dirty="0"/>
              <a:t>loss</a:t>
            </a:r>
            <a:r>
              <a:rPr sz="1300" spc="-40" dirty="0"/>
              <a:t> </a:t>
            </a:r>
            <a:r>
              <a:rPr sz="1300" dirty="0"/>
              <a:t>—</a:t>
            </a:r>
            <a:r>
              <a:rPr sz="1300" spc="-45" dirty="0"/>
              <a:t> </a:t>
            </a:r>
            <a:r>
              <a:rPr sz="1300" dirty="0"/>
              <a:t>not</a:t>
            </a:r>
            <a:r>
              <a:rPr sz="1300" spc="-55" dirty="0"/>
              <a:t> </a:t>
            </a:r>
            <a:r>
              <a:rPr sz="1300" dirty="0"/>
              <a:t>just</a:t>
            </a:r>
            <a:r>
              <a:rPr sz="1300" spc="-40" dirty="0"/>
              <a:t> </a:t>
            </a:r>
            <a:r>
              <a:rPr sz="1300" dirty="0"/>
              <a:t>the</a:t>
            </a:r>
            <a:r>
              <a:rPr sz="1300" spc="-45" dirty="0"/>
              <a:t> </a:t>
            </a:r>
            <a:r>
              <a:rPr sz="1300" spc="-10" dirty="0"/>
              <a:t>closest option.</a:t>
            </a:r>
            <a:endParaRPr sz="130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5584" y="642149"/>
            <a:ext cx="318643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dirty="0"/>
              <a:t>Business</a:t>
            </a:r>
            <a:r>
              <a:rPr sz="3400" spc="-114" dirty="0"/>
              <a:t> </a:t>
            </a:r>
            <a:r>
              <a:rPr sz="3400" spc="-20" dirty="0"/>
              <a:t>Value</a:t>
            </a:r>
            <a:endParaRPr sz="3400"/>
          </a:p>
        </p:txBody>
      </p:sp>
      <p:pic>
        <p:nvPicPr>
          <p:cNvPr id="3" name="object 3" descr="assets/moneybag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2576" y="1945321"/>
            <a:ext cx="3083228" cy="326603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23004" y="2066035"/>
            <a:ext cx="146151" cy="14616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30344" y="2158746"/>
            <a:ext cx="620522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900"/>
              </a:lnSpc>
              <a:spcBef>
                <a:spcPts val="100"/>
              </a:spcBef>
            </a:pPr>
            <a:r>
              <a:rPr sz="1500" b="1" spc="-10" dirty="0">
                <a:latin typeface="Calibri"/>
                <a:cs typeface="Calibri"/>
              </a:rPr>
              <a:t>Monthly</a:t>
            </a:r>
            <a:r>
              <a:rPr sz="1500" b="1" spc="-20" dirty="0">
                <a:latin typeface="Calibri"/>
                <a:cs typeface="Calibri"/>
              </a:rPr>
              <a:t> </a:t>
            </a:r>
            <a:r>
              <a:rPr sz="1500" b="1" spc="-10" dirty="0">
                <a:latin typeface="Calibri"/>
                <a:cs typeface="Calibri"/>
              </a:rPr>
              <a:t>Subscription: </a:t>
            </a:r>
            <a:r>
              <a:rPr sz="1500" dirty="0">
                <a:solidFill>
                  <a:srgbClr val="494949"/>
                </a:solidFill>
                <a:latin typeface="Calibri"/>
                <a:cs typeface="Calibri"/>
              </a:rPr>
              <a:t>A</a:t>
            </a:r>
            <a:r>
              <a:rPr sz="1500" spc="-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500" spc="-30" dirty="0">
                <a:solidFill>
                  <a:srgbClr val="494949"/>
                </a:solidFill>
                <a:latin typeface="Calibri"/>
                <a:cs typeface="Calibri"/>
              </a:rPr>
              <a:t>low,</a:t>
            </a:r>
            <a:r>
              <a:rPr sz="1500" spc="-2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494949"/>
                </a:solidFill>
                <a:latin typeface="Calibri"/>
                <a:cs typeface="Calibri"/>
              </a:rPr>
              <a:t>predictable</a:t>
            </a:r>
            <a:r>
              <a:rPr sz="1500" spc="-25" dirty="0">
                <a:solidFill>
                  <a:srgbClr val="494949"/>
                </a:solidFill>
                <a:latin typeface="Calibri"/>
                <a:cs typeface="Calibri"/>
              </a:rPr>
              <a:t> platform-</a:t>
            </a:r>
            <a:r>
              <a:rPr sz="1500" dirty="0">
                <a:solidFill>
                  <a:srgbClr val="494949"/>
                </a:solidFill>
                <a:latin typeface="Calibri"/>
                <a:cs typeface="Calibri"/>
              </a:rPr>
              <a:t>access</a:t>
            </a:r>
            <a:r>
              <a:rPr sz="1500" spc="-2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94949"/>
                </a:solidFill>
                <a:latin typeface="Calibri"/>
                <a:cs typeface="Calibri"/>
              </a:rPr>
              <a:t>fee</a:t>
            </a:r>
            <a:r>
              <a:rPr sz="1500" spc="-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94949"/>
                </a:solidFill>
                <a:latin typeface="Calibri"/>
                <a:cs typeface="Calibri"/>
              </a:rPr>
              <a:t>—</a:t>
            </a:r>
            <a:r>
              <a:rPr sz="1500" spc="-1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94949"/>
                </a:solidFill>
                <a:latin typeface="Calibri"/>
                <a:cs typeface="Calibri"/>
              </a:rPr>
              <a:t>modeled</a:t>
            </a:r>
            <a:r>
              <a:rPr sz="1500" spc="-2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94949"/>
                </a:solidFill>
                <a:latin typeface="Calibri"/>
                <a:cs typeface="Calibri"/>
              </a:rPr>
              <a:t>at</a:t>
            </a:r>
            <a:r>
              <a:rPr sz="1500" spc="-2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500" spc="-25" dirty="0">
                <a:solidFill>
                  <a:srgbClr val="494949"/>
                </a:solidFill>
                <a:latin typeface="Calibri"/>
                <a:cs typeface="Calibri"/>
              </a:rPr>
              <a:t>KES </a:t>
            </a:r>
            <a:r>
              <a:rPr sz="1500" spc="-10" dirty="0">
                <a:solidFill>
                  <a:srgbClr val="494949"/>
                </a:solidFill>
                <a:latin typeface="Calibri"/>
                <a:cs typeface="Calibri"/>
              </a:rPr>
              <a:t>300,000/year</a:t>
            </a:r>
            <a:r>
              <a:rPr sz="1500" spc="-2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94949"/>
                </a:solidFill>
                <a:latin typeface="Calibri"/>
                <a:cs typeface="Calibri"/>
              </a:rPr>
              <a:t>in</a:t>
            </a:r>
            <a:r>
              <a:rPr sz="1500" spc="-2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94949"/>
                </a:solidFill>
                <a:latin typeface="Calibri"/>
                <a:cs typeface="Calibri"/>
              </a:rPr>
              <a:t>the</a:t>
            </a:r>
            <a:r>
              <a:rPr sz="1500" spc="-1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494949"/>
                </a:solidFill>
                <a:latin typeface="Calibri"/>
                <a:cs typeface="Calibri"/>
              </a:rPr>
              <a:t>cooperative</a:t>
            </a:r>
            <a:r>
              <a:rPr sz="1500" spc="-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494949"/>
                </a:solidFill>
                <a:latin typeface="Calibri"/>
                <a:cs typeface="Calibri"/>
              </a:rPr>
              <a:t>pilot.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23004" y="3300476"/>
            <a:ext cx="146151" cy="14616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30344" y="3393185"/>
            <a:ext cx="697484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900"/>
              </a:lnSpc>
              <a:spcBef>
                <a:spcPts val="100"/>
              </a:spcBef>
            </a:pPr>
            <a:r>
              <a:rPr sz="1500" b="1" dirty="0">
                <a:latin typeface="Calibri"/>
                <a:cs typeface="Calibri"/>
              </a:rPr>
              <a:t>Success</a:t>
            </a:r>
            <a:r>
              <a:rPr sz="1500" b="1" spc="-2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Fee:</a:t>
            </a:r>
            <a:r>
              <a:rPr sz="1500" b="1" spc="-25" dirty="0"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94949"/>
                </a:solidFill>
                <a:latin typeface="Calibri"/>
                <a:cs typeface="Calibri"/>
              </a:rPr>
              <a:t>A</a:t>
            </a:r>
            <a:r>
              <a:rPr sz="1500" spc="-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94949"/>
                </a:solidFill>
                <a:latin typeface="Calibri"/>
                <a:cs typeface="Calibri"/>
              </a:rPr>
              <a:t>share</a:t>
            </a:r>
            <a:r>
              <a:rPr sz="1500" spc="-1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94949"/>
                </a:solidFill>
                <a:latin typeface="Calibri"/>
                <a:cs typeface="Calibri"/>
              </a:rPr>
              <a:t>of</a:t>
            </a:r>
            <a:r>
              <a:rPr sz="1500" spc="-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94949"/>
                </a:solidFill>
                <a:latin typeface="Calibri"/>
                <a:cs typeface="Calibri"/>
              </a:rPr>
              <a:t>the</a:t>
            </a:r>
            <a:r>
              <a:rPr sz="1500" spc="-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494949"/>
                </a:solidFill>
                <a:latin typeface="Calibri"/>
                <a:cs typeface="Calibri"/>
              </a:rPr>
              <a:t>incremental</a:t>
            </a:r>
            <a:r>
              <a:rPr sz="1500" spc="-2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494949"/>
                </a:solidFill>
                <a:latin typeface="Calibri"/>
                <a:cs typeface="Calibri"/>
              </a:rPr>
              <a:t>revenue</a:t>
            </a:r>
            <a:r>
              <a:rPr sz="1500" spc="-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94949"/>
                </a:solidFill>
                <a:latin typeface="Calibri"/>
                <a:cs typeface="Calibri"/>
              </a:rPr>
              <a:t>a</a:t>
            </a:r>
            <a:r>
              <a:rPr sz="1500" spc="-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494949"/>
                </a:solidFill>
                <a:latin typeface="Calibri"/>
                <a:cs typeface="Calibri"/>
              </a:rPr>
              <a:t>customer</a:t>
            </a:r>
            <a:r>
              <a:rPr sz="1500" spc="-2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94949"/>
                </a:solidFill>
                <a:latin typeface="Calibri"/>
                <a:cs typeface="Calibri"/>
              </a:rPr>
              <a:t>actually</a:t>
            </a:r>
            <a:r>
              <a:rPr sz="1500" spc="-2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494949"/>
                </a:solidFill>
                <a:latin typeface="Calibri"/>
                <a:cs typeface="Calibri"/>
              </a:rPr>
              <a:t>retains,</a:t>
            </a:r>
            <a:r>
              <a:rPr sz="1500" spc="-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94949"/>
                </a:solidFill>
                <a:latin typeface="Calibri"/>
                <a:cs typeface="Calibri"/>
              </a:rPr>
              <a:t>on</a:t>
            </a:r>
            <a:r>
              <a:rPr sz="1500" spc="-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94949"/>
                </a:solidFill>
                <a:latin typeface="Calibri"/>
                <a:cs typeface="Calibri"/>
              </a:rPr>
              <a:t>top</a:t>
            </a:r>
            <a:r>
              <a:rPr sz="1500" spc="-2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94949"/>
                </a:solidFill>
                <a:latin typeface="Calibri"/>
                <a:cs typeface="Calibri"/>
              </a:rPr>
              <a:t>of</a:t>
            </a:r>
            <a:r>
              <a:rPr sz="1500" spc="-25" dirty="0">
                <a:solidFill>
                  <a:srgbClr val="494949"/>
                </a:solidFill>
                <a:latin typeface="Calibri"/>
                <a:cs typeface="Calibri"/>
              </a:rPr>
              <a:t> the </a:t>
            </a:r>
            <a:r>
              <a:rPr sz="1500" dirty="0">
                <a:solidFill>
                  <a:srgbClr val="494949"/>
                </a:solidFill>
                <a:latin typeface="Calibri"/>
                <a:cs typeface="Calibri"/>
              </a:rPr>
              <a:t>base</a:t>
            </a:r>
            <a:r>
              <a:rPr sz="1500" spc="-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494949"/>
                </a:solidFill>
                <a:latin typeface="Calibri"/>
                <a:cs typeface="Calibri"/>
              </a:rPr>
              <a:t>subscription.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23004" y="4534915"/>
            <a:ext cx="146151" cy="14616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330344" y="4627626"/>
            <a:ext cx="673227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900"/>
              </a:lnSpc>
              <a:spcBef>
                <a:spcPts val="100"/>
              </a:spcBef>
            </a:pPr>
            <a:r>
              <a:rPr sz="1500" b="1" dirty="0">
                <a:latin typeface="Calibri"/>
                <a:cs typeface="Calibri"/>
              </a:rPr>
              <a:t>Shared</a:t>
            </a:r>
            <a:r>
              <a:rPr sz="1500" b="1" spc="-30" dirty="0">
                <a:latin typeface="Calibri"/>
                <a:cs typeface="Calibri"/>
              </a:rPr>
              <a:t> </a:t>
            </a:r>
            <a:r>
              <a:rPr sz="1500" b="1" spc="-10" dirty="0">
                <a:latin typeface="Calibri"/>
                <a:cs typeface="Calibri"/>
              </a:rPr>
              <a:t>Value:</a:t>
            </a:r>
            <a:r>
              <a:rPr sz="1500" b="1" spc="-20" dirty="0"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494949"/>
                </a:solidFill>
                <a:latin typeface="Calibri"/>
                <a:cs typeface="Calibri"/>
              </a:rPr>
              <a:t>We</a:t>
            </a:r>
            <a:r>
              <a:rPr sz="1500" spc="-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94949"/>
                </a:solidFill>
                <a:latin typeface="Calibri"/>
                <a:cs typeface="Calibri"/>
              </a:rPr>
              <a:t>only</a:t>
            </a:r>
            <a:r>
              <a:rPr sz="1500" spc="-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94949"/>
                </a:solidFill>
                <a:latin typeface="Calibri"/>
                <a:cs typeface="Calibri"/>
              </a:rPr>
              <a:t>profit</a:t>
            </a:r>
            <a:r>
              <a:rPr sz="1500" spc="-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494949"/>
                </a:solidFill>
                <a:latin typeface="Calibri"/>
                <a:cs typeface="Calibri"/>
              </a:rPr>
              <a:t>meaningfully</a:t>
            </a:r>
            <a:r>
              <a:rPr sz="1500" spc="-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94949"/>
                </a:solidFill>
                <a:latin typeface="Calibri"/>
                <a:cs typeface="Calibri"/>
              </a:rPr>
              <a:t>when</a:t>
            </a:r>
            <a:r>
              <a:rPr sz="1500" spc="-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94949"/>
                </a:solidFill>
                <a:latin typeface="Calibri"/>
                <a:cs typeface="Calibri"/>
              </a:rPr>
              <a:t>our</a:t>
            </a:r>
            <a:r>
              <a:rPr sz="1500" spc="-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494949"/>
                </a:solidFill>
                <a:latin typeface="Calibri"/>
                <a:cs typeface="Calibri"/>
              </a:rPr>
              <a:t>customers</a:t>
            </a:r>
            <a:r>
              <a:rPr sz="1500" spc="-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94949"/>
                </a:solidFill>
                <a:latin typeface="Calibri"/>
                <a:cs typeface="Calibri"/>
              </a:rPr>
              <a:t>save</a:t>
            </a:r>
            <a:r>
              <a:rPr sz="1500" spc="-4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94949"/>
                </a:solidFill>
                <a:latin typeface="Calibri"/>
                <a:cs typeface="Calibri"/>
              </a:rPr>
              <a:t>—</a:t>
            </a:r>
            <a:r>
              <a:rPr sz="1500" spc="-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94949"/>
                </a:solidFill>
                <a:latin typeface="Calibri"/>
                <a:cs typeface="Calibri"/>
              </a:rPr>
              <a:t>the</a:t>
            </a:r>
            <a:r>
              <a:rPr sz="1500" spc="-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494949"/>
                </a:solidFill>
                <a:latin typeface="Calibri"/>
                <a:cs typeface="Calibri"/>
              </a:rPr>
              <a:t>incentive</a:t>
            </a:r>
            <a:r>
              <a:rPr sz="1500" spc="-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500" spc="-25" dirty="0">
                <a:solidFill>
                  <a:srgbClr val="494949"/>
                </a:solidFill>
                <a:latin typeface="Calibri"/>
                <a:cs typeface="Calibri"/>
              </a:rPr>
              <a:t>is </a:t>
            </a:r>
            <a:r>
              <a:rPr sz="1500" dirty="0">
                <a:solidFill>
                  <a:srgbClr val="494949"/>
                </a:solidFill>
                <a:latin typeface="Calibri"/>
                <a:cs typeface="Calibri"/>
              </a:rPr>
              <a:t>aligned,</a:t>
            </a:r>
            <a:r>
              <a:rPr sz="1500" spc="-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94949"/>
                </a:solidFill>
                <a:latin typeface="Calibri"/>
                <a:cs typeface="Calibri"/>
              </a:rPr>
              <a:t>not</a:t>
            </a:r>
            <a:r>
              <a:rPr sz="1500" spc="-4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494949"/>
                </a:solidFill>
                <a:latin typeface="Calibri"/>
                <a:cs typeface="Calibri"/>
              </a:rPr>
              <a:t>extractive.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58" y="6858000"/>
                </a:lnTo>
                <a:lnTo>
                  <a:pt x="12191758" y="0"/>
                </a:lnTo>
                <a:close/>
              </a:path>
            </a:pathLst>
          </a:custGeom>
          <a:solidFill>
            <a:srgbClr val="FCF6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35584" y="509295"/>
            <a:ext cx="1565910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spc="120" dirty="0">
                <a:solidFill>
                  <a:srgbClr val="8F103D"/>
                </a:solidFill>
                <a:latin typeface="Calibri"/>
                <a:cs typeface="Calibri"/>
              </a:rPr>
              <a:t>FINANCIAL</a:t>
            </a:r>
            <a:r>
              <a:rPr sz="1250" b="1" spc="310" dirty="0">
                <a:solidFill>
                  <a:srgbClr val="8F103D"/>
                </a:solidFill>
                <a:latin typeface="Calibri"/>
                <a:cs typeface="Calibri"/>
              </a:rPr>
              <a:t> </a:t>
            </a:r>
            <a:r>
              <a:rPr sz="1250" b="1" spc="90" dirty="0">
                <a:solidFill>
                  <a:srgbClr val="8F103D"/>
                </a:solidFill>
                <a:latin typeface="Calibri"/>
                <a:cs typeface="Calibri"/>
              </a:rPr>
              <a:t>IMPAC</a:t>
            </a:r>
            <a:r>
              <a:rPr sz="1250" b="1" spc="-114" dirty="0">
                <a:solidFill>
                  <a:srgbClr val="8F103D"/>
                </a:solidFill>
                <a:latin typeface="Calibri"/>
                <a:cs typeface="Calibri"/>
              </a:rPr>
              <a:t> </a:t>
            </a:r>
            <a:r>
              <a:rPr sz="1250" b="1" spc="-50" dirty="0">
                <a:solidFill>
                  <a:srgbClr val="8F103D"/>
                </a:solidFill>
                <a:latin typeface="Calibri"/>
                <a:cs typeface="Calibri"/>
              </a:rPr>
              <a:t>T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35584" y="855611"/>
            <a:ext cx="30480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The</a:t>
            </a:r>
            <a:r>
              <a:rPr spc="-6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math,</a:t>
            </a:r>
            <a:r>
              <a:rPr spc="-5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</a:t>
            </a:r>
            <a:r>
              <a:rPr spc="-60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full.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48640" y="1554480"/>
          <a:ext cx="6949440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6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3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78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Sold</a:t>
                      </a:r>
                      <a:r>
                        <a:rPr sz="125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Volume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solidFill>
                      <a:srgbClr val="0AB5BB"/>
                    </a:solidFill>
                  </a:tcPr>
                </a:tc>
                <a:tc>
                  <a:txBody>
                    <a:bodyPr/>
                    <a:lstStyle/>
                    <a:p>
                      <a:pPr marL="4064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Avg</a:t>
                      </a:r>
                      <a:r>
                        <a:rPr sz="125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Price/kg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solidFill>
                      <a:srgbClr val="0AB5BB"/>
                    </a:solidFill>
                  </a:tcPr>
                </a:tc>
                <a:tc>
                  <a:txBody>
                    <a:bodyPr/>
                    <a:lstStyle/>
                    <a:p>
                      <a:pPr marL="4254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solidFill>
                      <a:srgbClr val="0AB5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50" b="1" dirty="0">
                          <a:latin typeface="Calibri"/>
                          <a:cs typeface="Calibri"/>
                        </a:rPr>
                        <a:t>Baseline</a:t>
                      </a:r>
                      <a:r>
                        <a:rPr sz="125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spc="-10" dirty="0">
                          <a:latin typeface="Calibri"/>
                          <a:cs typeface="Calibri"/>
                        </a:rPr>
                        <a:t>(today)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50" dirty="0">
                          <a:solidFill>
                            <a:srgbClr val="494949"/>
                          </a:solidFill>
                          <a:latin typeface="Calibri"/>
                          <a:cs typeface="Calibri"/>
                        </a:rPr>
                        <a:t>375,000</a:t>
                      </a:r>
                      <a:r>
                        <a:rPr sz="1250" spc="-75" dirty="0">
                          <a:solidFill>
                            <a:srgbClr val="4949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25" dirty="0">
                          <a:solidFill>
                            <a:srgbClr val="494949"/>
                          </a:solidFill>
                          <a:latin typeface="Calibri"/>
                          <a:cs typeface="Calibri"/>
                        </a:rPr>
                        <a:t>kg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000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50" dirty="0">
                          <a:solidFill>
                            <a:srgbClr val="494949"/>
                          </a:solidFill>
                          <a:latin typeface="Calibri"/>
                          <a:cs typeface="Calibri"/>
                        </a:rPr>
                        <a:t>KES</a:t>
                      </a:r>
                      <a:r>
                        <a:rPr sz="1250" spc="-50" dirty="0">
                          <a:solidFill>
                            <a:srgbClr val="4949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solidFill>
                            <a:srgbClr val="494949"/>
                          </a:solidFill>
                          <a:latin typeface="Calibri"/>
                          <a:cs typeface="Calibri"/>
                        </a:rPr>
                        <a:t>40.00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064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50" dirty="0">
                          <a:solidFill>
                            <a:srgbClr val="494949"/>
                          </a:solidFill>
                          <a:latin typeface="Calibri"/>
                          <a:cs typeface="Calibri"/>
                        </a:rPr>
                        <a:t>KES</a:t>
                      </a:r>
                      <a:r>
                        <a:rPr sz="1250" spc="-50" dirty="0">
                          <a:solidFill>
                            <a:srgbClr val="4949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solidFill>
                            <a:srgbClr val="494949"/>
                          </a:solidFill>
                          <a:latin typeface="Calibri"/>
                          <a:cs typeface="Calibri"/>
                        </a:rPr>
                        <a:t>15,000,000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With</a:t>
                      </a:r>
                      <a:r>
                        <a:rPr sz="1250" b="1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Fresh</a:t>
                      </a:r>
                      <a:r>
                        <a:rPr sz="1250" b="1" spc="-6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Supplies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solidFill>
                      <a:srgbClr val="0790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412,500</a:t>
                      </a:r>
                      <a:r>
                        <a:rPr sz="1250" spc="-7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kg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solidFill>
                      <a:srgbClr val="079094"/>
                    </a:solidFill>
                  </a:tcPr>
                </a:tc>
                <a:tc>
                  <a:txBody>
                    <a:bodyPr/>
                    <a:lstStyle/>
                    <a:p>
                      <a:pPr marL="4000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KES</a:t>
                      </a:r>
                      <a:r>
                        <a:rPr sz="125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43.20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solidFill>
                      <a:srgbClr val="079094"/>
                    </a:solidFill>
                  </a:tcPr>
                </a:tc>
                <a:tc>
                  <a:txBody>
                    <a:bodyPr/>
                    <a:lstStyle/>
                    <a:p>
                      <a:pPr marL="4064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KES</a:t>
                      </a:r>
                      <a:r>
                        <a:rPr sz="125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17,820,000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solidFill>
                      <a:srgbClr val="0790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535584" y="3202470"/>
            <a:ext cx="374205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latin typeface="Calibri"/>
                <a:cs typeface="Calibri"/>
              </a:rPr>
              <a:t>Annual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Financial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Benefit</a:t>
            </a:r>
            <a:r>
              <a:rPr sz="1400" spc="2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=</a:t>
            </a:r>
            <a:r>
              <a:rPr sz="1400" spc="270" dirty="0"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8F103D"/>
                </a:solidFill>
                <a:latin typeface="Calibri"/>
                <a:cs typeface="Calibri"/>
              </a:rPr>
              <a:t>KES</a:t>
            </a:r>
            <a:r>
              <a:rPr sz="1600" b="1" spc="-40" dirty="0">
                <a:solidFill>
                  <a:srgbClr val="8F103D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8F103D"/>
                </a:solidFill>
                <a:latin typeface="Calibri"/>
                <a:cs typeface="Calibri"/>
              </a:rPr>
              <a:t>2,820,000</a:t>
            </a:r>
            <a:r>
              <a:rPr sz="1600" b="1" spc="-45" dirty="0">
                <a:solidFill>
                  <a:srgbClr val="8F103D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8F103D"/>
                </a:solidFill>
                <a:latin typeface="Calibri"/>
                <a:cs typeface="Calibri"/>
              </a:rPr>
              <a:t>/</a:t>
            </a:r>
            <a:r>
              <a:rPr sz="1600" b="1" spc="-35" dirty="0">
                <a:solidFill>
                  <a:srgbClr val="8F103D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8F103D"/>
                </a:solidFill>
                <a:latin typeface="Calibri"/>
                <a:cs typeface="Calibri"/>
              </a:rPr>
              <a:t>year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48640" y="3794404"/>
            <a:ext cx="2148840" cy="1371600"/>
          </a:xfrm>
          <a:custGeom>
            <a:avLst/>
            <a:gdLst/>
            <a:ahLst/>
            <a:cxnLst/>
            <a:rect l="l" t="t" r="r" b="b"/>
            <a:pathLst>
              <a:path w="2148840" h="1371600">
                <a:moveTo>
                  <a:pt x="2057044" y="0"/>
                </a:moveTo>
                <a:lnTo>
                  <a:pt x="91439" y="0"/>
                </a:lnTo>
                <a:lnTo>
                  <a:pt x="79434" y="798"/>
                </a:lnTo>
                <a:lnTo>
                  <a:pt x="35676" y="18830"/>
                </a:lnTo>
                <a:lnTo>
                  <a:pt x="6986" y="56505"/>
                </a:lnTo>
                <a:lnTo>
                  <a:pt x="0" y="91440"/>
                </a:lnTo>
                <a:lnTo>
                  <a:pt x="0" y="1280160"/>
                </a:lnTo>
                <a:lnTo>
                  <a:pt x="774" y="1291798"/>
                </a:lnTo>
                <a:lnTo>
                  <a:pt x="798" y="1292159"/>
                </a:lnTo>
                <a:lnTo>
                  <a:pt x="18836" y="1335916"/>
                </a:lnTo>
                <a:lnTo>
                  <a:pt x="56510" y="1364608"/>
                </a:lnTo>
                <a:lnTo>
                  <a:pt x="91439" y="1371600"/>
                </a:lnTo>
                <a:lnTo>
                  <a:pt x="2057400" y="1371231"/>
                </a:lnTo>
                <a:lnTo>
                  <a:pt x="2103120" y="1359001"/>
                </a:lnTo>
                <a:lnTo>
                  <a:pt x="2136597" y="1325511"/>
                </a:lnTo>
                <a:lnTo>
                  <a:pt x="2148815" y="1280160"/>
                </a:lnTo>
                <a:lnTo>
                  <a:pt x="2148840" y="1279791"/>
                </a:lnTo>
                <a:lnTo>
                  <a:pt x="2148484" y="91440"/>
                </a:lnTo>
                <a:lnTo>
                  <a:pt x="2136241" y="45720"/>
                </a:lnTo>
                <a:lnTo>
                  <a:pt x="2102764" y="12230"/>
                </a:lnTo>
                <a:lnTo>
                  <a:pt x="2069044" y="798"/>
                </a:lnTo>
                <a:lnTo>
                  <a:pt x="20570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269619" y="4078694"/>
            <a:ext cx="70675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20" dirty="0">
                <a:solidFill>
                  <a:srgbClr val="079094"/>
                </a:solidFill>
                <a:latin typeface="Arial"/>
                <a:cs typeface="Arial"/>
              </a:rPr>
              <a:t>526%</a:t>
            </a:r>
            <a:endParaRPr sz="2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31899" y="4753343"/>
            <a:ext cx="581025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spc="-40" dirty="0">
                <a:solidFill>
                  <a:srgbClr val="494949"/>
                </a:solidFill>
                <a:latin typeface="Calibri"/>
                <a:cs typeface="Calibri"/>
              </a:rPr>
              <a:t>Year-</a:t>
            </a:r>
            <a:r>
              <a:rPr sz="1050" dirty="0">
                <a:solidFill>
                  <a:srgbClr val="494949"/>
                </a:solidFill>
                <a:latin typeface="Calibri"/>
                <a:cs typeface="Calibri"/>
              </a:rPr>
              <a:t>1</a:t>
            </a:r>
            <a:r>
              <a:rPr sz="1050" spc="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050" spc="-25" dirty="0">
                <a:solidFill>
                  <a:srgbClr val="494949"/>
                </a:solidFill>
                <a:latin typeface="Calibri"/>
                <a:cs typeface="Calibri"/>
              </a:rPr>
              <a:t>ROI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926079" y="3794404"/>
            <a:ext cx="2148840" cy="1371600"/>
          </a:xfrm>
          <a:custGeom>
            <a:avLst/>
            <a:gdLst/>
            <a:ahLst/>
            <a:cxnLst/>
            <a:rect l="l" t="t" r="r" b="b"/>
            <a:pathLst>
              <a:path w="2148840" h="1371600">
                <a:moveTo>
                  <a:pt x="2057044" y="0"/>
                </a:moveTo>
                <a:lnTo>
                  <a:pt x="91439" y="0"/>
                </a:lnTo>
                <a:lnTo>
                  <a:pt x="79434" y="798"/>
                </a:lnTo>
                <a:lnTo>
                  <a:pt x="35676" y="18830"/>
                </a:lnTo>
                <a:lnTo>
                  <a:pt x="6986" y="56505"/>
                </a:lnTo>
                <a:lnTo>
                  <a:pt x="0" y="91440"/>
                </a:lnTo>
                <a:lnTo>
                  <a:pt x="0" y="1280160"/>
                </a:lnTo>
                <a:lnTo>
                  <a:pt x="774" y="1291798"/>
                </a:lnTo>
                <a:lnTo>
                  <a:pt x="798" y="1292159"/>
                </a:lnTo>
                <a:lnTo>
                  <a:pt x="3077" y="1303466"/>
                </a:lnTo>
                <a:lnTo>
                  <a:pt x="3149" y="1303824"/>
                </a:lnTo>
                <a:lnTo>
                  <a:pt x="26681" y="1344909"/>
                </a:lnTo>
                <a:lnTo>
                  <a:pt x="67770" y="1368445"/>
                </a:lnTo>
                <a:lnTo>
                  <a:pt x="91439" y="1371600"/>
                </a:lnTo>
                <a:lnTo>
                  <a:pt x="2057399" y="1371231"/>
                </a:lnTo>
                <a:lnTo>
                  <a:pt x="2103120" y="1359001"/>
                </a:lnTo>
                <a:lnTo>
                  <a:pt x="2136597" y="1325511"/>
                </a:lnTo>
                <a:lnTo>
                  <a:pt x="2148815" y="1280160"/>
                </a:lnTo>
                <a:lnTo>
                  <a:pt x="2148840" y="1279791"/>
                </a:lnTo>
                <a:lnTo>
                  <a:pt x="2148484" y="91440"/>
                </a:lnTo>
                <a:lnTo>
                  <a:pt x="2136241" y="45720"/>
                </a:lnTo>
                <a:lnTo>
                  <a:pt x="2102764" y="12230"/>
                </a:lnTo>
                <a:lnTo>
                  <a:pt x="2069044" y="798"/>
                </a:lnTo>
                <a:lnTo>
                  <a:pt x="20570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487585" y="4078694"/>
            <a:ext cx="102489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079094"/>
                </a:solidFill>
                <a:latin typeface="Arial"/>
                <a:cs typeface="Arial"/>
              </a:rPr>
              <a:t>~1.9</a:t>
            </a:r>
            <a:r>
              <a:rPr sz="2100" b="1" spc="-30" dirty="0">
                <a:solidFill>
                  <a:srgbClr val="079094"/>
                </a:solidFill>
                <a:latin typeface="Arial"/>
                <a:cs typeface="Arial"/>
              </a:rPr>
              <a:t> </a:t>
            </a:r>
            <a:r>
              <a:rPr sz="2100" b="1" spc="-25" dirty="0">
                <a:solidFill>
                  <a:srgbClr val="079094"/>
                </a:solidFill>
                <a:latin typeface="Arial"/>
                <a:cs typeface="Arial"/>
              </a:rPr>
              <a:t>mo</a:t>
            </a:r>
            <a:endParaRPr sz="2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80460" y="4753343"/>
            <a:ext cx="838200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spc="-10" dirty="0">
                <a:solidFill>
                  <a:srgbClr val="494949"/>
                </a:solidFill>
                <a:latin typeface="Calibri"/>
                <a:cs typeface="Calibri"/>
              </a:rPr>
              <a:t>Payback</a:t>
            </a:r>
            <a:r>
              <a:rPr sz="1050" spc="-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94949"/>
                </a:solidFill>
                <a:latin typeface="Calibri"/>
                <a:cs typeface="Calibri"/>
              </a:rPr>
              <a:t>Period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303520" y="3794404"/>
            <a:ext cx="2148840" cy="1371600"/>
          </a:xfrm>
          <a:custGeom>
            <a:avLst/>
            <a:gdLst/>
            <a:ahLst/>
            <a:cxnLst/>
            <a:rect l="l" t="t" r="r" b="b"/>
            <a:pathLst>
              <a:path w="2148840" h="1371600">
                <a:moveTo>
                  <a:pt x="2057044" y="0"/>
                </a:moveTo>
                <a:lnTo>
                  <a:pt x="91439" y="0"/>
                </a:lnTo>
                <a:lnTo>
                  <a:pt x="79434" y="798"/>
                </a:lnTo>
                <a:lnTo>
                  <a:pt x="35676" y="18830"/>
                </a:lnTo>
                <a:lnTo>
                  <a:pt x="6986" y="56505"/>
                </a:lnTo>
                <a:lnTo>
                  <a:pt x="0" y="91440"/>
                </a:lnTo>
                <a:lnTo>
                  <a:pt x="0" y="1280160"/>
                </a:lnTo>
                <a:lnTo>
                  <a:pt x="774" y="1291798"/>
                </a:lnTo>
                <a:lnTo>
                  <a:pt x="798" y="1292159"/>
                </a:lnTo>
                <a:lnTo>
                  <a:pt x="3077" y="1303466"/>
                </a:lnTo>
                <a:lnTo>
                  <a:pt x="3149" y="1303824"/>
                </a:lnTo>
                <a:lnTo>
                  <a:pt x="6863" y="1314726"/>
                </a:lnTo>
                <a:lnTo>
                  <a:pt x="35676" y="1352756"/>
                </a:lnTo>
                <a:lnTo>
                  <a:pt x="79434" y="1370799"/>
                </a:lnTo>
                <a:lnTo>
                  <a:pt x="91439" y="1371600"/>
                </a:lnTo>
                <a:lnTo>
                  <a:pt x="2057400" y="1371231"/>
                </a:lnTo>
                <a:lnTo>
                  <a:pt x="2103120" y="1359001"/>
                </a:lnTo>
                <a:lnTo>
                  <a:pt x="2136597" y="1325511"/>
                </a:lnTo>
                <a:lnTo>
                  <a:pt x="2147968" y="1292159"/>
                </a:lnTo>
                <a:lnTo>
                  <a:pt x="2148041" y="1291798"/>
                </a:lnTo>
                <a:lnTo>
                  <a:pt x="2148815" y="1280160"/>
                </a:lnTo>
                <a:lnTo>
                  <a:pt x="2148839" y="1279791"/>
                </a:lnTo>
                <a:lnTo>
                  <a:pt x="2148484" y="91440"/>
                </a:lnTo>
                <a:lnTo>
                  <a:pt x="2136241" y="45720"/>
                </a:lnTo>
                <a:lnTo>
                  <a:pt x="2102764" y="12230"/>
                </a:lnTo>
                <a:lnTo>
                  <a:pt x="2069044" y="798"/>
                </a:lnTo>
                <a:lnTo>
                  <a:pt x="20570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683580" y="4078694"/>
            <a:ext cx="138874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079094"/>
                </a:solidFill>
                <a:latin typeface="Arial"/>
                <a:cs typeface="Arial"/>
              </a:rPr>
              <a:t>KES</a:t>
            </a:r>
            <a:r>
              <a:rPr sz="2100" b="1" spc="-20" dirty="0">
                <a:solidFill>
                  <a:srgbClr val="079094"/>
                </a:solidFill>
                <a:latin typeface="Arial"/>
                <a:cs typeface="Arial"/>
              </a:rPr>
              <a:t> </a:t>
            </a:r>
            <a:r>
              <a:rPr sz="2100" b="1" spc="-10" dirty="0">
                <a:solidFill>
                  <a:srgbClr val="079094"/>
                </a:solidFill>
                <a:latin typeface="Arial"/>
                <a:cs typeface="Arial"/>
              </a:rPr>
              <a:t>2.52M</a:t>
            </a:r>
            <a:endParaRPr sz="2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46940" y="4753343"/>
            <a:ext cx="1258570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spc="-40" dirty="0">
                <a:solidFill>
                  <a:srgbClr val="494949"/>
                </a:solidFill>
                <a:latin typeface="Calibri"/>
                <a:cs typeface="Calibri"/>
              </a:rPr>
              <a:t>Year-</a:t>
            </a:r>
            <a:r>
              <a:rPr sz="1050" dirty="0">
                <a:solidFill>
                  <a:srgbClr val="494949"/>
                </a:solidFill>
                <a:latin typeface="Calibri"/>
                <a:cs typeface="Calibri"/>
              </a:rPr>
              <a:t>2+</a:t>
            </a:r>
            <a:r>
              <a:rPr sz="1050" spc="-2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94949"/>
                </a:solidFill>
                <a:latin typeface="Calibri"/>
                <a:cs typeface="Calibri"/>
              </a:rPr>
              <a:t>Annual</a:t>
            </a:r>
            <a:r>
              <a:rPr sz="1050" spc="-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94949"/>
                </a:solidFill>
                <a:latin typeface="Calibri"/>
                <a:cs typeface="Calibri"/>
              </a:rPr>
              <a:t>Savings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000644" y="1554124"/>
            <a:ext cx="3612515" cy="3612515"/>
          </a:xfrm>
          <a:custGeom>
            <a:avLst/>
            <a:gdLst/>
            <a:ahLst/>
            <a:cxnLst/>
            <a:rect l="l" t="t" r="r" b="b"/>
            <a:pathLst>
              <a:path w="3612515" h="3612515">
                <a:moveTo>
                  <a:pt x="110159" y="0"/>
                </a:moveTo>
                <a:lnTo>
                  <a:pt x="68088" y="8352"/>
                </a:lnTo>
                <a:lnTo>
                  <a:pt x="32534" y="32213"/>
                </a:lnTo>
                <a:lnTo>
                  <a:pt x="8708" y="67882"/>
                </a:lnTo>
                <a:lnTo>
                  <a:pt x="355" y="109791"/>
                </a:lnTo>
                <a:lnTo>
                  <a:pt x="0" y="3502431"/>
                </a:lnTo>
                <a:lnTo>
                  <a:pt x="939" y="3516861"/>
                </a:lnTo>
                <a:lnTo>
                  <a:pt x="14757" y="3557511"/>
                </a:lnTo>
                <a:lnTo>
                  <a:pt x="22674" y="3569224"/>
                </a:lnTo>
                <a:lnTo>
                  <a:pt x="22775" y="3569374"/>
                </a:lnTo>
                <a:lnTo>
                  <a:pt x="55079" y="3597478"/>
                </a:lnTo>
                <a:lnTo>
                  <a:pt x="95374" y="3611295"/>
                </a:lnTo>
                <a:lnTo>
                  <a:pt x="109791" y="3612235"/>
                </a:lnTo>
                <a:lnTo>
                  <a:pt x="3502431" y="3612235"/>
                </a:lnTo>
                <a:lnTo>
                  <a:pt x="3544502" y="3603882"/>
                </a:lnTo>
                <a:lnTo>
                  <a:pt x="3580006" y="3580056"/>
                </a:lnTo>
                <a:lnTo>
                  <a:pt x="3603807" y="3544502"/>
                </a:lnTo>
                <a:lnTo>
                  <a:pt x="3612235" y="3502431"/>
                </a:lnTo>
                <a:lnTo>
                  <a:pt x="3612211" y="109791"/>
                </a:lnTo>
                <a:lnTo>
                  <a:pt x="3603882" y="68088"/>
                </a:lnTo>
                <a:lnTo>
                  <a:pt x="3580012" y="32534"/>
                </a:lnTo>
                <a:lnTo>
                  <a:pt x="3544352" y="8708"/>
                </a:lnTo>
                <a:lnTo>
                  <a:pt x="3502431" y="355"/>
                </a:lnTo>
                <a:lnTo>
                  <a:pt x="1101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262264" y="1838769"/>
            <a:ext cx="8375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79094"/>
                </a:solidFill>
                <a:latin typeface="Calibri"/>
                <a:cs typeface="Calibri"/>
              </a:rPr>
              <a:t>Assumptions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18" name="object 18"/>
          <p:cNvSpPr txBox="1"/>
          <p:nvPr/>
        </p:nvSpPr>
        <p:spPr>
          <a:xfrm>
            <a:off x="8262264" y="2473452"/>
            <a:ext cx="1691005" cy="674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7475" indent="-104775">
              <a:lnSpc>
                <a:spcPct val="100000"/>
              </a:lnSpc>
              <a:spcBef>
                <a:spcPts val="100"/>
              </a:spcBef>
              <a:buChar char="•"/>
              <a:tabLst>
                <a:tab pos="117475" algn="l"/>
              </a:tabLst>
            </a:pP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500,000</a:t>
            </a:r>
            <a:r>
              <a:rPr sz="1150" spc="-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kg</a:t>
            </a:r>
            <a:r>
              <a:rPr sz="1150" spc="-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annual</a:t>
            </a:r>
            <a:r>
              <a:rPr sz="1150" spc="-2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494949"/>
                </a:solidFill>
                <a:latin typeface="Calibri"/>
                <a:cs typeface="Calibri"/>
              </a:rPr>
              <a:t>harvest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40"/>
              </a:spcBef>
              <a:buClr>
                <a:srgbClr val="494949"/>
              </a:buClr>
              <a:buFont typeface="Calibri"/>
              <a:buChar char="•"/>
            </a:pPr>
            <a:endParaRPr sz="1150">
              <a:latin typeface="Calibri"/>
              <a:cs typeface="Calibri"/>
            </a:endParaRPr>
          </a:p>
          <a:p>
            <a:pPr marL="117475" indent="-104775">
              <a:lnSpc>
                <a:spcPct val="100000"/>
              </a:lnSpc>
              <a:buChar char="•"/>
              <a:tabLst>
                <a:tab pos="117475" algn="l"/>
              </a:tabLst>
            </a:pP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KES</a:t>
            </a:r>
            <a:r>
              <a:rPr sz="1150" spc="-4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40/kg</a:t>
            </a:r>
            <a:r>
              <a:rPr sz="1150" spc="-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494949"/>
                </a:solidFill>
                <a:latin typeface="Calibri"/>
                <a:cs typeface="Calibri"/>
              </a:rPr>
              <a:t>farm-</a:t>
            </a: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gate</a:t>
            </a:r>
            <a:r>
              <a:rPr sz="1150" spc="-4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spc="-20" dirty="0">
                <a:solidFill>
                  <a:srgbClr val="494949"/>
                </a:solidFill>
                <a:latin typeface="Calibri"/>
                <a:cs typeface="Calibri"/>
              </a:rPr>
              <a:t>value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262264" y="3419538"/>
            <a:ext cx="1987550" cy="674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7475" indent="-104775">
              <a:lnSpc>
                <a:spcPct val="100000"/>
              </a:lnSpc>
              <a:spcBef>
                <a:spcPts val="100"/>
              </a:spcBef>
              <a:buChar char="•"/>
              <a:tabLst>
                <a:tab pos="117475" algn="l"/>
              </a:tabLst>
            </a:pP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25%</a:t>
            </a:r>
            <a:r>
              <a:rPr sz="1150" spc="-4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current</a:t>
            </a:r>
            <a:r>
              <a:rPr sz="1150" spc="-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spoilage</a:t>
            </a:r>
            <a:r>
              <a:rPr sz="1150" spc="-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spc="-20" dirty="0">
                <a:solidFill>
                  <a:srgbClr val="494949"/>
                </a:solidFill>
                <a:latin typeface="Calibri"/>
                <a:cs typeface="Calibri"/>
              </a:rPr>
              <a:t>rate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40"/>
              </a:spcBef>
              <a:buClr>
                <a:srgbClr val="494949"/>
              </a:buClr>
              <a:buFont typeface="Calibri"/>
              <a:buChar char="•"/>
            </a:pPr>
            <a:endParaRPr sz="1150">
              <a:latin typeface="Calibri"/>
              <a:cs typeface="Calibri"/>
            </a:endParaRPr>
          </a:p>
          <a:p>
            <a:pPr marL="117475" indent="-104775">
              <a:lnSpc>
                <a:spcPct val="100000"/>
              </a:lnSpc>
              <a:buChar char="•"/>
              <a:tabLst>
                <a:tab pos="117475" algn="l"/>
              </a:tabLst>
            </a:pP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30%</a:t>
            </a:r>
            <a:r>
              <a:rPr sz="1150" spc="-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494949"/>
                </a:solidFill>
                <a:latin typeface="Calibri"/>
                <a:cs typeface="Calibri"/>
              </a:rPr>
              <a:t>relative</a:t>
            </a:r>
            <a:r>
              <a:rPr sz="1150" spc="-1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spoilage</a:t>
            </a:r>
            <a:r>
              <a:rPr sz="1150" spc="-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494949"/>
                </a:solidFill>
                <a:latin typeface="Calibri"/>
                <a:cs typeface="Calibri"/>
              </a:rPr>
              <a:t>reduction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262264" y="4365612"/>
            <a:ext cx="240347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7475" indent="-104775">
              <a:lnSpc>
                <a:spcPct val="100000"/>
              </a:lnSpc>
              <a:spcBef>
                <a:spcPts val="100"/>
              </a:spcBef>
              <a:buChar char="•"/>
              <a:tabLst>
                <a:tab pos="117475" algn="l"/>
              </a:tabLst>
            </a:pP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8%</a:t>
            </a:r>
            <a:r>
              <a:rPr sz="1150" spc="-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price</a:t>
            </a:r>
            <a:r>
              <a:rPr sz="1150" spc="-4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lift</a:t>
            </a:r>
            <a:r>
              <a:rPr sz="1150" spc="-4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from</a:t>
            </a:r>
            <a:r>
              <a:rPr sz="1150" spc="-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494949"/>
                </a:solidFill>
                <a:latin typeface="Calibri"/>
                <a:cs typeface="Calibri"/>
              </a:rPr>
              <a:t>better</a:t>
            </a:r>
            <a:r>
              <a:rPr sz="1150" spc="-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market</a:t>
            </a:r>
            <a:r>
              <a:rPr sz="1150" spc="-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spc="-20" dirty="0">
                <a:solidFill>
                  <a:srgbClr val="494949"/>
                </a:solidFill>
                <a:latin typeface="Calibri"/>
                <a:cs typeface="Calibri"/>
              </a:rPr>
              <a:t>match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5584" y="6330861"/>
            <a:ext cx="4231005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i="1" spc="-10" dirty="0">
                <a:solidFill>
                  <a:srgbClr val="898E8B"/>
                </a:solidFill>
                <a:latin typeface="Calibri"/>
                <a:cs typeface="Calibri"/>
              </a:rPr>
              <a:t>Conservative,</a:t>
            </a:r>
            <a:r>
              <a:rPr sz="1050" i="1" spc="-30" dirty="0">
                <a:solidFill>
                  <a:srgbClr val="898E8B"/>
                </a:solidFill>
                <a:latin typeface="Calibri"/>
                <a:cs typeface="Calibri"/>
              </a:rPr>
              <a:t> </a:t>
            </a:r>
            <a:r>
              <a:rPr sz="1050" i="1" spc="-10" dirty="0">
                <a:solidFill>
                  <a:srgbClr val="898E8B"/>
                </a:solidFill>
                <a:latin typeface="Calibri"/>
                <a:cs typeface="Calibri"/>
              </a:rPr>
              <a:t>model-</a:t>
            </a:r>
            <a:r>
              <a:rPr sz="1050" i="1" dirty="0">
                <a:solidFill>
                  <a:srgbClr val="898E8B"/>
                </a:solidFill>
                <a:latin typeface="Calibri"/>
                <a:cs typeface="Calibri"/>
              </a:rPr>
              <a:t>based</a:t>
            </a:r>
            <a:r>
              <a:rPr sz="1050" i="1" spc="-15" dirty="0">
                <a:solidFill>
                  <a:srgbClr val="898E8B"/>
                </a:solidFill>
                <a:latin typeface="Calibri"/>
                <a:cs typeface="Calibri"/>
              </a:rPr>
              <a:t> </a:t>
            </a:r>
            <a:r>
              <a:rPr sz="1050" i="1" spc="-10" dirty="0">
                <a:solidFill>
                  <a:srgbClr val="898E8B"/>
                </a:solidFill>
                <a:latin typeface="Calibri"/>
                <a:cs typeface="Calibri"/>
              </a:rPr>
              <a:t>estimates</a:t>
            </a:r>
            <a:r>
              <a:rPr sz="1050" i="1" spc="-30" dirty="0">
                <a:solidFill>
                  <a:srgbClr val="898E8B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898E8B"/>
                </a:solidFill>
                <a:latin typeface="Calibri"/>
                <a:cs typeface="Calibri"/>
              </a:rPr>
              <a:t>—</a:t>
            </a:r>
            <a:r>
              <a:rPr sz="1050" i="1" spc="-20" dirty="0">
                <a:solidFill>
                  <a:srgbClr val="898E8B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898E8B"/>
                </a:solidFill>
                <a:latin typeface="Calibri"/>
                <a:cs typeface="Calibri"/>
              </a:rPr>
              <a:t>see</a:t>
            </a:r>
            <a:r>
              <a:rPr sz="1050" i="1" spc="-20" dirty="0">
                <a:solidFill>
                  <a:srgbClr val="898E8B"/>
                </a:solidFill>
                <a:latin typeface="Calibri"/>
                <a:cs typeface="Calibri"/>
              </a:rPr>
              <a:t> </a:t>
            </a:r>
            <a:r>
              <a:rPr sz="1050" i="1" spc="-10" dirty="0">
                <a:solidFill>
                  <a:srgbClr val="898E8B"/>
                </a:solidFill>
                <a:latin typeface="Calibri"/>
                <a:cs typeface="Calibri"/>
              </a:rPr>
              <a:t>Risks</a:t>
            </a:r>
            <a:r>
              <a:rPr sz="1050" i="1" spc="-20" dirty="0">
                <a:solidFill>
                  <a:srgbClr val="898E8B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898E8B"/>
                </a:solidFill>
                <a:latin typeface="Calibri"/>
                <a:cs typeface="Calibri"/>
              </a:rPr>
              <a:t>(slide</a:t>
            </a:r>
            <a:r>
              <a:rPr sz="1050" i="1" spc="-25" dirty="0">
                <a:solidFill>
                  <a:srgbClr val="898E8B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898E8B"/>
                </a:solidFill>
                <a:latin typeface="Calibri"/>
                <a:cs typeface="Calibri"/>
              </a:rPr>
              <a:t>10)</a:t>
            </a:r>
            <a:r>
              <a:rPr sz="1050" i="1" spc="-20" dirty="0">
                <a:solidFill>
                  <a:srgbClr val="898E8B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898E8B"/>
                </a:solidFill>
                <a:latin typeface="Calibri"/>
                <a:cs typeface="Calibri"/>
              </a:rPr>
              <a:t>for</a:t>
            </a:r>
            <a:r>
              <a:rPr sz="1050" i="1" spc="-15" dirty="0">
                <a:solidFill>
                  <a:srgbClr val="898E8B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898E8B"/>
                </a:solidFill>
                <a:latin typeface="Calibri"/>
                <a:cs typeface="Calibri"/>
              </a:rPr>
              <a:t>validation</a:t>
            </a:r>
            <a:r>
              <a:rPr sz="1050" i="1" spc="-25" dirty="0">
                <a:solidFill>
                  <a:srgbClr val="898E8B"/>
                </a:solidFill>
                <a:latin typeface="Calibri"/>
                <a:cs typeface="Calibri"/>
              </a:rPr>
              <a:t> </a:t>
            </a:r>
            <a:r>
              <a:rPr sz="1050" i="1" spc="-10" dirty="0">
                <a:solidFill>
                  <a:srgbClr val="898E8B"/>
                </a:solidFill>
                <a:latin typeface="Calibri"/>
                <a:cs typeface="Calibri"/>
              </a:rPr>
              <a:t>plan.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Current</a:t>
            </a:r>
            <a:r>
              <a:rPr sz="2800" spc="-130" dirty="0"/>
              <a:t> </a:t>
            </a:r>
            <a:r>
              <a:rPr sz="2800" spc="-10" dirty="0"/>
              <a:t>Status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535584" y="1282230"/>
            <a:ext cx="4043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494949"/>
                </a:solidFill>
                <a:latin typeface="Calibri"/>
                <a:cs typeface="Calibri"/>
              </a:rPr>
              <a:t>This</a:t>
            </a:r>
            <a:r>
              <a:rPr sz="1600" spc="-4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94949"/>
                </a:solidFill>
                <a:latin typeface="Calibri"/>
                <a:cs typeface="Calibri"/>
              </a:rPr>
              <a:t>isn't</a:t>
            </a:r>
            <a:r>
              <a:rPr sz="1600" spc="-4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94949"/>
                </a:solidFill>
                <a:latin typeface="Calibri"/>
                <a:cs typeface="Calibri"/>
              </a:rPr>
              <a:t>a</a:t>
            </a:r>
            <a:r>
              <a:rPr sz="1600" spc="-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94949"/>
                </a:solidFill>
                <a:latin typeface="Calibri"/>
                <a:cs typeface="Calibri"/>
              </a:rPr>
              <a:t>concept.</a:t>
            </a:r>
            <a:r>
              <a:rPr sz="1600" spc="-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94949"/>
                </a:solidFill>
                <a:latin typeface="Calibri"/>
                <a:cs typeface="Calibri"/>
              </a:rPr>
              <a:t>Most</a:t>
            </a:r>
            <a:r>
              <a:rPr sz="1600" spc="-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94949"/>
                </a:solidFill>
                <a:latin typeface="Calibri"/>
                <a:cs typeface="Calibri"/>
              </a:rPr>
              <a:t>of</a:t>
            </a:r>
            <a:r>
              <a:rPr sz="1600" spc="-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94949"/>
                </a:solidFill>
                <a:latin typeface="Calibri"/>
                <a:cs typeface="Calibri"/>
              </a:rPr>
              <a:t>it</a:t>
            </a:r>
            <a:r>
              <a:rPr sz="1600" spc="-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94949"/>
                </a:solidFill>
                <a:latin typeface="Calibri"/>
                <a:cs typeface="Calibri"/>
              </a:rPr>
              <a:t>is</a:t>
            </a:r>
            <a:r>
              <a:rPr sz="1600" spc="-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94949"/>
                </a:solidFill>
                <a:latin typeface="Calibri"/>
                <a:cs typeface="Calibri"/>
              </a:rPr>
              <a:t>already</a:t>
            </a:r>
            <a:r>
              <a:rPr sz="1600" spc="-4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94949"/>
                </a:solidFill>
                <a:latin typeface="Calibri"/>
                <a:cs typeface="Calibri"/>
              </a:rPr>
              <a:t>running.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8640" y="2148484"/>
            <a:ext cx="594360" cy="594360"/>
            <a:chOff x="548640" y="2148484"/>
            <a:chExt cx="594360" cy="594360"/>
          </a:xfrm>
        </p:grpSpPr>
        <p:sp>
          <p:nvSpPr>
            <p:cNvPr id="5" name="object 5"/>
            <p:cNvSpPr/>
            <p:nvPr/>
          </p:nvSpPr>
          <p:spPr>
            <a:xfrm>
              <a:off x="548640" y="2148484"/>
              <a:ext cx="594360" cy="594360"/>
            </a:xfrm>
            <a:custGeom>
              <a:avLst/>
              <a:gdLst/>
              <a:ahLst/>
              <a:cxnLst/>
              <a:rect l="l" t="t" r="r" b="b"/>
              <a:pathLst>
                <a:path w="594360" h="594360">
                  <a:moveTo>
                    <a:pt x="297357" y="0"/>
                  </a:moveTo>
                  <a:lnTo>
                    <a:pt x="258433" y="2597"/>
                  </a:lnTo>
                  <a:lnTo>
                    <a:pt x="220318" y="10256"/>
                  </a:lnTo>
                  <a:lnTo>
                    <a:pt x="183552" y="22776"/>
                  </a:lnTo>
                  <a:lnTo>
                    <a:pt x="148678" y="39954"/>
                  </a:lnTo>
                  <a:lnTo>
                    <a:pt x="116197" y="61698"/>
                  </a:lnTo>
                  <a:lnTo>
                    <a:pt x="87025" y="87291"/>
                  </a:lnTo>
                  <a:lnTo>
                    <a:pt x="61498" y="116397"/>
                  </a:lnTo>
                  <a:lnTo>
                    <a:pt x="39954" y="148678"/>
                  </a:lnTo>
                  <a:lnTo>
                    <a:pt x="22626" y="183702"/>
                  </a:lnTo>
                  <a:lnTo>
                    <a:pt x="10123" y="220451"/>
                  </a:lnTo>
                  <a:lnTo>
                    <a:pt x="2547" y="258483"/>
                  </a:lnTo>
                  <a:lnTo>
                    <a:pt x="0" y="297357"/>
                  </a:lnTo>
                  <a:lnTo>
                    <a:pt x="2547" y="336230"/>
                  </a:lnTo>
                  <a:lnTo>
                    <a:pt x="10123" y="374259"/>
                  </a:lnTo>
                  <a:lnTo>
                    <a:pt x="22626" y="411007"/>
                  </a:lnTo>
                  <a:lnTo>
                    <a:pt x="39954" y="446036"/>
                  </a:lnTo>
                  <a:lnTo>
                    <a:pt x="61498" y="478310"/>
                  </a:lnTo>
                  <a:lnTo>
                    <a:pt x="87025" y="507414"/>
                  </a:lnTo>
                  <a:lnTo>
                    <a:pt x="116197" y="533010"/>
                  </a:lnTo>
                  <a:lnTo>
                    <a:pt x="148678" y="554761"/>
                  </a:lnTo>
                  <a:lnTo>
                    <a:pt x="183552" y="571878"/>
                  </a:lnTo>
                  <a:lnTo>
                    <a:pt x="220318" y="584276"/>
                  </a:lnTo>
                  <a:lnTo>
                    <a:pt x="258433" y="591816"/>
                  </a:lnTo>
                  <a:lnTo>
                    <a:pt x="297357" y="594359"/>
                  </a:lnTo>
                  <a:lnTo>
                    <a:pt x="336076" y="591816"/>
                  </a:lnTo>
                  <a:lnTo>
                    <a:pt x="374086" y="584276"/>
                  </a:lnTo>
                  <a:lnTo>
                    <a:pt x="410813" y="571878"/>
                  </a:lnTo>
                  <a:lnTo>
                    <a:pt x="445681" y="554761"/>
                  </a:lnTo>
                  <a:lnTo>
                    <a:pt x="478162" y="533010"/>
                  </a:lnTo>
                  <a:lnTo>
                    <a:pt x="507334" y="507414"/>
                  </a:lnTo>
                  <a:lnTo>
                    <a:pt x="532861" y="478310"/>
                  </a:lnTo>
                  <a:lnTo>
                    <a:pt x="554405" y="446036"/>
                  </a:lnTo>
                  <a:lnTo>
                    <a:pt x="571733" y="411007"/>
                  </a:lnTo>
                  <a:lnTo>
                    <a:pt x="584236" y="374259"/>
                  </a:lnTo>
                  <a:lnTo>
                    <a:pt x="591812" y="336230"/>
                  </a:lnTo>
                  <a:lnTo>
                    <a:pt x="594360" y="297357"/>
                  </a:lnTo>
                  <a:lnTo>
                    <a:pt x="591812" y="258483"/>
                  </a:lnTo>
                  <a:lnTo>
                    <a:pt x="584236" y="220451"/>
                  </a:lnTo>
                  <a:lnTo>
                    <a:pt x="571733" y="183702"/>
                  </a:lnTo>
                  <a:lnTo>
                    <a:pt x="554405" y="148678"/>
                  </a:lnTo>
                  <a:lnTo>
                    <a:pt x="532861" y="116397"/>
                  </a:lnTo>
                  <a:lnTo>
                    <a:pt x="507334" y="87291"/>
                  </a:lnTo>
                  <a:lnTo>
                    <a:pt x="478162" y="61698"/>
                  </a:lnTo>
                  <a:lnTo>
                    <a:pt x="445681" y="39954"/>
                  </a:lnTo>
                  <a:lnTo>
                    <a:pt x="410813" y="22776"/>
                  </a:lnTo>
                  <a:lnTo>
                    <a:pt x="374086" y="10256"/>
                  </a:lnTo>
                  <a:lnTo>
                    <a:pt x="336076" y="2597"/>
                  </a:lnTo>
                  <a:lnTo>
                    <a:pt x="297357" y="0"/>
                  </a:lnTo>
                  <a:close/>
                </a:path>
              </a:pathLst>
            </a:custGeom>
            <a:solidFill>
              <a:srgbClr val="0AB5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 descr="icons/check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3084" y="2302916"/>
              <a:ext cx="284759" cy="28475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358544" y="2319375"/>
            <a:ext cx="3756660" cy="262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spc="-10" dirty="0">
                <a:latin typeface="Calibri"/>
                <a:cs typeface="Calibri"/>
              </a:rPr>
              <a:t>Backend</a:t>
            </a:r>
            <a:r>
              <a:rPr sz="1550" spc="-3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platform</a:t>
            </a:r>
            <a:r>
              <a:rPr sz="1550" spc="-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-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prediction</a:t>
            </a:r>
            <a:r>
              <a:rPr sz="1550" spc="-3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engine</a:t>
            </a:r>
            <a:r>
              <a:rPr sz="1550" spc="-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—</a:t>
            </a:r>
            <a:r>
              <a:rPr sz="1550" spc="-35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live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48640" y="3017520"/>
            <a:ext cx="594360" cy="594360"/>
            <a:chOff x="548640" y="3017520"/>
            <a:chExt cx="594360" cy="594360"/>
          </a:xfrm>
        </p:grpSpPr>
        <p:sp>
          <p:nvSpPr>
            <p:cNvPr id="9" name="object 9"/>
            <p:cNvSpPr/>
            <p:nvPr/>
          </p:nvSpPr>
          <p:spPr>
            <a:xfrm>
              <a:off x="548640" y="3017520"/>
              <a:ext cx="594360" cy="594360"/>
            </a:xfrm>
            <a:custGeom>
              <a:avLst/>
              <a:gdLst/>
              <a:ahLst/>
              <a:cxnLst/>
              <a:rect l="l" t="t" r="r" b="b"/>
              <a:pathLst>
                <a:path w="594360" h="594360">
                  <a:moveTo>
                    <a:pt x="297357" y="0"/>
                  </a:moveTo>
                  <a:lnTo>
                    <a:pt x="258433" y="2542"/>
                  </a:lnTo>
                  <a:lnTo>
                    <a:pt x="220318" y="10079"/>
                  </a:lnTo>
                  <a:lnTo>
                    <a:pt x="183552" y="22476"/>
                  </a:lnTo>
                  <a:lnTo>
                    <a:pt x="148678" y="39598"/>
                  </a:lnTo>
                  <a:lnTo>
                    <a:pt x="116197" y="61342"/>
                  </a:lnTo>
                  <a:lnTo>
                    <a:pt x="87025" y="86936"/>
                  </a:lnTo>
                  <a:lnTo>
                    <a:pt x="61498" y="116042"/>
                  </a:lnTo>
                  <a:lnTo>
                    <a:pt x="39954" y="148323"/>
                  </a:lnTo>
                  <a:lnTo>
                    <a:pt x="22626" y="183346"/>
                  </a:lnTo>
                  <a:lnTo>
                    <a:pt x="10123" y="220095"/>
                  </a:lnTo>
                  <a:lnTo>
                    <a:pt x="2547" y="258128"/>
                  </a:lnTo>
                  <a:lnTo>
                    <a:pt x="0" y="297002"/>
                  </a:lnTo>
                  <a:lnTo>
                    <a:pt x="2547" y="335874"/>
                  </a:lnTo>
                  <a:lnTo>
                    <a:pt x="10123" y="373903"/>
                  </a:lnTo>
                  <a:lnTo>
                    <a:pt x="22626" y="410652"/>
                  </a:lnTo>
                  <a:lnTo>
                    <a:pt x="39954" y="445681"/>
                  </a:lnTo>
                  <a:lnTo>
                    <a:pt x="61498" y="477955"/>
                  </a:lnTo>
                  <a:lnTo>
                    <a:pt x="87025" y="507058"/>
                  </a:lnTo>
                  <a:lnTo>
                    <a:pt x="116197" y="532654"/>
                  </a:lnTo>
                  <a:lnTo>
                    <a:pt x="148678" y="554405"/>
                  </a:lnTo>
                  <a:lnTo>
                    <a:pt x="183552" y="571578"/>
                  </a:lnTo>
                  <a:lnTo>
                    <a:pt x="220318" y="584098"/>
                  </a:lnTo>
                  <a:lnTo>
                    <a:pt x="258433" y="591760"/>
                  </a:lnTo>
                  <a:lnTo>
                    <a:pt x="297357" y="594359"/>
                  </a:lnTo>
                  <a:lnTo>
                    <a:pt x="336076" y="591760"/>
                  </a:lnTo>
                  <a:lnTo>
                    <a:pt x="374086" y="584098"/>
                  </a:lnTo>
                  <a:lnTo>
                    <a:pt x="410813" y="571578"/>
                  </a:lnTo>
                  <a:lnTo>
                    <a:pt x="445681" y="554405"/>
                  </a:lnTo>
                  <a:lnTo>
                    <a:pt x="478162" y="532654"/>
                  </a:lnTo>
                  <a:lnTo>
                    <a:pt x="507334" y="507058"/>
                  </a:lnTo>
                  <a:lnTo>
                    <a:pt x="532861" y="477955"/>
                  </a:lnTo>
                  <a:lnTo>
                    <a:pt x="554405" y="445681"/>
                  </a:lnTo>
                  <a:lnTo>
                    <a:pt x="571733" y="410652"/>
                  </a:lnTo>
                  <a:lnTo>
                    <a:pt x="584236" y="373903"/>
                  </a:lnTo>
                  <a:lnTo>
                    <a:pt x="591812" y="335874"/>
                  </a:lnTo>
                  <a:lnTo>
                    <a:pt x="594360" y="297002"/>
                  </a:lnTo>
                  <a:lnTo>
                    <a:pt x="591812" y="258128"/>
                  </a:lnTo>
                  <a:lnTo>
                    <a:pt x="584236" y="220095"/>
                  </a:lnTo>
                  <a:lnTo>
                    <a:pt x="571733" y="183346"/>
                  </a:lnTo>
                  <a:lnTo>
                    <a:pt x="554405" y="148323"/>
                  </a:lnTo>
                  <a:lnTo>
                    <a:pt x="532861" y="116042"/>
                  </a:lnTo>
                  <a:lnTo>
                    <a:pt x="507334" y="86936"/>
                  </a:lnTo>
                  <a:lnTo>
                    <a:pt x="478162" y="61342"/>
                  </a:lnTo>
                  <a:lnTo>
                    <a:pt x="445681" y="39598"/>
                  </a:lnTo>
                  <a:lnTo>
                    <a:pt x="410813" y="22476"/>
                  </a:lnTo>
                  <a:lnTo>
                    <a:pt x="374086" y="10079"/>
                  </a:lnTo>
                  <a:lnTo>
                    <a:pt x="336076" y="2542"/>
                  </a:lnTo>
                  <a:lnTo>
                    <a:pt x="297357" y="0"/>
                  </a:lnTo>
                  <a:close/>
                </a:path>
              </a:pathLst>
            </a:custGeom>
            <a:solidFill>
              <a:srgbClr val="0AB5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 descr="icons/check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3084" y="3171596"/>
              <a:ext cx="284759" cy="28475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358544" y="3188055"/>
            <a:ext cx="4495800" cy="262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dirty="0">
                <a:latin typeface="Calibri"/>
                <a:cs typeface="Calibri"/>
              </a:rPr>
              <a:t>Web</a:t>
            </a:r>
            <a:r>
              <a:rPr sz="1550" spc="-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dashboard</a:t>
            </a:r>
            <a:r>
              <a:rPr sz="1550" spc="-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for</a:t>
            </a:r>
            <a:r>
              <a:rPr sz="1550" spc="-4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cooperative</a:t>
            </a:r>
            <a:r>
              <a:rPr sz="1550" spc="-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-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logistics</a:t>
            </a:r>
            <a:r>
              <a:rPr sz="1550" spc="-5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staff</a:t>
            </a:r>
            <a:r>
              <a:rPr sz="1550" spc="-5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—</a:t>
            </a:r>
            <a:r>
              <a:rPr sz="1550" spc="-45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live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48640" y="3886200"/>
            <a:ext cx="594360" cy="594360"/>
            <a:chOff x="548640" y="3886200"/>
            <a:chExt cx="594360" cy="594360"/>
          </a:xfrm>
        </p:grpSpPr>
        <p:sp>
          <p:nvSpPr>
            <p:cNvPr id="13" name="object 13"/>
            <p:cNvSpPr/>
            <p:nvPr/>
          </p:nvSpPr>
          <p:spPr>
            <a:xfrm>
              <a:off x="548640" y="3886200"/>
              <a:ext cx="594360" cy="594360"/>
            </a:xfrm>
            <a:custGeom>
              <a:avLst/>
              <a:gdLst/>
              <a:ahLst/>
              <a:cxnLst/>
              <a:rect l="l" t="t" r="r" b="b"/>
              <a:pathLst>
                <a:path w="594360" h="594360">
                  <a:moveTo>
                    <a:pt x="297357" y="0"/>
                  </a:moveTo>
                  <a:lnTo>
                    <a:pt x="258433" y="2542"/>
                  </a:lnTo>
                  <a:lnTo>
                    <a:pt x="220318" y="10079"/>
                  </a:lnTo>
                  <a:lnTo>
                    <a:pt x="183552" y="22476"/>
                  </a:lnTo>
                  <a:lnTo>
                    <a:pt x="148678" y="39598"/>
                  </a:lnTo>
                  <a:lnTo>
                    <a:pt x="116197" y="61342"/>
                  </a:lnTo>
                  <a:lnTo>
                    <a:pt x="87025" y="86936"/>
                  </a:lnTo>
                  <a:lnTo>
                    <a:pt x="61498" y="116042"/>
                  </a:lnTo>
                  <a:lnTo>
                    <a:pt x="39954" y="148323"/>
                  </a:lnTo>
                  <a:lnTo>
                    <a:pt x="22626" y="183346"/>
                  </a:lnTo>
                  <a:lnTo>
                    <a:pt x="10123" y="220095"/>
                  </a:lnTo>
                  <a:lnTo>
                    <a:pt x="2547" y="258128"/>
                  </a:lnTo>
                  <a:lnTo>
                    <a:pt x="0" y="297002"/>
                  </a:lnTo>
                  <a:lnTo>
                    <a:pt x="2547" y="335874"/>
                  </a:lnTo>
                  <a:lnTo>
                    <a:pt x="10123" y="373903"/>
                  </a:lnTo>
                  <a:lnTo>
                    <a:pt x="22626" y="410652"/>
                  </a:lnTo>
                  <a:lnTo>
                    <a:pt x="39954" y="445681"/>
                  </a:lnTo>
                  <a:lnTo>
                    <a:pt x="61498" y="477955"/>
                  </a:lnTo>
                  <a:lnTo>
                    <a:pt x="87025" y="507058"/>
                  </a:lnTo>
                  <a:lnTo>
                    <a:pt x="116197" y="532654"/>
                  </a:lnTo>
                  <a:lnTo>
                    <a:pt x="148678" y="554405"/>
                  </a:lnTo>
                  <a:lnTo>
                    <a:pt x="183552" y="571578"/>
                  </a:lnTo>
                  <a:lnTo>
                    <a:pt x="220318" y="584098"/>
                  </a:lnTo>
                  <a:lnTo>
                    <a:pt x="258433" y="591760"/>
                  </a:lnTo>
                  <a:lnTo>
                    <a:pt x="297357" y="594360"/>
                  </a:lnTo>
                  <a:lnTo>
                    <a:pt x="336076" y="591760"/>
                  </a:lnTo>
                  <a:lnTo>
                    <a:pt x="374086" y="584098"/>
                  </a:lnTo>
                  <a:lnTo>
                    <a:pt x="410813" y="571578"/>
                  </a:lnTo>
                  <a:lnTo>
                    <a:pt x="445681" y="554405"/>
                  </a:lnTo>
                  <a:lnTo>
                    <a:pt x="478162" y="532654"/>
                  </a:lnTo>
                  <a:lnTo>
                    <a:pt x="507334" y="507058"/>
                  </a:lnTo>
                  <a:lnTo>
                    <a:pt x="532861" y="477955"/>
                  </a:lnTo>
                  <a:lnTo>
                    <a:pt x="554405" y="445681"/>
                  </a:lnTo>
                  <a:lnTo>
                    <a:pt x="571733" y="410652"/>
                  </a:lnTo>
                  <a:lnTo>
                    <a:pt x="584236" y="373903"/>
                  </a:lnTo>
                  <a:lnTo>
                    <a:pt x="591812" y="335874"/>
                  </a:lnTo>
                  <a:lnTo>
                    <a:pt x="594360" y="297002"/>
                  </a:lnTo>
                  <a:lnTo>
                    <a:pt x="591812" y="258128"/>
                  </a:lnTo>
                  <a:lnTo>
                    <a:pt x="584236" y="220095"/>
                  </a:lnTo>
                  <a:lnTo>
                    <a:pt x="571733" y="183346"/>
                  </a:lnTo>
                  <a:lnTo>
                    <a:pt x="554405" y="148323"/>
                  </a:lnTo>
                  <a:lnTo>
                    <a:pt x="532861" y="116042"/>
                  </a:lnTo>
                  <a:lnTo>
                    <a:pt x="507334" y="86936"/>
                  </a:lnTo>
                  <a:lnTo>
                    <a:pt x="478162" y="61342"/>
                  </a:lnTo>
                  <a:lnTo>
                    <a:pt x="445681" y="39598"/>
                  </a:lnTo>
                  <a:lnTo>
                    <a:pt x="410813" y="22476"/>
                  </a:lnTo>
                  <a:lnTo>
                    <a:pt x="374086" y="10079"/>
                  </a:lnTo>
                  <a:lnTo>
                    <a:pt x="336076" y="2542"/>
                  </a:lnTo>
                  <a:lnTo>
                    <a:pt x="297357" y="0"/>
                  </a:lnTo>
                  <a:close/>
                </a:path>
              </a:pathLst>
            </a:custGeom>
            <a:solidFill>
              <a:srgbClr val="B6BC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 descr="icons/mobile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3084" y="4040276"/>
              <a:ext cx="284759" cy="28475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358544" y="4056735"/>
            <a:ext cx="3571240" cy="262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spc="-10" dirty="0">
                <a:latin typeface="Calibri"/>
                <a:cs typeface="Calibri"/>
              </a:rPr>
              <a:t>Farmer</a:t>
            </a:r>
            <a:r>
              <a:rPr sz="1550" spc="-3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mobile</a:t>
            </a:r>
            <a:r>
              <a:rPr sz="1550" spc="-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app</a:t>
            </a:r>
            <a:r>
              <a:rPr sz="1550" spc="-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—</a:t>
            </a:r>
            <a:r>
              <a:rPr sz="1550" spc="-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in</a:t>
            </a:r>
            <a:r>
              <a:rPr sz="1550" spc="-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active</a:t>
            </a:r>
            <a:r>
              <a:rPr sz="1550" spc="-2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development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48640" y="4754524"/>
            <a:ext cx="594360" cy="594360"/>
            <a:chOff x="548640" y="4754524"/>
            <a:chExt cx="594360" cy="594360"/>
          </a:xfrm>
        </p:grpSpPr>
        <p:sp>
          <p:nvSpPr>
            <p:cNvPr id="17" name="object 17"/>
            <p:cNvSpPr/>
            <p:nvPr/>
          </p:nvSpPr>
          <p:spPr>
            <a:xfrm>
              <a:off x="548640" y="4754524"/>
              <a:ext cx="594360" cy="594360"/>
            </a:xfrm>
            <a:custGeom>
              <a:avLst/>
              <a:gdLst/>
              <a:ahLst/>
              <a:cxnLst/>
              <a:rect l="l" t="t" r="r" b="b"/>
              <a:pathLst>
                <a:path w="594360" h="594360">
                  <a:moveTo>
                    <a:pt x="297357" y="0"/>
                  </a:moveTo>
                  <a:lnTo>
                    <a:pt x="258433" y="2597"/>
                  </a:lnTo>
                  <a:lnTo>
                    <a:pt x="220318" y="10256"/>
                  </a:lnTo>
                  <a:lnTo>
                    <a:pt x="183552" y="22776"/>
                  </a:lnTo>
                  <a:lnTo>
                    <a:pt x="148678" y="39954"/>
                  </a:lnTo>
                  <a:lnTo>
                    <a:pt x="116197" y="61698"/>
                  </a:lnTo>
                  <a:lnTo>
                    <a:pt x="87025" y="87291"/>
                  </a:lnTo>
                  <a:lnTo>
                    <a:pt x="61498" y="116397"/>
                  </a:lnTo>
                  <a:lnTo>
                    <a:pt x="39954" y="148678"/>
                  </a:lnTo>
                  <a:lnTo>
                    <a:pt x="22626" y="183702"/>
                  </a:lnTo>
                  <a:lnTo>
                    <a:pt x="10123" y="220451"/>
                  </a:lnTo>
                  <a:lnTo>
                    <a:pt x="2547" y="258483"/>
                  </a:lnTo>
                  <a:lnTo>
                    <a:pt x="0" y="297357"/>
                  </a:lnTo>
                  <a:lnTo>
                    <a:pt x="2547" y="336230"/>
                  </a:lnTo>
                  <a:lnTo>
                    <a:pt x="10123" y="374259"/>
                  </a:lnTo>
                  <a:lnTo>
                    <a:pt x="22626" y="411007"/>
                  </a:lnTo>
                  <a:lnTo>
                    <a:pt x="39954" y="446036"/>
                  </a:lnTo>
                  <a:lnTo>
                    <a:pt x="61498" y="478310"/>
                  </a:lnTo>
                  <a:lnTo>
                    <a:pt x="87025" y="507414"/>
                  </a:lnTo>
                  <a:lnTo>
                    <a:pt x="116197" y="533010"/>
                  </a:lnTo>
                  <a:lnTo>
                    <a:pt x="148678" y="554761"/>
                  </a:lnTo>
                  <a:lnTo>
                    <a:pt x="183552" y="571878"/>
                  </a:lnTo>
                  <a:lnTo>
                    <a:pt x="220318" y="584276"/>
                  </a:lnTo>
                  <a:lnTo>
                    <a:pt x="258433" y="591816"/>
                  </a:lnTo>
                  <a:lnTo>
                    <a:pt x="297357" y="594359"/>
                  </a:lnTo>
                  <a:lnTo>
                    <a:pt x="336076" y="591816"/>
                  </a:lnTo>
                  <a:lnTo>
                    <a:pt x="374086" y="584276"/>
                  </a:lnTo>
                  <a:lnTo>
                    <a:pt x="410813" y="571878"/>
                  </a:lnTo>
                  <a:lnTo>
                    <a:pt x="445681" y="554761"/>
                  </a:lnTo>
                  <a:lnTo>
                    <a:pt x="478162" y="533010"/>
                  </a:lnTo>
                  <a:lnTo>
                    <a:pt x="507334" y="507414"/>
                  </a:lnTo>
                  <a:lnTo>
                    <a:pt x="532861" y="478310"/>
                  </a:lnTo>
                  <a:lnTo>
                    <a:pt x="554405" y="446036"/>
                  </a:lnTo>
                  <a:lnTo>
                    <a:pt x="571733" y="411007"/>
                  </a:lnTo>
                  <a:lnTo>
                    <a:pt x="584236" y="374259"/>
                  </a:lnTo>
                  <a:lnTo>
                    <a:pt x="591812" y="336230"/>
                  </a:lnTo>
                  <a:lnTo>
                    <a:pt x="594360" y="297357"/>
                  </a:lnTo>
                  <a:lnTo>
                    <a:pt x="591812" y="258483"/>
                  </a:lnTo>
                  <a:lnTo>
                    <a:pt x="584236" y="220451"/>
                  </a:lnTo>
                  <a:lnTo>
                    <a:pt x="571733" y="183702"/>
                  </a:lnTo>
                  <a:lnTo>
                    <a:pt x="554405" y="148678"/>
                  </a:lnTo>
                  <a:lnTo>
                    <a:pt x="532861" y="116397"/>
                  </a:lnTo>
                  <a:lnTo>
                    <a:pt x="507334" y="87291"/>
                  </a:lnTo>
                  <a:lnTo>
                    <a:pt x="478162" y="61698"/>
                  </a:lnTo>
                  <a:lnTo>
                    <a:pt x="445681" y="39954"/>
                  </a:lnTo>
                  <a:lnTo>
                    <a:pt x="410813" y="22776"/>
                  </a:lnTo>
                  <a:lnTo>
                    <a:pt x="374086" y="10256"/>
                  </a:lnTo>
                  <a:lnTo>
                    <a:pt x="336076" y="2597"/>
                  </a:lnTo>
                  <a:lnTo>
                    <a:pt x="297357" y="0"/>
                  </a:lnTo>
                  <a:close/>
                </a:path>
              </a:pathLst>
            </a:custGeom>
            <a:solidFill>
              <a:srgbClr val="B6BC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 descr="icons/sms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3084" y="4908956"/>
              <a:ext cx="284759" cy="284759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358544" y="4925415"/>
            <a:ext cx="4293235" cy="262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spc="-60" dirty="0">
                <a:latin typeface="Calibri"/>
                <a:cs typeface="Calibri"/>
              </a:rPr>
              <a:t>Text-</a:t>
            </a:r>
            <a:r>
              <a:rPr sz="1550" dirty="0">
                <a:latin typeface="Calibri"/>
                <a:cs typeface="Calibri"/>
              </a:rPr>
              <a:t>message</a:t>
            </a:r>
            <a:r>
              <a:rPr sz="1550" spc="-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channel</a:t>
            </a:r>
            <a:r>
              <a:rPr sz="1550" spc="-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—</a:t>
            </a:r>
            <a:r>
              <a:rPr sz="1550" spc="-1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designed,</a:t>
            </a:r>
            <a:r>
              <a:rPr sz="1550" spc="-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build</a:t>
            </a:r>
            <a:r>
              <a:rPr sz="1550" spc="-2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starting</a:t>
            </a:r>
            <a:r>
              <a:rPr sz="1550" spc="-15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next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48284" y="5623559"/>
            <a:ext cx="11064240" cy="777240"/>
          </a:xfrm>
          <a:custGeom>
            <a:avLst/>
            <a:gdLst/>
            <a:ahLst/>
            <a:cxnLst/>
            <a:rect l="l" t="t" r="r" b="b"/>
            <a:pathLst>
              <a:path w="11064240" h="777239">
                <a:moveTo>
                  <a:pt x="10972431" y="0"/>
                </a:moveTo>
                <a:lnTo>
                  <a:pt x="91440" y="0"/>
                </a:lnTo>
                <a:lnTo>
                  <a:pt x="79433" y="798"/>
                </a:lnTo>
                <a:lnTo>
                  <a:pt x="35675" y="18836"/>
                </a:lnTo>
                <a:lnTo>
                  <a:pt x="6981" y="56510"/>
                </a:lnTo>
                <a:lnTo>
                  <a:pt x="0" y="91439"/>
                </a:lnTo>
                <a:lnTo>
                  <a:pt x="0" y="685799"/>
                </a:lnTo>
                <a:lnTo>
                  <a:pt x="774" y="697444"/>
                </a:lnTo>
                <a:lnTo>
                  <a:pt x="798" y="697805"/>
                </a:lnTo>
                <a:lnTo>
                  <a:pt x="3075" y="709109"/>
                </a:lnTo>
                <a:lnTo>
                  <a:pt x="3148" y="709469"/>
                </a:lnTo>
                <a:lnTo>
                  <a:pt x="26679" y="750558"/>
                </a:lnTo>
                <a:lnTo>
                  <a:pt x="67765" y="774090"/>
                </a:lnTo>
                <a:lnTo>
                  <a:pt x="91440" y="777239"/>
                </a:lnTo>
                <a:lnTo>
                  <a:pt x="10972800" y="776884"/>
                </a:lnTo>
                <a:lnTo>
                  <a:pt x="11018520" y="764641"/>
                </a:lnTo>
                <a:lnTo>
                  <a:pt x="11051997" y="731164"/>
                </a:lnTo>
                <a:lnTo>
                  <a:pt x="11060962" y="709469"/>
                </a:lnTo>
                <a:lnTo>
                  <a:pt x="11061085" y="709109"/>
                </a:lnTo>
                <a:lnTo>
                  <a:pt x="11063366" y="697805"/>
                </a:lnTo>
                <a:lnTo>
                  <a:pt x="11063439" y="697444"/>
                </a:lnTo>
                <a:lnTo>
                  <a:pt x="11064216" y="685799"/>
                </a:lnTo>
                <a:lnTo>
                  <a:pt x="11064240" y="685444"/>
                </a:lnTo>
                <a:lnTo>
                  <a:pt x="11063871" y="91439"/>
                </a:lnTo>
                <a:lnTo>
                  <a:pt x="11051641" y="45719"/>
                </a:lnTo>
                <a:lnTo>
                  <a:pt x="11018151" y="12242"/>
                </a:lnTo>
                <a:lnTo>
                  <a:pt x="10984438" y="798"/>
                </a:lnTo>
                <a:lnTo>
                  <a:pt x="10972431" y="0"/>
                </a:lnTo>
                <a:close/>
              </a:path>
            </a:pathLst>
          </a:custGeom>
          <a:solidFill>
            <a:srgbClr val="E9F7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09904" y="5816409"/>
            <a:ext cx="10502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79094"/>
                </a:solidFill>
                <a:latin typeface="Calibri"/>
                <a:cs typeface="Calibri"/>
              </a:rPr>
              <a:t>Honest</a:t>
            </a:r>
            <a:r>
              <a:rPr sz="1200" b="1" spc="-20" dirty="0">
                <a:solidFill>
                  <a:srgbClr val="079094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79094"/>
                </a:solidFill>
                <a:latin typeface="Calibri"/>
                <a:cs typeface="Calibri"/>
              </a:rPr>
              <a:t>caveat:</a:t>
            </a:r>
            <a:r>
              <a:rPr sz="1200" b="1" spc="260" dirty="0">
                <a:solidFill>
                  <a:srgbClr val="079094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94949"/>
                </a:solidFill>
                <a:latin typeface="Calibri"/>
                <a:cs typeface="Calibri"/>
              </a:rPr>
              <a:t>the</a:t>
            </a:r>
            <a:r>
              <a:rPr sz="1200" spc="-2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494949"/>
                </a:solidFill>
                <a:latin typeface="Calibri"/>
                <a:cs typeface="Calibri"/>
              </a:rPr>
              <a:t>prediction</a:t>
            </a:r>
            <a:r>
              <a:rPr sz="1200" spc="-1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94949"/>
                </a:solidFill>
                <a:latin typeface="Calibri"/>
                <a:cs typeface="Calibri"/>
              </a:rPr>
              <a:t>model</a:t>
            </a:r>
            <a:r>
              <a:rPr sz="1200" spc="-1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94949"/>
                </a:solidFill>
                <a:latin typeface="Calibri"/>
                <a:cs typeface="Calibri"/>
              </a:rPr>
              <a:t>is</a:t>
            </a:r>
            <a:r>
              <a:rPr sz="1200" spc="-2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94949"/>
                </a:solidFill>
                <a:latin typeface="Calibri"/>
                <a:cs typeface="Calibri"/>
              </a:rPr>
              <a:t>currently</a:t>
            </a:r>
            <a:r>
              <a:rPr sz="1200" spc="-10" dirty="0">
                <a:solidFill>
                  <a:srgbClr val="494949"/>
                </a:solidFill>
                <a:latin typeface="Calibri"/>
                <a:cs typeface="Calibri"/>
              </a:rPr>
              <a:t> calibrated</a:t>
            </a:r>
            <a:r>
              <a:rPr sz="1200" spc="-2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94949"/>
                </a:solidFill>
                <a:latin typeface="Calibri"/>
                <a:cs typeface="Calibri"/>
              </a:rPr>
              <a:t>on</a:t>
            </a:r>
            <a:r>
              <a:rPr sz="1200" spc="-1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494949"/>
                </a:solidFill>
                <a:latin typeface="Calibri"/>
                <a:cs typeface="Calibri"/>
              </a:rPr>
              <a:t>realistic, </a:t>
            </a:r>
            <a:r>
              <a:rPr sz="1200" dirty="0">
                <a:solidFill>
                  <a:srgbClr val="494949"/>
                </a:solidFill>
                <a:latin typeface="Calibri"/>
                <a:cs typeface="Calibri"/>
              </a:rPr>
              <a:t>but</a:t>
            </a:r>
            <a:r>
              <a:rPr sz="1200" spc="-2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494949"/>
                </a:solidFill>
                <a:latin typeface="Calibri"/>
                <a:cs typeface="Calibri"/>
              </a:rPr>
              <a:t>synthetic, </a:t>
            </a:r>
            <a:r>
              <a:rPr sz="1200" dirty="0">
                <a:solidFill>
                  <a:srgbClr val="494949"/>
                </a:solidFill>
                <a:latin typeface="Calibri"/>
                <a:cs typeface="Calibri"/>
              </a:rPr>
              <a:t>data.</a:t>
            </a:r>
            <a:r>
              <a:rPr sz="1200" spc="-1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94949"/>
                </a:solidFill>
                <a:latin typeface="Calibri"/>
                <a:cs typeface="Calibri"/>
              </a:rPr>
              <a:t>It</a:t>
            </a:r>
            <a:r>
              <a:rPr sz="1200" spc="-1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94949"/>
                </a:solidFill>
                <a:latin typeface="Calibri"/>
                <a:cs typeface="Calibri"/>
              </a:rPr>
              <a:t>has</a:t>
            </a:r>
            <a:r>
              <a:rPr sz="1200" spc="-1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94949"/>
                </a:solidFill>
                <a:latin typeface="Calibri"/>
                <a:cs typeface="Calibri"/>
              </a:rPr>
              <a:t>not</a:t>
            </a:r>
            <a:r>
              <a:rPr sz="1200" spc="-1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94949"/>
                </a:solidFill>
                <a:latin typeface="Calibri"/>
                <a:cs typeface="Calibri"/>
              </a:rPr>
              <a:t>yet</a:t>
            </a:r>
            <a:r>
              <a:rPr sz="1200" spc="-2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94949"/>
                </a:solidFill>
                <a:latin typeface="Calibri"/>
                <a:cs typeface="Calibri"/>
              </a:rPr>
              <a:t>been</a:t>
            </a:r>
            <a:r>
              <a:rPr sz="1200" spc="-1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494949"/>
                </a:solidFill>
                <a:latin typeface="Calibri"/>
                <a:cs typeface="Calibri"/>
              </a:rPr>
              <a:t>field-validated</a:t>
            </a:r>
            <a:r>
              <a:rPr sz="1200" spc="-1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94949"/>
                </a:solidFill>
                <a:latin typeface="Calibri"/>
                <a:cs typeface="Calibri"/>
              </a:rPr>
              <a:t>on</a:t>
            </a:r>
            <a:r>
              <a:rPr sz="1200" spc="-2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94949"/>
                </a:solidFill>
                <a:latin typeface="Calibri"/>
                <a:cs typeface="Calibri"/>
              </a:rPr>
              <a:t>this</a:t>
            </a:r>
            <a:r>
              <a:rPr sz="1200" spc="-10" dirty="0">
                <a:solidFill>
                  <a:srgbClr val="494949"/>
                </a:solidFill>
                <a:latin typeface="Calibri"/>
                <a:cs typeface="Calibri"/>
              </a:rPr>
              <a:t> cooperative's </a:t>
            </a:r>
            <a:r>
              <a:rPr sz="1200" dirty="0">
                <a:solidFill>
                  <a:srgbClr val="494949"/>
                </a:solidFill>
                <a:latin typeface="Calibri"/>
                <a:cs typeface="Calibri"/>
              </a:rPr>
              <a:t>own</a:t>
            </a:r>
            <a:r>
              <a:rPr sz="1200" spc="-2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494949"/>
                </a:solidFill>
                <a:latin typeface="Calibri"/>
                <a:cs typeface="Calibri"/>
              </a:rPr>
              <a:t>harvests</a:t>
            </a:r>
            <a:r>
              <a:rPr sz="1200" spc="-2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94949"/>
                </a:solidFill>
                <a:latin typeface="Calibri"/>
                <a:cs typeface="Calibri"/>
              </a:rPr>
              <a:t>—</a:t>
            </a:r>
            <a:r>
              <a:rPr sz="1200" spc="-1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494949"/>
                </a:solidFill>
                <a:latin typeface="Calibri"/>
                <a:cs typeface="Calibri"/>
              </a:rPr>
              <a:t>which </a:t>
            </a:r>
            <a:r>
              <a:rPr sz="1200" dirty="0">
                <a:solidFill>
                  <a:srgbClr val="494949"/>
                </a:solidFill>
                <a:latin typeface="Calibri"/>
                <a:cs typeface="Calibri"/>
              </a:rPr>
              <a:t>is</a:t>
            </a:r>
            <a:r>
              <a:rPr sz="1200" spc="-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494949"/>
                </a:solidFill>
                <a:latin typeface="Calibri"/>
                <a:cs typeface="Calibri"/>
              </a:rPr>
              <a:t>exactly</a:t>
            </a:r>
            <a:r>
              <a:rPr sz="1200" spc="-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94949"/>
                </a:solidFill>
                <a:latin typeface="Calibri"/>
                <a:cs typeface="Calibri"/>
              </a:rPr>
              <a:t>what</a:t>
            </a:r>
            <a:r>
              <a:rPr sz="1200" spc="-1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94949"/>
                </a:solidFill>
                <a:latin typeface="Calibri"/>
                <a:cs typeface="Calibri"/>
              </a:rPr>
              <a:t>the</a:t>
            </a:r>
            <a:r>
              <a:rPr sz="1200" spc="-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94949"/>
                </a:solidFill>
                <a:latin typeface="Calibri"/>
                <a:cs typeface="Calibri"/>
              </a:rPr>
              <a:t>pilot</a:t>
            </a:r>
            <a:r>
              <a:rPr sz="1200" spc="-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94949"/>
                </a:solidFill>
                <a:latin typeface="Calibri"/>
                <a:cs typeface="Calibri"/>
              </a:rPr>
              <a:t>on</a:t>
            </a:r>
            <a:r>
              <a:rPr sz="1200" spc="-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94949"/>
                </a:solidFill>
                <a:latin typeface="Calibri"/>
                <a:cs typeface="Calibri"/>
              </a:rPr>
              <a:t>slide</a:t>
            </a:r>
            <a:r>
              <a:rPr sz="1200" spc="-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94949"/>
                </a:solidFill>
                <a:latin typeface="Calibri"/>
                <a:cs typeface="Calibri"/>
              </a:rPr>
              <a:t>12</a:t>
            </a:r>
            <a:r>
              <a:rPr sz="1200" spc="-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94949"/>
                </a:solidFill>
                <a:latin typeface="Calibri"/>
                <a:cs typeface="Calibri"/>
              </a:rPr>
              <a:t>is</a:t>
            </a:r>
            <a:r>
              <a:rPr sz="1200" spc="-20" dirty="0">
                <a:solidFill>
                  <a:srgbClr val="494949"/>
                </a:solidFill>
                <a:latin typeface="Calibri"/>
                <a:cs typeface="Calibri"/>
              </a:rPr>
              <a:t> for.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Risks</a:t>
            </a:r>
            <a:r>
              <a:rPr spc="-25" dirty="0"/>
              <a:t> </a:t>
            </a:r>
            <a:r>
              <a:rPr dirty="0"/>
              <a:t>&amp;</a:t>
            </a:r>
            <a:r>
              <a:rPr spc="-20" dirty="0"/>
              <a:t> </a:t>
            </a:r>
            <a:r>
              <a:rPr spc="-10" dirty="0"/>
              <a:t>Mitigation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584" y="1282230"/>
            <a:ext cx="346900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494949"/>
                </a:solidFill>
                <a:latin typeface="Calibri"/>
                <a:cs typeface="Calibri"/>
              </a:rPr>
              <a:t>The</a:t>
            </a:r>
            <a:r>
              <a:rPr sz="1600" spc="-5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94949"/>
                </a:solidFill>
                <a:latin typeface="Calibri"/>
                <a:cs typeface="Calibri"/>
              </a:rPr>
              <a:t>two</a:t>
            </a:r>
            <a:r>
              <a:rPr sz="1600" spc="-5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94949"/>
                </a:solidFill>
                <a:latin typeface="Calibri"/>
                <a:cs typeface="Calibri"/>
              </a:rPr>
              <a:t>risks</a:t>
            </a:r>
            <a:r>
              <a:rPr sz="1600" spc="-5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94949"/>
                </a:solidFill>
                <a:latin typeface="Calibri"/>
                <a:cs typeface="Calibri"/>
              </a:rPr>
              <a:t>worth</a:t>
            </a:r>
            <a:r>
              <a:rPr sz="1600" spc="-5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94949"/>
                </a:solidFill>
                <a:latin typeface="Calibri"/>
                <a:cs typeface="Calibri"/>
              </a:rPr>
              <a:t>the</a:t>
            </a:r>
            <a:r>
              <a:rPr sz="1600" spc="-5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94949"/>
                </a:solidFill>
                <a:latin typeface="Calibri"/>
                <a:cs typeface="Calibri"/>
              </a:rPr>
              <a:t>board's</a:t>
            </a:r>
            <a:r>
              <a:rPr sz="1600" spc="-5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94949"/>
                </a:solidFill>
                <a:latin typeface="Calibri"/>
                <a:cs typeface="Calibri"/>
              </a:rPr>
              <a:t>attention.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7916" y="1965604"/>
            <a:ext cx="5121275" cy="3795395"/>
            <a:chOff x="547916" y="1965604"/>
            <a:chExt cx="5121275" cy="3795395"/>
          </a:xfrm>
        </p:grpSpPr>
        <p:sp>
          <p:nvSpPr>
            <p:cNvPr id="5" name="object 5"/>
            <p:cNvSpPr/>
            <p:nvPr/>
          </p:nvSpPr>
          <p:spPr>
            <a:xfrm>
              <a:off x="547916" y="1965604"/>
              <a:ext cx="5121275" cy="3795395"/>
            </a:xfrm>
            <a:custGeom>
              <a:avLst/>
              <a:gdLst/>
              <a:ahLst/>
              <a:cxnLst/>
              <a:rect l="l" t="t" r="r" b="b"/>
              <a:pathLst>
                <a:path w="5121275" h="3795395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3685311"/>
                  </a:lnTo>
                  <a:lnTo>
                    <a:pt x="939" y="3699741"/>
                  </a:lnTo>
                  <a:lnTo>
                    <a:pt x="3736" y="3713799"/>
                  </a:lnTo>
                  <a:lnTo>
                    <a:pt x="8307" y="3727232"/>
                  </a:lnTo>
                  <a:lnTo>
                    <a:pt x="8358" y="3727382"/>
                  </a:lnTo>
                  <a:lnTo>
                    <a:pt x="14770" y="3740391"/>
                  </a:lnTo>
                  <a:lnTo>
                    <a:pt x="22686" y="3752104"/>
                  </a:lnTo>
                  <a:lnTo>
                    <a:pt x="22788" y="3752254"/>
                  </a:lnTo>
                  <a:lnTo>
                    <a:pt x="55079" y="3780358"/>
                  </a:lnTo>
                  <a:lnTo>
                    <a:pt x="95379" y="3794175"/>
                  </a:lnTo>
                  <a:lnTo>
                    <a:pt x="109804" y="3795115"/>
                  </a:lnTo>
                  <a:lnTo>
                    <a:pt x="5011204" y="3795115"/>
                  </a:lnTo>
                  <a:lnTo>
                    <a:pt x="5053275" y="3786762"/>
                  </a:lnTo>
                  <a:lnTo>
                    <a:pt x="5088777" y="3762936"/>
                  </a:lnTo>
                  <a:lnTo>
                    <a:pt x="5112574" y="3727382"/>
                  </a:lnTo>
                  <a:lnTo>
                    <a:pt x="5121008" y="3685311"/>
                  </a:lnTo>
                  <a:lnTo>
                    <a:pt x="5120984" y="109791"/>
                  </a:lnTo>
                  <a:lnTo>
                    <a:pt x="5112650" y="68088"/>
                  </a:lnTo>
                  <a:lnTo>
                    <a:pt x="5088783" y="32534"/>
                  </a:lnTo>
                  <a:lnTo>
                    <a:pt x="5053125" y="8708"/>
                  </a:lnTo>
                  <a:lnTo>
                    <a:pt x="501120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68324" y="2285644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80">
                  <a:moveTo>
                    <a:pt x="320040" y="0"/>
                  </a:moveTo>
                  <a:lnTo>
                    <a:pt x="278207" y="2744"/>
                  </a:lnTo>
                  <a:lnTo>
                    <a:pt x="237285" y="10888"/>
                  </a:lnTo>
                  <a:lnTo>
                    <a:pt x="197780" y="24297"/>
                  </a:lnTo>
                  <a:lnTo>
                    <a:pt x="160197" y="42837"/>
                  </a:lnTo>
                  <a:lnTo>
                    <a:pt x="125154" y="66136"/>
                  </a:lnTo>
                  <a:lnTo>
                    <a:pt x="93687" y="93687"/>
                  </a:lnTo>
                  <a:lnTo>
                    <a:pt x="66136" y="125154"/>
                  </a:lnTo>
                  <a:lnTo>
                    <a:pt x="42837" y="160197"/>
                  </a:lnTo>
                  <a:lnTo>
                    <a:pt x="24297" y="197780"/>
                  </a:lnTo>
                  <a:lnTo>
                    <a:pt x="10888" y="237285"/>
                  </a:lnTo>
                  <a:lnTo>
                    <a:pt x="2744" y="278207"/>
                  </a:lnTo>
                  <a:lnTo>
                    <a:pt x="0" y="320040"/>
                  </a:lnTo>
                  <a:lnTo>
                    <a:pt x="2744" y="361878"/>
                  </a:lnTo>
                  <a:lnTo>
                    <a:pt x="10888" y="402839"/>
                  </a:lnTo>
                  <a:lnTo>
                    <a:pt x="24297" y="442449"/>
                  </a:lnTo>
                  <a:lnTo>
                    <a:pt x="42837" y="480237"/>
                  </a:lnTo>
                  <a:lnTo>
                    <a:pt x="66136" y="515073"/>
                  </a:lnTo>
                  <a:lnTo>
                    <a:pt x="93687" y="546430"/>
                  </a:lnTo>
                  <a:lnTo>
                    <a:pt x="125154" y="573938"/>
                  </a:lnTo>
                  <a:lnTo>
                    <a:pt x="160197" y="597230"/>
                  </a:lnTo>
                  <a:lnTo>
                    <a:pt x="197780" y="615771"/>
                  </a:lnTo>
                  <a:lnTo>
                    <a:pt x="237285" y="629184"/>
                  </a:lnTo>
                  <a:lnTo>
                    <a:pt x="278207" y="637333"/>
                  </a:lnTo>
                  <a:lnTo>
                    <a:pt x="320040" y="640080"/>
                  </a:lnTo>
                  <a:lnTo>
                    <a:pt x="361878" y="637333"/>
                  </a:lnTo>
                  <a:lnTo>
                    <a:pt x="402839" y="629184"/>
                  </a:lnTo>
                  <a:lnTo>
                    <a:pt x="442449" y="615771"/>
                  </a:lnTo>
                  <a:lnTo>
                    <a:pt x="480237" y="597230"/>
                  </a:lnTo>
                  <a:lnTo>
                    <a:pt x="515073" y="573938"/>
                  </a:lnTo>
                  <a:lnTo>
                    <a:pt x="546430" y="546430"/>
                  </a:lnTo>
                  <a:lnTo>
                    <a:pt x="573938" y="515073"/>
                  </a:lnTo>
                  <a:lnTo>
                    <a:pt x="597230" y="480237"/>
                  </a:lnTo>
                  <a:lnTo>
                    <a:pt x="615771" y="442449"/>
                  </a:lnTo>
                  <a:lnTo>
                    <a:pt x="629184" y="402839"/>
                  </a:lnTo>
                  <a:lnTo>
                    <a:pt x="637333" y="361878"/>
                  </a:lnTo>
                  <a:lnTo>
                    <a:pt x="640080" y="320040"/>
                  </a:lnTo>
                  <a:lnTo>
                    <a:pt x="637333" y="278207"/>
                  </a:lnTo>
                  <a:lnTo>
                    <a:pt x="629184" y="237285"/>
                  </a:lnTo>
                  <a:lnTo>
                    <a:pt x="615771" y="197780"/>
                  </a:lnTo>
                  <a:lnTo>
                    <a:pt x="597230" y="160197"/>
                  </a:lnTo>
                  <a:lnTo>
                    <a:pt x="573933" y="125154"/>
                  </a:lnTo>
                  <a:lnTo>
                    <a:pt x="546384" y="93687"/>
                  </a:lnTo>
                  <a:lnTo>
                    <a:pt x="514918" y="66136"/>
                  </a:lnTo>
                  <a:lnTo>
                    <a:pt x="479869" y="42837"/>
                  </a:lnTo>
                  <a:lnTo>
                    <a:pt x="442294" y="24297"/>
                  </a:lnTo>
                  <a:lnTo>
                    <a:pt x="402793" y="10888"/>
                  </a:lnTo>
                  <a:lnTo>
                    <a:pt x="361872" y="2744"/>
                  </a:lnTo>
                  <a:lnTo>
                    <a:pt x="320040" y="0"/>
                  </a:lnTo>
                  <a:close/>
                </a:path>
              </a:pathLst>
            </a:custGeom>
            <a:solidFill>
              <a:srgbClr val="8F10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 descr="icons/warning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4999" y="2451963"/>
              <a:ext cx="306717" cy="306717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678939" y="2497937"/>
            <a:ext cx="3039745" cy="262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b="1" dirty="0">
                <a:latin typeface="Arial"/>
                <a:cs typeface="Arial"/>
              </a:rPr>
              <a:t>Unvalidated</a:t>
            </a:r>
            <a:r>
              <a:rPr sz="1550" b="1" spc="-60" dirty="0">
                <a:latin typeface="Arial"/>
                <a:cs typeface="Arial"/>
              </a:rPr>
              <a:t> </a:t>
            </a:r>
            <a:r>
              <a:rPr sz="1550" b="1" spc="-10" dirty="0">
                <a:latin typeface="Arial"/>
                <a:cs typeface="Arial"/>
              </a:rPr>
              <a:t>real-</a:t>
            </a:r>
            <a:r>
              <a:rPr sz="1550" b="1" dirty="0">
                <a:latin typeface="Arial"/>
                <a:cs typeface="Arial"/>
              </a:rPr>
              <a:t>world</a:t>
            </a:r>
            <a:r>
              <a:rPr sz="1550" b="1" spc="-55" dirty="0">
                <a:latin typeface="Arial"/>
                <a:cs typeface="Arial"/>
              </a:rPr>
              <a:t> </a:t>
            </a:r>
            <a:r>
              <a:rPr sz="1550" b="1" spc="-10" dirty="0">
                <a:latin typeface="Arial"/>
                <a:cs typeface="Arial"/>
              </a:rPr>
              <a:t>accuracy</a:t>
            </a:r>
            <a:endParaRPr sz="15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5624" y="3333206"/>
            <a:ext cx="4242435" cy="739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4900"/>
              </a:lnSpc>
              <a:spcBef>
                <a:spcPts val="100"/>
              </a:spcBef>
            </a:pPr>
            <a:r>
              <a:rPr sz="1250" spc="-10" dirty="0">
                <a:solidFill>
                  <a:srgbClr val="494949"/>
                </a:solidFill>
                <a:latin typeface="Calibri"/>
                <a:cs typeface="Calibri"/>
              </a:rPr>
              <a:t>Projections</a:t>
            </a:r>
            <a:r>
              <a:rPr sz="1250" spc="-5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94949"/>
                </a:solidFill>
                <a:latin typeface="Calibri"/>
                <a:cs typeface="Calibri"/>
              </a:rPr>
              <a:t>come</a:t>
            </a:r>
            <a:r>
              <a:rPr sz="1250" spc="-4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94949"/>
                </a:solidFill>
                <a:latin typeface="Calibri"/>
                <a:cs typeface="Calibri"/>
              </a:rPr>
              <a:t>from</a:t>
            </a:r>
            <a:r>
              <a:rPr sz="1250" spc="-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94949"/>
                </a:solidFill>
                <a:latin typeface="Calibri"/>
                <a:cs typeface="Calibri"/>
              </a:rPr>
              <a:t>a</a:t>
            </a:r>
            <a:r>
              <a:rPr sz="1250" spc="-4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494949"/>
                </a:solidFill>
                <a:latin typeface="Calibri"/>
                <a:cs typeface="Calibri"/>
              </a:rPr>
              <a:t>calibrated</a:t>
            </a:r>
            <a:r>
              <a:rPr sz="1250" spc="-4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94949"/>
                </a:solidFill>
                <a:latin typeface="Calibri"/>
                <a:cs typeface="Calibri"/>
              </a:rPr>
              <a:t>model,</a:t>
            </a:r>
            <a:r>
              <a:rPr sz="1250" spc="-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94949"/>
                </a:solidFill>
                <a:latin typeface="Calibri"/>
                <a:cs typeface="Calibri"/>
              </a:rPr>
              <a:t>not</a:t>
            </a:r>
            <a:r>
              <a:rPr sz="1250" spc="-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94949"/>
                </a:solidFill>
                <a:latin typeface="Calibri"/>
                <a:cs typeface="Calibri"/>
              </a:rPr>
              <a:t>yet</a:t>
            </a:r>
            <a:r>
              <a:rPr sz="1250" spc="-4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94949"/>
                </a:solidFill>
                <a:latin typeface="Calibri"/>
                <a:cs typeface="Calibri"/>
              </a:rPr>
              <a:t>tested</a:t>
            </a:r>
            <a:r>
              <a:rPr sz="1250" spc="-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94949"/>
                </a:solidFill>
                <a:latin typeface="Calibri"/>
                <a:cs typeface="Calibri"/>
              </a:rPr>
              <a:t>on</a:t>
            </a:r>
            <a:r>
              <a:rPr sz="1250" spc="-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494949"/>
                </a:solidFill>
                <a:latin typeface="Calibri"/>
                <a:cs typeface="Calibri"/>
              </a:rPr>
              <a:t>this </a:t>
            </a:r>
            <a:r>
              <a:rPr sz="1250" spc="-10" dirty="0">
                <a:solidFill>
                  <a:srgbClr val="494949"/>
                </a:solidFill>
                <a:latin typeface="Calibri"/>
                <a:cs typeface="Calibri"/>
              </a:rPr>
              <a:t>cooperative's</a:t>
            </a:r>
            <a:r>
              <a:rPr sz="1250" spc="-4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94949"/>
                </a:solidFill>
                <a:latin typeface="Calibri"/>
                <a:cs typeface="Calibri"/>
              </a:rPr>
              <a:t>actual</a:t>
            </a:r>
            <a:r>
              <a:rPr sz="1250" spc="-4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94949"/>
                </a:solidFill>
                <a:latin typeface="Calibri"/>
                <a:cs typeface="Calibri"/>
              </a:rPr>
              <a:t>harvests</a:t>
            </a:r>
            <a:r>
              <a:rPr sz="1250" spc="-4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94949"/>
                </a:solidFill>
                <a:latin typeface="Calibri"/>
                <a:cs typeface="Calibri"/>
              </a:rPr>
              <a:t>—</a:t>
            </a:r>
            <a:r>
              <a:rPr sz="1250" spc="-4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494949"/>
                </a:solidFill>
                <a:latin typeface="Calibri"/>
                <a:cs typeface="Calibri"/>
              </a:rPr>
              <a:t>year-</a:t>
            </a:r>
            <a:r>
              <a:rPr sz="1250" dirty="0">
                <a:solidFill>
                  <a:srgbClr val="494949"/>
                </a:solidFill>
                <a:latin typeface="Calibri"/>
                <a:cs typeface="Calibri"/>
              </a:rPr>
              <a:t>one</a:t>
            </a:r>
            <a:r>
              <a:rPr sz="1250" spc="-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94949"/>
                </a:solidFill>
                <a:latin typeface="Calibri"/>
                <a:cs typeface="Calibri"/>
              </a:rPr>
              <a:t>results</a:t>
            </a:r>
            <a:r>
              <a:rPr sz="1250" spc="-4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94949"/>
                </a:solidFill>
                <a:latin typeface="Calibri"/>
                <a:cs typeface="Calibri"/>
              </a:rPr>
              <a:t>could</a:t>
            </a:r>
            <a:r>
              <a:rPr sz="1250" spc="-4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494949"/>
                </a:solidFill>
                <a:latin typeface="Calibri"/>
                <a:cs typeface="Calibri"/>
              </a:rPr>
              <a:t>differ</a:t>
            </a:r>
            <a:r>
              <a:rPr sz="1250" spc="-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494949"/>
                </a:solidFill>
                <a:latin typeface="Calibri"/>
                <a:cs typeface="Calibri"/>
              </a:rPr>
              <a:t>from </a:t>
            </a:r>
            <a:r>
              <a:rPr sz="1250" spc="-10" dirty="0">
                <a:solidFill>
                  <a:srgbClr val="494949"/>
                </a:solidFill>
                <a:latin typeface="Calibri"/>
                <a:cs typeface="Calibri"/>
              </a:rPr>
              <a:t>forecast.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68324" y="4251959"/>
            <a:ext cx="4480560" cy="8890"/>
          </a:xfrm>
          <a:custGeom>
            <a:avLst/>
            <a:gdLst/>
            <a:ahLst/>
            <a:cxnLst/>
            <a:rect l="l" t="t" r="r" b="b"/>
            <a:pathLst>
              <a:path w="4480560" h="8889">
                <a:moveTo>
                  <a:pt x="4480191" y="0"/>
                </a:moveTo>
                <a:lnTo>
                  <a:pt x="0" y="0"/>
                </a:lnTo>
                <a:lnTo>
                  <a:pt x="0" y="8635"/>
                </a:lnTo>
                <a:lnTo>
                  <a:pt x="2240279" y="8635"/>
                </a:lnTo>
                <a:lnTo>
                  <a:pt x="4480191" y="8635"/>
                </a:lnTo>
                <a:lnTo>
                  <a:pt x="4480191" y="0"/>
                </a:lnTo>
                <a:close/>
              </a:path>
            </a:pathLst>
          </a:custGeom>
          <a:solidFill>
            <a:srgbClr val="DFE3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55624" y="4636772"/>
            <a:ext cx="4390390" cy="739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4900"/>
              </a:lnSpc>
              <a:spcBef>
                <a:spcPts val="100"/>
              </a:spcBef>
            </a:pPr>
            <a:r>
              <a:rPr sz="1250" b="1" dirty="0">
                <a:solidFill>
                  <a:srgbClr val="079094"/>
                </a:solidFill>
                <a:latin typeface="Calibri"/>
                <a:cs typeface="Calibri"/>
              </a:rPr>
              <a:t>Mitigation:</a:t>
            </a:r>
            <a:r>
              <a:rPr sz="1250" b="1" spc="229" dirty="0">
                <a:solidFill>
                  <a:srgbClr val="079094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94949"/>
                </a:solidFill>
                <a:latin typeface="Calibri"/>
                <a:cs typeface="Calibri"/>
              </a:rPr>
              <a:t>Run</a:t>
            </a:r>
            <a:r>
              <a:rPr sz="1250" spc="-4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94949"/>
                </a:solidFill>
                <a:latin typeface="Calibri"/>
                <a:cs typeface="Calibri"/>
              </a:rPr>
              <a:t>a</a:t>
            </a:r>
            <a:r>
              <a:rPr sz="1250" spc="-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494949"/>
                </a:solidFill>
                <a:latin typeface="Calibri"/>
                <a:cs typeface="Calibri"/>
              </a:rPr>
              <a:t>90-</a:t>
            </a:r>
            <a:r>
              <a:rPr sz="1250" dirty="0">
                <a:solidFill>
                  <a:srgbClr val="494949"/>
                </a:solidFill>
                <a:latin typeface="Calibri"/>
                <a:cs typeface="Calibri"/>
              </a:rPr>
              <a:t>day</a:t>
            </a:r>
            <a:r>
              <a:rPr sz="1250" spc="-4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94949"/>
                </a:solidFill>
                <a:latin typeface="Calibri"/>
                <a:cs typeface="Calibri"/>
              </a:rPr>
              <a:t>pilot</a:t>
            </a:r>
            <a:r>
              <a:rPr sz="1250" spc="-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94949"/>
                </a:solidFill>
                <a:latin typeface="Calibri"/>
                <a:cs typeface="Calibri"/>
              </a:rPr>
              <a:t>at</a:t>
            </a:r>
            <a:r>
              <a:rPr sz="1250" spc="-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94949"/>
                </a:solidFill>
                <a:latin typeface="Calibri"/>
                <a:cs typeface="Calibri"/>
              </a:rPr>
              <a:t>one</a:t>
            </a:r>
            <a:r>
              <a:rPr sz="1250" spc="-4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494949"/>
                </a:solidFill>
                <a:latin typeface="Calibri"/>
                <a:cs typeface="Calibri"/>
              </a:rPr>
              <a:t>collection</a:t>
            </a:r>
            <a:r>
              <a:rPr sz="1250" spc="-4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94949"/>
                </a:solidFill>
                <a:latin typeface="Calibri"/>
                <a:cs typeface="Calibri"/>
              </a:rPr>
              <a:t>point</a:t>
            </a:r>
            <a:r>
              <a:rPr sz="1250" spc="-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494949"/>
                </a:solidFill>
                <a:latin typeface="Calibri"/>
                <a:cs typeface="Calibri"/>
              </a:rPr>
              <a:t>first.</a:t>
            </a:r>
            <a:r>
              <a:rPr sz="1250" spc="-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494949"/>
                </a:solidFill>
                <a:latin typeface="Calibri"/>
                <a:cs typeface="Calibri"/>
              </a:rPr>
              <a:t>Measure </a:t>
            </a:r>
            <a:r>
              <a:rPr sz="1250" dirty="0">
                <a:solidFill>
                  <a:srgbClr val="494949"/>
                </a:solidFill>
                <a:latin typeface="Calibri"/>
                <a:cs typeface="Calibri"/>
              </a:rPr>
              <a:t>actual</a:t>
            </a:r>
            <a:r>
              <a:rPr sz="1250" spc="-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494949"/>
                </a:solidFill>
                <a:latin typeface="Calibri"/>
                <a:cs typeface="Calibri"/>
              </a:rPr>
              <a:t>outcomes</a:t>
            </a:r>
            <a:r>
              <a:rPr sz="1250" spc="-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494949"/>
                </a:solidFill>
                <a:latin typeface="Calibri"/>
                <a:cs typeface="Calibri"/>
              </a:rPr>
              <a:t>against</a:t>
            </a:r>
            <a:r>
              <a:rPr sz="1250" spc="-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94949"/>
                </a:solidFill>
                <a:latin typeface="Calibri"/>
                <a:cs typeface="Calibri"/>
              </a:rPr>
              <a:t>the</a:t>
            </a:r>
            <a:r>
              <a:rPr sz="1250" spc="-1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494949"/>
                </a:solidFill>
                <a:latin typeface="Calibri"/>
                <a:cs typeface="Calibri"/>
              </a:rPr>
              <a:t>forecast</a:t>
            </a:r>
            <a:r>
              <a:rPr sz="1250" spc="-2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494949"/>
                </a:solidFill>
                <a:latin typeface="Calibri"/>
                <a:cs typeface="Calibri"/>
              </a:rPr>
              <a:t>before</a:t>
            </a:r>
            <a:r>
              <a:rPr sz="1250" spc="-1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94949"/>
                </a:solidFill>
                <a:latin typeface="Calibri"/>
                <a:cs typeface="Calibri"/>
              </a:rPr>
              <a:t>any</a:t>
            </a:r>
            <a:r>
              <a:rPr sz="1250" spc="-20" dirty="0">
                <a:solidFill>
                  <a:srgbClr val="494949"/>
                </a:solidFill>
                <a:latin typeface="Calibri"/>
                <a:cs typeface="Calibri"/>
              </a:rPr>
              <a:t> cooperative-wide </a:t>
            </a:r>
            <a:r>
              <a:rPr sz="1250" spc="-10" dirty="0">
                <a:solidFill>
                  <a:srgbClr val="494949"/>
                </a:solidFill>
                <a:latin typeface="Calibri"/>
                <a:cs typeface="Calibri"/>
              </a:rPr>
              <a:t>commitment.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125755" y="1965604"/>
            <a:ext cx="5121275" cy="3795395"/>
            <a:chOff x="6125755" y="1965604"/>
            <a:chExt cx="5121275" cy="3795395"/>
          </a:xfrm>
        </p:grpSpPr>
        <p:sp>
          <p:nvSpPr>
            <p:cNvPr id="13" name="object 13"/>
            <p:cNvSpPr/>
            <p:nvPr/>
          </p:nvSpPr>
          <p:spPr>
            <a:xfrm>
              <a:off x="6125755" y="1965604"/>
              <a:ext cx="5121275" cy="3795395"/>
            </a:xfrm>
            <a:custGeom>
              <a:avLst/>
              <a:gdLst/>
              <a:ahLst/>
              <a:cxnLst/>
              <a:rect l="l" t="t" r="r" b="b"/>
              <a:pathLst>
                <a:path w="5121275" h="3795395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3685311"/>
                  </a:lnTo>
                  <a:lnTo>
                    <a:pt x="939" y="3699741"/>
                  </a:lnTo>
                  <a:lnTo>
                    <a:pt x="14770" y="3740391"/>
                  </a:lnTo>
                  <a:lnTo>
                    <a:pt x="22686" y="3752104"/>
                  </a:lnTo>
                  <a:lnTo>
                    <a:pt x="22788" y="3752254"/>
                  </a:lnTo>
                  <a:lnTo>
                    <a:pt x="55079" y="3780358"/>
                  </a:lnTo>
                  <a:lnTo>
                    <a:pt x="95379" y="3794175"/>
                  </a:lnTo>
                  <a:lnTo>
                    <a:pt x="109804" y="3795115"/>
                  </a:lnTo>
                  <a:lnTo>
                    <a:pt x="5011204" y="3795115"/>
                  </a:lnTo>
                  <a:lnTo>
                    <a:pt x="5053275" y="3786762"/>
                  </a:lnTo>
                  <a:lnTo>
                    <a:pt x="5088777" y="3762936"/>
                  </a:lnTo>
                  <a:lnTo>
                    <a:pt x="5112574" y="3727382"/>
                  </a:lnTo>
                  <a:lnTo>
                    <a:pt x="5121008" y="3685311"/>
                  </a:lnTo>
                  <a:lnTo>
                    <a:pt x="5120984" y="109791"/>
                  </a:lnTo>
                  <a:lnTo>
                    <a:pt x="5112650" y="68088"/>
                  </a:lnTo>
                  <a:lnTo>
                    <a:pt x="5088783" y="32534"/>
                  </a:lnTo>
                  <a:lnTo>
                    <a:pt x="5053125" y="8708"/>
                  </a:lnTo>
                  <a:lnTo>
                    <a:pt x="501120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446164" y="2285644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80">
                  <a:moveTo>
                    <a:pt x="320040" y="0"/>
                  </a:moveTo>
                  <a:lnTo>
                    <a:pt x="278207" y="2744"/>
                  </a:lnTo>
                  <a:lnTo>
                    <a:pt x="237285" y="10888"/>
                  </a:lnTo>
                  <a:lnTo>
                    <a:pt x="197780" y="24297"/>
                  </a:lnTo>
                  <a:lnTo>
                    <a:pt x="160197" y="42837"/>
                  </a:lnTo>
                  <a:lnTo>
                    <a:pt x="125154" y="66136"/>
                  </a:lnTo>
                  <a:lnTo>
                    <a:pt x="93687" y="93687"/>
                  </a:lnTo>
                  <a:lnTo>
                    <a:pt x="66136" y="125154"/>
                  </a:lnTo>
                  <a:lnTo>
                    <a:pt x="42837" y="160197"/>
                  </a:lnTo>
                  <a:lnTo>
                    <a:pt x="24297" y="197780"/>
                  </a:lnTo>
                  <a:lnTo>
                    <a:pt x="10888" y="237285"/>
                  </a:lnTo>
                  <a:lnTo>
                    <a:pt x="2744" y="278207"/>
                  </a:lnTo>
                  <a:lnTo>
                    <a:pt x="0" y="320040"/>
                  </a:lnTo>
                  <a:lnTo>
                    <a:pt x="2744" y="361878"/>
                  </a:lnTo>
                  <a:lnTo>
                    <a:pt x="10888" y="402839"/>
                  </a:lnTo>
                  <a:lnTo>
                    <a:pt x="24297" y="442449"/>
                  </a:lnTo>
                  <a:lnTo>
                    <a:pt x="42837" y="480237"/>
                  </a:lnTo>
                  <a:lnTo>
                    <a:pt x="66136" y="515073"/>
                  </a:lnTo>
                  <a:lnTo>
                    <a:pt x="93687" y="546430"/>
                  </a:lnTo>
                  <a:lnTo>
                    <a:pt x="125154" y="573938"/>
                  </a:lnTo>
                  <a:lnTo>
                    <a:pt x="160197" y="597230"/>
                  </a:lnTo>
                  <a:lnTo>
                    <a:pt x="197780" y="615771"/>
                  </a:lnTo>
                  <a:lnTo>
                    <a:pt x="237285" y="629184"/>
                  </a:lnTo>
                  <a:lnTo>
                    <a:pt x="278207" y="637333"/>
                  </a:lnTo>
                  <a:lnTo>
                    <a:pt x="320040" y="640080"/>
                  </a:lnTo>
                  <a:lnTo>
                    <a:pt x="361878" y="637333"/>
                  </a:lnTo>
                  <a:lnTo>
                    <a:pt x="402839" y="629184"/>
                  </a:lnTo>
                  <a:lnTo>
                    <a:pt x="442449" y="615771"/>
                  </a:lnTo>
                  <a:lnTo>
                    <a:pt x="480237" y="597230"/>
                  </a:lnTo>
                  <a:lnTo>
                    <a:pt x="515073" y="573938"/>
                  </a:lnTo>
                  <a:lnTo>
                    <a:pt x="546430" y="546430"/>
                  </a:lnTo>
                  <a:lnTo>
                    <a:pt x="573938" y="515073"/>
                  </a:lnTo>
                  <a:lnTo>
                    <a:pt x="597230" y="480237"/>
                  </a:lnTo>
                  <a:lnTo>
                    <a:pt x="615771" y="442449"/>
                  </a:lnTo>
                  <a:lnTo>
                    <a:pt x="629184" y="402839"/>
                  </a:lnTo>
                  <a:lnTo>
                    <a:pt x="637333" y="361878"/>
                  </a:lnTo>
                  <a:lnTo>
                    <a:pt x="640079" y="320040"/>
                  </a:lnTo>
                  <a:lnTo>
                    <a:pt x="637333" y="278207"/>
                  </a:lnTo>
                  <a:lnTo>
                    <a:pt x="629184" y="237285"/>
                  </a:lnTo>
                  <a:lnTo>
                    <a:pt x="615771" y="197780"/>
                  </a:lnTo>
                  <a:lnTo>
                    <a:pt x="597230" y="160197"/>
                  </a:lnTo>
                  <a:lnTo>
                    <a:pt x="573938" y="125154"/>
                  </a:lnTo>
                  <a:lnTo>
                    <a:pt x="546430" y="93687"/>
                  </a:lnTo>
                  <a:lnTo>
                    <a:pt x="515073" y="66136"/>
                  </a:lnTo>
                  <a:lnTo>
                    <a:pt x="480237" y="42837"/>
                  </a:lnTo>
                  <a:lnTo>
                    <a:pt x="442449" y="24297"/>
                  </a:lnTo>
                  <a:lnTo>
                    <a:pt x="402839" y="10888"/>
                  </a:lnTo>
                  <a:lnTo>
                    <a:pt x="361878" y="2744"/>
                  </a:lnTo>
                  <a:lnTo>
                    <a:pt x="320040" y="0"/>
                  </a:lnTo>
                  <a:close/>
                </a:path>
              </a:pathLst>
            </a:custGeom>
            <a:solidFill>
              <a:srgbClr val="8F10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 descr="icons/warning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12839" y="2451963"/>
              <a:ext cx="306717" cy="306717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7256780" y="2497937"/>
            <a:ext cx="1575435" cy="262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b="1" dirty="0">
                <a:latin typeface="Arial"/>
                <a:cs typeface="Arial"/>
              </a:rPr>
              <a:t>Farmer</a:t>
            </a:r>
            <a:r>
              <a:rPr sz="1550" b="1" spc="-50" dirty="0">
                <a:latin typeface="Arial"/>
                <a:cs typeface="Arial"/>
              </a:rPr>
              <a:t> </a:t>
            </a:r>
            <a:r>
              <a:rPr sz="1550" b="1" spc="-10" dirty="0">
                <a:latin typeface="Arial"/>
                <a:cs typeface="Arial"/>
              </a:rPr>
              <a:t>adoption</a:t>
            </a:r>
            <a:endParaRPr sz="15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33464" y="3452370"/>
            <a:ext cx="4450715" cy="501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4900"/>
              </a:lnSpc>
              <a:spcBef>
                <a:spcPts val="100"/>
              </a:spcBef>
            </a:pPr>
            <a:r>
              <a:rPr sz="1250" dirty="0">
                <a:solidFill>
                  <a:srgbClr val="494949"/>
                </a:solidFill>
                <a:latin typeface="Calibri"/>
                <a:cs typeface="Calibri"/>
              </a:rPr>
              <a:t>Some</a:t>
            </a:r>
            <a:r>
              <a:rPr sz="1250" spc="-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494949"/>
                </a:solidFill>
                <a:latin typeface="Calibri"/>
                <a:cs typeface="Calibri"/>
              </a:rPr>
              <a:t>farmers</a:t>
            </a:r>
            <a:r>
              <a:rPr sz="1250" spc="-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94949"/>
                </a:solidFill>
                <a:latin typeface="Calibri"/>
                <a:cs typeface="Calibri"/>
              </a:rPr>
              <a:t>have</a:t>
            </a:r>
            <a:r>
              <a:rPr sz="1250" spc="-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494949"/>
                </a:solidFill>
                <a:latin typeface="Calibri"/>
                <a:cs typeface="Calibri"/>
              </a:rPr>
              <a:t>limited</a:t>
            </a:r>
            <a:r>
              <a:rPr sz="1250" spc="-4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494949"/>
                </a:solidFill>
                <a:latin typeface="Calibri"/>
                <a:cs typeface="Calibri"/>
              </a:rPr>
              <a:t>smartphone</a:t>
            </a:r>
            <a:r>
              <a:rPr sz="1250" spc="-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94949"/>
                </a:solidFill>
                <a:latin typeface="Calibri"/>
                <a:cs typeface="Calibri"/>
              </a:rPr>
              <a:t>access</a:t>
            </a:r>
            <a:r>
              <a:rPr sz="1250" spc="-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94949"/>
                </a:solidFill>
                <a:latin typeface="Calibri"/>
                <a:cs typeface="Calibri"/>
              </a:rPr>
              <a:t>or</a:t>
            </a:r>
            <a:r>
              <a:rPr sz="1250" spc="-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494949"/>
                </a:solidFill>
                <a:latin typeface="Calibri"/>
                <a:cs typeface="Calibri"/>
              </a:rPr>
              <a:t>connectivity,</a:t>
            </a:r>
            <a:r>
              <a:rPr sz="1250" spc="-4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494949"/>
                </a:solidFill>
                <a:latin typeface="Calibri"/>
                <a:cs typeface="Calibri"/>
              </a:rPr>
              <a:t>which </a:t>
            </a:r>
            <a:r>
              <a:rPr sz="1250" dirty="0">
                <a:solidFill>
                  <a:srgbClr val="494949"/>
                </a:solidFill>
                <a:latin typeface="Calibri"/>
                <a:cs typeface="Calibri"/>
              </a:rPr>
              <a:t>could</a:t>
            </a:r>
            <a:r>
              <a:rPr sz="1250" spc="-4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94949"/>
                </a:solidFill>
                <a:latin typeface="Calibri"/>
                <a:cs typeface="Calibri"/>
              </a:rPr>
              <a:t>limit</a:t>
            </a:r>
            <a:r>
              <a:rPr sz="1250" spc="-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94949"/>
                </a:solidFill>
                <a:latin typeface="Calibri"/>
                <a:cs typeface="Calibri"/>
              </a:rPr>
              <a:t>reach</a:t>
            </a:r>
            <a:r>
              <a:rPr sz="1250" spc="-4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94949"/>
                </a:solidFill>
                <a:latin typeface="Calibri"/>
                <a:cs typeface="Calibri"/>
              </a:rPr>
              <a:t>if</a:t>
            </a:r>
            <a:r>
              <a:rPr sz="1250" spc="-4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94949"/>
                </a:solidFill>
                <a:latin typeface="Calibri"/>
                <a:cs typeface="Calibri"/>
              </a:rPr>
              <a:t>the</a:t>
            </a:r>
            <a:r>
              <a:rPr sz="1250" spc="-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94949"/>
                </a:solidFill>
                <a:latin typeface="Calibri"/>
                <a:cs typeface="Calibri"/>
              </a:rPr>
              <a:t>app</a:t>
            </a:r>
            <a:r>
              <a:rPr sz="1250" spc="-4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94949"/>
                </a:solidFill>
                <a:latin typeface="Calibri"/>
                <a:cs typeface="Calibri"/>
              </a:rPr>
              <a:t>were</a:t>
            </a:r>
            <a:r>
              <a:rPr sz="1250" spc="-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94949"/>
                </a:solidFill>
                <a:latin typeface="Calibri"/>
                <a:cs typeface="Calibri"/>
              </a:rPr>
              <a:t>the</a:t>
            </a:r>
            <a:r>
              <a:rPr sz="1250" spc="-4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94949"/>
                </a:solidFill>
                <a:latin typeface="Calibri"/>
                <a:cs typeface="Calibri"/>
              </a:rPr>
              <a:t>only</a:t>
            </a:r>
            <a:r>
              <a:rPr sz="1250" spc="-4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494949"/>
                </a:solidFill>
                <a:latin typeface="Calibri"/>
                <a:cs typeface="Calibri"/>
              </a:rPr>
              <a:t>channel.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446164" y="4251959"/>
            <a:ext cx="4480560" cy="8890"/>
          </a:xfrm>
          <a:custGeom>
            <a:avLst/>
            <a:gdLst/>
            <a:ahLst/>
            <a:cxnLst/>
            <a:rect l="l" t="t" r="r" b="b"/>
            <a:pathLst>
              <a:path w="4480559" h="8889">
                <a:moveTo>
                  <a:pt x="4480191" y="0"/>
                </a:moveTo>
                <a:lnTo>
                  <a:pt x="0" y="0"/>
                </a:lnTo>
                <a:lnTo>
                  <a:pt x="0" y="8635"/>
                </a:lnTo>
                <a:lnTo>
                  <a:pt x="2240279" y="8635"/>
                </a:lnTo>
                <a:lnTo>
                  <a:pt x="4480191" y="8635"/>
                </a:lnTo>
                <a:lnTo>
                  <a:pt x="4480191" y="0"/>
                </a:lnTo>
                <a:close/>
              </a:path>
            </a:pathLst>
          </a:custGeom>
          <a:solidFill>
            <a:srgbClr val="DFE3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433464" y="4636772"/>
            <a:ext cx="3801110" cy="739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4900"/>
              </a:lnSpc>
              <a:spcBef>
                <a:spcPts val="100"/>
              </a:spcBef>
            </a:pPr>
            <a:r>
              <a:rPr sz="1250" b="1" dirty="0">
                <a:solidFill>
                  <a:srgbClr val="079094"/>
                </a:solidFill>
                <a:latin typeface="Calibri"/>
                <a:cs typeface="Calibri"/>
              </a:rPr>
              <a:t>Mitigation:</a:t>
            </a:r>
            <a:r>
              <a:rPr sz="1250" b="1" spc="204" dirty="0">
                <a:solidFill>
                  <a:srgbClr val="079094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94949"/>
                </a:solidFill>
                <a:latin typeface="Calibri"/>
                <a:cs typeface="Calibri"/>
              </a:rPr>
              <a:t>The</a:t>
            </a:r>
            <a:r>
              <a:rPr sz="1250" spc="-5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494949"/>
                </a:solidFill>
                <a:latin typeface="Calibri"/>
                <a:cs typeface="Calibri"/>
              </a:rPr>
              <a:t>text-</a:t>
            </a:r>
            <a:r>
              <a:rPr sz="1250" dirty="0">
                <a:solidFill>
                  <a:srgbClr val="494949"/>
                </a:solidFill>
                <a:latin typeface="Calibri"/>
                <a:cs typeface="Calibri"/>
              </a:rPr>
              <a:t>message</a:t>
            </a:r>
            <a:r>
              <a:rPr sz="1250" spc="-4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94949"/>
                </a:solidFill>
                <a:latin typeface="Calibri"/>
                <a:cs typeface="Calibri"/>
              </a:rPr>
              <a:t>channel</a:t>
            </a:r>
            <a:r>
              <a:rPr sz="1250" spc="-5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94949"/>
                </a:solidFill>
                <a:latin typeface="Calibri"/>
                <a:cs typeface="Calibri"/>
              </a:rPr>
              <a:t>(slide</a:t>
            </a:r>
            <a:r>
              <a:rPr sz="1250" spc="-5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94949"/>
                </a:solidFill>
                <a:latin typeface="Calibri"/>
                <a:cs typeface="Calibri"/>
              </a:rPr>
              <a:t>5)</a:t>
            </a:r>
            <a:r>
              <a:rPr sz="1250" spc="-4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494949"/>
                </a:solidFill>
                <a:latin typeface="Calibri"/>
                <a:cs typeface="Calibri"/>
              </a:rPr>
              <a:t>requires</a:t>
            </a:r>
            <a:r>
              <a:rPr sz="1250" spc="-4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494949"/>
                </a:solidFill>
                <a:latin typeface="Calibri"/>
                <a:cs typeface="Calibri"/>
              </a:rPr>
              <a:t>no </a:t>
            </a:r>
            <a:r>
              <a:rPr sz="1250" spc="-10" dirty="0">
                <a:solidFill>
                  <a:srgbClr val="494949"/>
                </a:solidFill>
                <a:latin typeface="Calibri"/>
                <a:cs typeface="Calibri"/>
              </a:rPr>
              <a:t>smartphone,</a:t>
            </a:r>
            <a:r>
              <a:rPr sz="1250" spc="-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94949"/>
                </a:solidFill>
                <a:latin typeface="Calibri"/>
                <a:cs typeface="Calibri"/>
              </a:rPr>
              <a:t>no</a:t>
            </a:r>
            <a:r>
              <a:rPr sz="1250" spc="-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94949"/>
                </a:solidFill>
                <a:latin typeface="Calibri"/>
                <a:cs typeface="Calibri"/>
              </a:rPr>
              <a:t>app,</a:t>
            </a:r>
            <a:r>
              <a:rPr sz="1250" spc="-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94949"/>
                </a:solidFill>
                <a:latin typeface="Calibri"/>
                <a:cs typeface="Calibri"/>
              </a:rPr>
              <a:t>and</a:t>
            </a:r>
            <a:r>
              <a:rPr sz="1250" spc="-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94949"/>
                </a:solidFill>
                <a:latin typeface="Calibri"/>
                <a:cs typeface="Calibri"/>
              </a:rPr>
              <a:t>no</a:t>
            </a:r>
            <a:r>
              <a:rPr sz="1250" spc="-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94949"/>
                </a:solidFill>
                <a:latin typeface="Calibri"/>
                <a:cs typeface="Calibri"/>
              </a:rPr>
              <a:t>data</a:t>
            </a:r>
            <a:r>
              <a:rPr sz="1250" spc="-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94949"/>
                </a:solidFill>
                <a:latin typeface="Calibri"/>
                <a:cs typeface="Calibri"/>
              </a:rPr>
              <a:t>plan</a:t>
            </a:r>
            <a:r>
              <a:rPr sz="1250" spc="-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94949"/>
                </a:solidFill>
                <a:latin typeface="Calibri"/>
                <a:cs typeface="Calibri"/>
              </a:rPr>
              <a:t>—</a:t>
            </a:r>
            <a:r>
              <a:rPr sz="1250" spc="-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94949"/>
                </a:solidFill>
                <a:latin typeface="Calibri"/>
                <a:cs typeface="Calibri"/>
              </a:rPr>
              <a:t>every</a:t>
            </a:r>
            <a:r>
              <a:rPr sz="1250" spc="-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494949"/>
                </a:solidFill>
                <a:latin typeface="Calibri"/>
                <a:cs typeface="Calibri"/>
              </a:rPr>
              <a:t>farmer</a:t>
            </a:r>
            <a:r>
              <a:rPr sz="1250" spc="-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494949"/>
                </a:solidFill>
                <a:latin typeface="Calibri"/>
                <a:cs typeface="Calibri"/>
              </a:rPr>
              <a:t>can </a:t>
            </a:r>
            <a:r>
              <a:rPr sz="1250" spc="-10" dirty="0">
                <a:solidFill>
                  <a:srgbClr val="494949"/>
                </a:solidFill>
                <a:latin typeface="Calibri"/>
                <a:cs typeface="Calibri"/>
              </a:rPr>
              <a:t>participate</a:t>
            </a:r>
            <a:r>
              <a:rPr sz="1250" spc="-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94949"/>
                </a:solidFill>
                <a:latin typeface="Calibri"/>
                <a:cs typeface="Calibri"/>
              </a:rPr>
              <a:t>on</a:t>
            </a:r>
            <a:r>
              <a:rPr sz="1250" spc="-2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94949"/>
                </a:solidFill>
                <a:latin typeface="Calibri"/>
                <a:cs typeface="Calibri"/>
              </a:rPr>
              <a:t>any</a:t>
            </a:r>
            <a:r>
              <a:rPr sz="1250" spc="-1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494949"/>
                </a:solidFill>
                <a:latin typeface="Calibri"/>
                <a:cs typeface="Calibri"/>
              </a:rPr>
              <a:t>phone.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Roadmap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584" y="1282230"/>
            <a:ext cx="37223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494949"/>
                </a:solidFill>
                <a:latin typeface="Calibri"/>
                <a:cs typeface="Calibri"/>
              </a:rPr>
              <a:t>Three</a:t>
            </a:r>
            <a:r>
              <a:rPr sz="1600" spc="-4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94949"/>
                </a:solidFill>
                <a:latin typeface="Calibri"/>
                <a:cs typeface="Calibri"/>
              </a:rPr>
              <a:t>phases,</a:t>
            </a:r>
            <a:r>
              <a:rPr sz="1600" spc="-4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94949"/>
                </a:solidFill>
                <a:latin typeface="Calibri"/>
                <a:cs typeface="Calibri"/>
              </a:rPr>
              <a:t>each</a:t>
            </a:r>
            <a:r>
              <a:rPr sz="1600" spc="-4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94949"/>
                </a:solidFill>
                <a:latin typeface="Calibri"/>
                <a:cs typeface="Calibri"/>
              </a:rPr>
              <a:t>gated</a:t>
            </a:r>
            <a:r>
              <a:rPr sz="1600" spc="-4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94949"/>
                </a:solidFill>
                <a:latin typeface="Calibri"/>
                <a:cs typeface="Calibri"/>
              </a:rPr>
              <a:t>by</a:t>
            </a:r>
            <a:r>
              <a:rPr sz="1600" spc="-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494949"/>
                </a:solidFill>
                <a:latin typeface="Calibri"/>
                <a:cs typeface="Calibri"/>
              </a:rPr>
              <a:t>proof,</a:t>
            </a:r>
            <a:r>
              <a:rPr sz="1600" spc="-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94949"/>
                </a:solidFill>
                <a:latin typeface="Calibri"/>
                <a:cs typeface="Calibri"/>
              </a:rPr>
              <a:t>not</a:t>
            </a:r>
            <a:r>
              <a:rPr sz="1600" spc="-5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94949"/>
                </a:solidFill>
                <a:latin typeface="Calibri"/>
                <a:cs typeface="Calibri"/>
              </a:rPr>
              <a:t>hope.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8284" y="2102396"/>
            <a:ext cx="3429635" cy="3383915"/>
            <a:chOff x="548284" y="2102396"/>
            <a:chExt cx="3429635" cy="3383915"/>
          </a:xfrm>
        </p:grpSpPr>
        <p:sp>
          <p:nvSpPr>
            <p:cNvPr id="5" name="object 5"/>
            <p:cNvSpPr/>
            <p:nvPr/>
          </p:nvSpPr>
          <p:spPr>
            <a:xfrm>
              <a:off x="548284" y="2102396"/>
              <a:ext cx="3429635" cy="3383915"/>
            </a:xfrm>
            <a:custGeom>
              <a:avLst/>
              <a:gdLst/>
              <a:ahLst/>
              <a:cxnLst/>
              <a:rect l="l" t="t" r="r" b="b"/>
              <a:pathLst>
                <a:path w="3429635" h="3383915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934"/>
                  </a:lnTo>
                  <a:lnTo>
                    <a:pt x="355" y="109804"/>
                  </a:lnTo>
                  <a:lnTo>
                    <a:pt x="0" y="3273844"/>
                  </a:lnTo>
                  <a:lnTo>
                    <a:pt x="929" y="3288113"/>
                  </a:lnTo>
                  <a:lnTo>
                    <a:pt x="14757" y="3328924"/>
                  </a:lnTo>
                  <a:lnTo>
                    <a:pt x="22674" y="3340637"/>
                  </a:lnTo>
                  <a:lnTo>
                    <a:pt x="22775" y="3340787"/>
                  </a:lnTo>
                  <a:lnTo>
                    <a:pt x="55079" y="3368878"/>
                  </a:lnTo>
                  <a:lnTo>
                    <a:pt x="95524" y="3382708"/>
                  </a:lnTo>
                  <a:lnTo>
                    <a:pt x="109791" y="3383648"/>
                  </a:lnTo>
                  <a:lnTo>
                    <a:pt x="3319551" y="3383648"/>
                  </a:lnTo>
                  <a:lnTo>
                    <a:pt x="3361622" y="3375290"/>
                  </a:lnTo>
                  <a:lnTo>
                    <a:pt x="3397126" y="3351468"/>
                  </a:lnTo>
                  <a:lnTo>
                    <a:pt x="3420902" y="3315915"/>
                  </a:lnTo>
                  <a:lnTo>
                    <a:pt x="3421002" y="3315713"/>
                  </a:lnTo>
                  <a:lnTo>
                    <a:pt x="3425558" y="3302331"/>
                  </a:lnTo>
                  <a:lnTo>
                    <a:pt x="3425620" y="3302149"/>
                  </a:lnTo>
                  <a:lnTo>
                    <a:pt x="3428383" y="3288274"/>
                  </a:lnTo>
                  <a:lnTo>
                    <a:pt x="3428415" y="3288113"/>
                  </a:lnTo>
                  <a:lnTo>
                    <a:pt x="3429355" y="3273844"/>
                  </a:lnTo>
                  <a:lnTo>
                    <a:pt x="3429332" y="109804"/>
                  </a:lnTo>
                  <a:lnTo>
                    <a:pt x="3421002" y="68095"/>
                  </a:lnTo>
                  <a:lnTo>
                    <a:pt x="3397132" y="32535"/>
                  </a:lnTo>
                  <a:lnTo>
                    <a:pt x="3361422" y="8721"/>
                  </a:lnTo>
                  <a:lnTo>
                    <a:pt x="3319551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9F7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05762" y="2422804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09269" y="2528"/>
                  </a:lnTo>
                  <a:lnTo>
                    <a:pt x="362063" y="10032"/>
                  </a:lnTo>
                  <a:lnTo>
                    <a:pt x="315963" y="22392"/>
                  </a:lnTo>
                  <a:lnTo>
                    <a:pt x="271348" y="39489"/>
                  </a:lnTo>
                  <a:lnTo>
                    <a:pt x="228600" y="61201"/>
                  </a:lnTo>
                  <a:lnTo>
                    <a:pt x="188380" y="87419"/>
                  </a:lnTo>
                  <a:lnTo>
                    <a:pt x="151272" y="117528"/>
                  </a:lnTo>
                  <a:lnTo>
                    <a:pt x="117534" y="151268"/>
                  </a:lnTo>
                  <a:lnTo>
                    <a:pt x="87424" y="188379"/>
                  </a:lnTo>
                  <a:lnTo>
                    <a:pt x="61201" y="228600"/>
                  </a:lnTo>
                  <a:lnTo>
                    <a:pt x="39489" y="271347"/>
                  </a:lnTo>
                  <a:lnTo>
                    <a:pt x="22392" y="315959"/>
                  </a:lnTo>
                  <a:lnTo>
                    <a:pt x="10032" y="362058"/>
                  </a:lnTo>
                  <a:lnTo>
                    <a:pt x="2528" y="409264"/>
                  </a:lnTo>
                  <a:lnTo>
                    <a:pt x="0" y="457200"/>
                  </a:lnTo>
                  <a:lnTo>
                    <a:pt x="2528" y="505130"/>
                  </a:lnTo>
                  <a:lnTo>
                    <a:pt x="10032" y="552336"/>
                  </a:lnTo>
                  <a:lnTo>
                    <a:pt x="22392" y="598436"/>
                  </a:lnTo>
                  <a:lnTo>
                    <a:pt x="39489" y="643051"/>
                  </a:lnTo>
                  <a:lnTo>
                    <a:pt x="61201" y="685800"/>
                  </a:lnTo>
                  <a:lnTo>
                    <a:pt x="87424" y="726019"/>
                  </a:lnTo>
                  <a:lnTo>
                    <a:pt x="117534" y="763127"/>
                  </a:lnTo>
                  <a:lnTo>
                    <a:pt x="151272" y="796865"/>
                  </a:lnTo>
                  <a:lnTo>
                    <a:pt x="188380" y="826975"/>
                  </a:lnTo>
                  <a:lnTo>
                    <a:pt x="228600" y="853198"/>
                  </a:lnTo>
                  <a:lnTo>
                    <a:pt x="271348" y="874906"/>
                  </a:lnTo>
                  <a:lnTo>
                    <a:pt x="315963" y="892001"/>
                  </a:lnTo>
                  <a:lnTo>
                    <a:pt x="362063" y="904363"/>
                  </a:lnTo>
                  <a:lnTo>
                    <a:pt x="409269" y="911870"/>
                  </a:lnTo>
                  <a:lnTo>
                    <a:pt x="457200" y="914400"/>
                  </a:lnTo>
                  <a:lnTo>
                    <a:pt x="505130" y="911870"/>
                  </a:lnTo>
                  <a:lnTo>
                    <a:pt x="552336" y="904363"/>
                  </a:lnTo>
                  <a:lnTo>
                    <a:pt x="598436" y="892001"/>
                  </a:lnTo>
                  <a:lnTo>
                    <a:pt x="643051" y="874906"/>
                  </a:lnTo>
                  <a:lnTo>
                    <a:pt x="685800" y="853198"/>
                  </a:lnTo>
                  <a:lnTo>
                    <a:pt x="726019" y="826975"/>
                  </a:lnTo>
                  <a:lnTo>
                    <a:pt x="763127" y="796865"/>
                  </a:lnTo>
                  <a:lnTo>
                    <a:pt x="796865" y="763127"/>
                  </a:lnTo>
                  <a:lnTo>
                    <a:pt x="826975" y="726019"/>
                  </a:lnTo>
                  <a:lnTo>
                    <a:pt x="853198" y="685800"/>
                  </a:lnTo>
                  <a:lnTo>
                    <a:pt x="874906" y="643051"/>
                  </a:lnTo>
                  <a:lnTo>
                    <a:pt x="892001" y="598436"/>
                  </a:lnTo>
                  <a:lnTo>
                    <a:pt x="904363" y="552336"/>
                  </a:lnTo>
                  <a:lnTo>
                    <a:pt x="911870" y="505130"/>
                  </a:lnTo>
                  <a:lnTo>
                    <a:pt x="914400" y="457200"/>
                  </a:lnTo>
                  <a:lnTo>
                    <a:pt x="911870" y="409264"/>
                  </a:lnTo>
                  <a:lnTo>
                    <a:pt x="904363" y="362058"/>
                  </a:lnTo>
                  <a:lnTo>
                    <a:pt x="892001" y="315959"/>
                  </a:lnTo>
                  <a:lnTo>
                    <a:pt x="874906" y="271347"/>
                  </a:lnTo>
                  <a:lnTo>
                    <a:pt x="853198" y="228600"/>
                  </a:lnTo>
                  <a:lnTo>
                    <a:pt x="826975" y="188379"/>
                  </a:lnTo>
                  <a:lnTo>
                    <a:pt x="796865" y="151268"/>
                  </a:lnTo>
                  <a:lnTo>
                    <a:pt x="763127" y="117528"/>
                  </a:lnTo>
                  <a:lnTo>
                    <a:pt x="726019" y="87419"/>
                  </a:lnTo>
                  <a:lnTo>
                    <a:pt x="685800" y="61201"/>
                  </a:lnTo>
                  <a:lnTo>
                    <a:pt x="643051" y="39489"/>
                  </a:lnTo>
                  <a:lnTo>
                    <a:pt x="598436" y="22392"/>
                  </a:lnTo>
                  <a:lnTo>
                    <a:pt x="552336" y="10032"/>
                  </a:lnTo>
                  <a:lnTo>
                    <a:pt x="505130" y="2528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0AB5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 descr="icons/seedling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43722" y="2660395"/>
              <a:ext cx="438480" cy="43848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826183" y="3518903"/>
            <a:ext cx="871855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spc="70" dirty="0">
                <a:solidFill>
                  <a:srgbClr val="079094"/>
                </a:solidFill>
                <a:latin typeface="Calibri"/>
                <a:cs typeface="Calibri"/>
              </a:rPr>
              <a:t>MONTHS</a:t>
            </a:r>
            <a:r>
              <a:rPr sz="1050" b="1" spc="190" dirty="0">
                <a:solidFill>
                  <a:srgbClr val="079094"/>
                </a:solidFill>
                <a:latin typeface="Calibri"/>
                <a:cs typeface="Calibri"/>
              </a:rPr>
              <a:t> </a:t>
            </a:r>
            <a:r>
              <a:rPr sz="1050" b="1" spc="-20" dirty="0">
                <a:solidFill>
                  <a:srgbClr val="079094"/>
                </a:solidFill>
                <a:latin typeface="Calibri"/>
                <a:cs typeface="Calibri"/>
              </a:rPr>
              <a:t>1</a:t>
            </a:r>
            <a:r>
              <a:rPr sz="1050" b="1" spc="-130" dirty="0">
                <a:solidFill>
                  <a:srgbClr val="079094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079094"/>
                </a:solidFill>
                <a:latin typeface="Calibri"/>
                <a:cs typeface="Calibri"/>
              </a:rPr>
              <a:t>–</a:t>
            </a:r>
            <a:r>
              <a:rPr sz="1050" b="1" spc="-150" dirty="0">
                <a:solidFill>
                  <a:srgbClr val="079094"/>
                </a:solidFill>
                <a:latin typeface="Calibri"/>
                <a:cs typeface="Calibri"/>
              </a:rPr>
              <a:t> </a:t>
            </a:r>
            <a:r>
              <a:rPr sz="1050" b="1" spc="-60" dirty="0">
                <a:solidFill>
                  <a:srgbClr val="079094"/>
                </a:solidFill>
                <a:latin typeface="Calibri"/>
                <a:cs typeface="Calibri"/>
              </a:rPr>
              <a:t>3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90294" y="3838587"/>
            <a:ext cx="15436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Arial"/>
                <a:cs typeface="Arial"/>
              </a:rPr>
              <a:t>Phase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1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—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spc="-20" dirty="0">
                <a:latin typeface="Arial"/>
                <a:cs typeface="Arial"/>
              </a:rPr>
              <a:t>Pilot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95743" y="4472238"/>
            <a:ext cx="2333625" cy="656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20000"/>
              </a:lnSpc>
              <a:spcBef>
                <a:spcPts val="100"/>
              </a:spcBef>
            </a:pP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One</a:t>
            </a:r>
            <a:r>
              <a:rPr sz="1150" spc="-2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494949"/>
                </a:solidFill>
                <a:latin typeface="Calibri"/>
                <a:cs typeface="Calibri"/>
              </a:rPr>
              <a:t>collection</a:t>
            </a:r>
            <a:r>
              <a:rPr sz="1150" spc="-1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point.</a:t>
            </a:r>
            <a:r>
              <a:rPr sz="1150" spc="-1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Real</a:t>
            </a:r>
            <a:r>
              <a:rPr sz="1150" spc="-10" dirty="0">
                <a:solidFill>
                  <a:srgbClr val="494949"/>
                </a:solidFill>
                <a:latin typeface="Calibri"/>
                <a:cs typeface="Calibri"/>
              </a:rPr>
              <a:t> farmers,</a:t>
            </a:r>
            <a:r>
              <a:rPr sz="1150" spc="-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spc="-20" dirty="0">
                <a:solidFill>
                  <a:srgbClr val="494949"/>
                </a:solidFill>
                <a:latin typeface="Calibri"/>
                <a:cs typeface="Calibri"/>
              </a:rPr>
              <a:t>real </a:t>
            </a: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harvests.</a:t>
            </a:r>
            <a:r>
              <a:rPr sz="1150" spc="-4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Measure</a:t>
            </a:r>
            <a:r>
              <a:rPr sz="1150" spc="-5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actual</a:t>
            </a:r>
            <a:r>
              <a:rPr sz="1150" spc="-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vs.</a:t>
            </a:r>
            <a:r>
              <a:rPr sz="1150" spc="-4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494949"/>
                </a:solidFill>
                <a:latin typeface="Calibri"/>
                <a:cs typeface="Calibri"/>
              </a:rPr>
              <a:t>predicted outcomes.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050360" y="3748684"/>
            <a:ext cx="219710" cy="27305"/>
          </a:xfrm>
          <a:custGeom>
            <a:avLst/>
            <a:gdLst/>
            <a:ahLst/>
            <a:cxnLst/>
            <a:rect l="l" t="t" r="r" b="b"/>
            <a:pathLst>
              <a:path w="219710" h="27304">
                <a:moveTo>
                  <a:pt x="219240" y="0"/>
                </a:moveTo>
                <a:lnTo>
                  <a:pt x="0" y="0"/>
                </a:lnTo>
                <a:lnTo>
                  <a:pt x="0" y="27000"/>
                </a:lnTo>
                <a:lnTo>
                  <a:pt x="109804" y="27000"/>
                </a:lnTo>
                <a:lnTo>
                  <a:pt x="219240" y="27000"/>
                </a:lnTo>
                <a:lnTo>
                  <a:pt x="219240" y="0"/>
                </a:lnTo>
                <a:close/>
              </a:path>
            </a:pathLst>
          </a:custGeom>
          <a:solidFill>
            <a:srgbClr val="C8D2C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4343044" y="2102396"/>
            <a:ext cx="3429635" cy="3383915"/>
            <a:chOff x="4343044" y="2102396"/>
            <a:chExt cx="3429635" cy="3383915"/>
          </a:xfrm>
        </p:grpSpPr>
        <p:sp>
          <p:nvSpPr>
            <p:cNvPr id="13" name="object 13"/>
            <p:cNvSpPr/>
            <p:nvPr/>
          </p:nvSpPr>
          <p:spPr>
            <a:xfrm>
              <a:off x="4343044" y="2102396"/>
              <a:ext cx="3429635" cy="3383915"/>
            </a:xfrm>
            <a:custGeom>
              <a:avLst/>
              <a:gdLst/>
              <a:ahLst/>
              <a:cxnLst/>
              <a:rect l="l" t="t" r="r" b="b"/>
              <a:pathLst>
                <a:path w="3429634" h="3383915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934"/>
                  </a:lnTo>
                  <a:lnTo>
                    <a:pt x="355" y="109804"/>
                  </a:lnTo>
                  <a:lnTo>
                    <a:pt x="0" y="3273844"/>
                  </a:lnTo>
                  <a:lnTo>
                    <a:pt x="929" y="3288113"/>
                  </a:lnTo>
                  <a:lnTo>
                    <a:pt x="939" y="3288274"/>
                  </a:lnTo>
                  <a:lnTo>
                    <a:pt x="3699" y="3302149"/>
                  </a:lnTo>
                  <a:lnTo>
                    <a:pt x="3735" y="3302331"/>
                  </a:lnTo>
                  <a:lnTo>
                    <a:pt x="8284" y="3315713"/>
                  </a:lnTo>
                  <a:lnTo>
                    <a:pt x="32213" y="3351468"/>
                  </a:lnTo>
                  <a:lnTo>
                    <a:pt x="67932" y="3375290"/>
                  </a:lnTo>
                  <a:lnTo>
                    <a:pt x="109791" y="3383648"/>
                  </a:lnTo>
                  <a:lnTo>
                    <a:pt x="3319551" y="3383648"/>
                  </a:lnTo>
                  <a:lnTo>
                    <a:pt x="3361622" y="3375290"/>
                  </a:lnTo>
                  <a:lnTo>
                    <a:pt x="3397126" y="3351468"/>
                  </a:lnTo>
                  <a:lnTo>
                    <a:pt x="3420902" y="3315915"/>
                  </a:lnTo>
                  <a:lnTo>
                    <a:pt x="3425558" y="3302331"/>
                  </a:lnTo>
                  <a:lnTo>
                    <a:pt x="3425620" y="3302149"/>
                  </a:lnTo>
                  <a:lnTo>
                    <a:pt x="3428383" y="3288274"/>
                  </a:lnTo>
                  <a:lnTo>
                    <a:pt x="3428415" y="3288113"/>
                  </a:lnTo>
                  <a:lnTo>
                    <a:pt x="3429355" y="3273844"/>
                  </a:lnTo>
                  <a:lnTo>
                    <a:pt x="3429332" y="109804"/>
                  </a:lnTo>
                  <a:lnTo>
                    <a:pt x="3421002" y="68095"/>
                  </a:lnTo>
                  <a:lnTo>
                    <a:pt x="3397132" y="32535"/>
                  </a:lnTo>
                  <a:lnTo>
                    <a:pt x="3361422" y="8721"/>
                  </a:lnTo>
                  <a:lnTo>
                    <a:pt x="3319551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9F7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600522" y="2422804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09269" y="2528"/>
                  </a:lnTo>
                  <a:lnTo>
                    <a:pt x="362063" y="10032"/>
                  </a:lnTo>
                  <a:lnTo>
                    <a:pt x="315963" y="22392"/>
                  </a:lnTo>
                  <a:lnTo>
                    <a:pt x="271348" y="39489"/>
                  </a:lnTo>
                  <a:lnTo>
                    <a:pt x="228600" y="61201"/>
                  </a:lnTo>
                  <a:lnTo>
                    <a:pt x="188380" y="87419"/>
                  </a:lnTo>
                  <a:lnTo>
                    <a:pt x="151272" y="117528"/>
                  </a:lnTo>
                  <a:lnTo>
                    <a:pt x="117534" y="151268"/>
                  </a:lnTo>
                  <a:lnTo>
                    <a:pt x="87424" y="188379"/>
                  </a:lnTo>
                  <a:lnTo>
                    <a:pt x="61201" y="228600"/>
                  </a:lnTo>
                  <a:lnTo>
                    <a:pt x="39489" y="271347"/>
                  </a:lnTo>
                  <a:lnTo>
                    <a:pt x="22392" y="315959"/>
                  </a:lnTo>
                  <a:lnTo>
                    <a:pt x="10032" y="362058"/>
                  </a:lnTo>
                  <a:lnTo>
                    <a:pt x="2528" y="409264"/>
                  </a:lnTo>
                  <a:lnTo>
                    <a:pt x="0" y="457200"/>
                  </a:lnTo>
                  <a:lnTo>
                    <a:pt x="2528" y="505130"/>
                  </a:lnTo>
                  <a:lnTo>
                    <a:pt x="10032" y="552336"/>
                  </a:lnTo>
                  <a:lnTo>
                    <a:pt x="22392" y="598436"/>
                  </a:lnTo>
                  <a:lnTo>
                    <a:pt x="39489" y="643051"/>
                  </a:lnTo>
                  <a:lnTo>
                    <a:pt x="61201" y="685800"/>
                  </a:lnTo>
                  <a:lnTo>
                    <a:pt x="87424" y="726019"/>
                  </a:lnTo>
                  <a:lnTo>
                    <a:pt x="117534" y="763127"/>
                  </a:lnTo>
                  <a:lnTo>
                    <a:pt x="151272" y="796865"/>
                  </a:lnTo>
                  <a:lnTo>
                    <a:pt x="188380" y="826975"/>
                  </a:lnTo>
                  <a:lnTo>
                    <a:pt x="228600" y="853198"/>
                  </a:lnTo>
                  <a:lnTo>
                    <a:pt x="271348" y="874906"/>
                  </a:lnTo>
                  <a:lnTo>
                    <a:pt x="315963" y="892001"/>
                  </a:lnTo>
                  <a:lnTo>
                    <a:pt x="362063" y="904363"/>
                  </a:lnTo>
                  <a:lnTo>
                    <a:pt x="409269" y="911870"/>
                  </a:lnTo>
                  <a:lnTo>
                    <a:pt x="457200" y="914400"/>
                  </a:lnTo>
                  <a:lnTo>
                    <a:pt x="505130" y="911870"/>
                  </a:lnTo>
                  <a:lnTo>
                    <a:pt x="552336" y="904363"/>
                  </a:lnTo>
                  <a:lnTo>
                    <a:pt x="598436" y="892001"/>
                  </a:lnTo>
                  <a:lnTo>
                    <a:pt x="643051" y="874906"/>
                  </a:lnTo>
                  <a:lnTo>
                    <a:pt x="685800" y="853198"/>
                  </a:lnTo>
                  <a:lnTo>
                    <a:pt x="726019" y="826975"/>
                  </a:lnTo>
                  <a:lnTo>
                    <a:pt x="763127" y="796865"/>
                  </a:lnTo>
                  <a:lnTo>
                    <a:pt x="796865" y="763127"/>
                  </a:lnTo>
                  <a:lnTo>
                    <a:pt x="826975" y="726019"/>
                  </a:lnTo>
                  <a:lnTo>
                    <a:pt x="853198" y="685800"/>
                  </a:lnTo>
                  <a:lnTo>
                    <a:pt x="874906" y="643051"/>
                  </a:lnTo>
                  <a:lnTo>
                    <a:pt x="892001" y="598436"/>
                  </a:lnTo>
                  <a:lnTo>
                    <a:pt x="904363" y="552336"/>
                  </a:lnTo>
                  <a:lnTo>
                    <a:pt x="911870" y="505130"/>
                  </a:lnTo>
                  <a:lnTo>
                    <a:pt x="914400" y="457200"/>
                  </a:lnTo>
                  <a:lnTo>
                    <a:pt x="911870" y="409264"/>
                  </a:lnTo>
                  <a:lnTo>
                    <a:pt x="904363" y="362058"/>
                  </a:lnTo>
                  <a:lnTo>
                    <a:pt x="892001" y="315959"/>
                  </a:lnTo>
                  <a:lnTo>
                    <a:pt x="874906" y="271347"/>
                  </a:lnTo>
                  <a:lnTo>
                    <a:pt x="853198" y="228600"/>
                  </a:lnTo>
                  <a:lnTo>
                    <a:pt x="826975" y="188379"/>
                  </a:lnTo>
                  <a:lnTo>
                    <a:pt x="796865" y="151268"/>
                  </a:lnTo>
                  <a:lnTo>
                    <a:pt x="763127" y="117528"/>
                  </a:lnTo>
                  <a:lnTo>
                    <a:pt x="726019" y="87419"/>
                  </a:lnTo>
                  <a:lnTo>
                    <a:pt x="685800" y="61201"/>
                  </a:lnTo>
                  <a:lnTo>
                    <a:pt x="643051" y="39489"/>
                  </a:lnTo>
                  <a:lnTo>
                    <a:pt x="598436" y="22392"/>
                  </a:lnTo>
                  <a:lnTo>
                    <a:pt x="552336" y="10032"/>
                  </a:lnTo>
                  <a:lnTo>
                    <a:pt x="505130" y="2528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0AB5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 descr="icons/chart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38481" y="2660395"/>
              <a:ext cx="438480" cy="43848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5738304" y="3518903"/>
            <a:ext cx="638175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spc="65" dirty="0">
                <a:solidFill>
                  <a:srgbClr val="079094"/>
                </a:solidFill>
                <a:latin typeface="Calibri"/>
                <a:cs typeface="Calibri"/>
              </a:rPr>
              <a:t>MONTH</a:t>
            </a:r>
            <a:r>
              <a:rPr sz="1050" b="1" spc="190" dirty="0">
                <a:solidFill>
                  <a:srgbClr val="079094"/>
                </a:solidFill>
                <a:latin typeface="Calibri"/>
                <a:cs typeface="Calibri"/>
              </a:rPr>
              <a:t> </a:t>
            </a:r>
            <a:r>
              <a:rPr sz="1050" b="1" spc="-50" dirty="0">
                <a:solidFill>
                  <a:srgbClr val="079094"/>
                </a:solidFill>
                <a:latin typeface="Calibri"/>
                <a:cs typeface="Calibri"/>
              </a:rPr>
              <a:t>4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87785" y="3838587"/>
            <a:ext cx="19380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Arial"/>
                <a:cs typeface="Arial"/>
              </a:rPr>
              <a:t>Phase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2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—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Evaluate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70183" y="4472238"/>
            <a:ext cx="2773680" cy="656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20000"/>
              </a:lnSpc>
              <a:spcBef>
                <a:spcPts val="100"/>
              </a:spcBef>
            </a:pP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Compare</a:t>
            </a:r>
            <a:r>
              <a:rPr sz="1150" spc="-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pilot</a:t>
            </a:r>
            <a:r>
              <a:rPr sz="1150" spc="-2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results</a:t>
            </a:r>
            <a:r>
              <a:rPr sz="1150" spc="-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to</a:t>
            </a:r>
            <a:r>
              <a:rPr sz="1150" spc="-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this</a:t>
            </a:r>
            <a:r>
              <a:rPr sz="1150" spc="-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494949"/>
                </a:solidFill>
                <a:latin typeface="Calibri"/>
                <a:cs typeface="Calibri"/>
              </a:rPr>
              <a:t>forecast.</a:t>
            </a:r>
            <a:r>
              <a:rPr sz="1150" spc="-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spc="-20" dirty="0">
                <a:solidFill>
                  <a:srgbClr val="494949"/>
                </a:solidFill>
                <a:latin typeface="Calibri"/>
                <a:cs typeface="Calibri"/>
              </a:rPr>
              <a:t>Re-price </a:t>
            </a: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the</a:t>
            </a:r>
            <a:r>
              <a:rPr sz="1150" spc="-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business</a:t>
            </a:r>
            <a:r>
              <a:rPr sz="1150" spc="-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case</a:t>
            </a:r>
            <a:r>
              <a:rPr sz="1150" spc="-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with</a:t>
            </a:r>
            <a:r>
              <a:rPr sz="1150" spc="-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real</a:t>
            </a:r>
            <a:r>
              <a:rPr sz="1150" spc="-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numbers</a:t>
            </a:r>
            <a:r>
              <a:rPr sz="1150" spc="-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494949"/>
                </a:solidFill>
                <a:latin typeface="Calibri"/>
                <a:cs typeface="Calibri"/>
              </a:rPr>
              <a:t>before scaling.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845120" y="3748684"/>
            <a:ext cx="219710" cy="27305"/>
          </a:xfrm>
          <a:custGeom>
            <a:avLst/>
            <a:gdLst/>
            <a:ahLst/>
            <a:cxnLst/>
            <a:rect l="l" t="t" r="r" b="b"/>
            <a:pathLst>
              <a:path w="219709" h="27304">
                <a:moveTo>
                  <a:pt x="219240" y="0"/>
                </a:moveTo>
                <a:lnTo>
                  <a:pt x="0" y="0"/>
                </a:lnTo>
                <a:lnTo>
                  <a:pt x="0" y="27000"/>
                </a:lnTo>
                <a:lnTo>
                  <a:pt x="109804" y="27000"/>
                </a:lnTo>
                <a:lnTo>
                  <a:pt x="219240" y="27000"/>
                </a:lnTo>
                <a:lnTo>
                  <a:pt x="219240" y="0"/>
                </a:lnTo>
                <a:close/>
              </a:path>
            </a:pathLst>
          </a:custGeom>
          <a:solidFill>
            <a:srgbClr val="C8D2C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8137804" y="2102396"/>
            <a:ext cx="3429635" cy="3383915"/>
            <a:chOff x="8137804" y="2102396"/>
            <a:chExt cx="3429635" cy="3383915"/>
          </a:xfrm>
        </p:grpSpPr>
        <p:sp>
          <p:nvSpPr>
            <p:cNvPr id="21" name="object 21"/>
            <p:cNvSpPr/>
            <p:nvPr/>
          </p:nvSpPr>
          <p:spPr>
            <a:xfrm>
              <a:off x="8137804" y="2102396"/>
              <a:ext cx="3429635" cy="3383915"/>
            </a:xfrm>
            <a:custGeom>
              <a:avLst/>
              <a:gdLst/>
              <a:ahLst/>
              <a:cxnLst/>
              <a:rect l="l" t="t" r="r" b="b"/>
              <a:pathLst>
                <a:path w="3429634" h="3383915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934"/>
                  </a:lnTo>
                  <a:lnTo>
                    <a:pt x="355" y="109804"/>
                  </a:lnTo>
                  <a:lnTo>
                    <a:pt x="0" y="3273844"/>
                  </a:lnTo>
                  <a:lnTo>
                    <a:pt x="929" y="3288113"/>
                  </a:lnTo>
                  <a:lnTo>
                    <a:pt x="14757" y="3328924"/>
                  </a:lnTo>
                  <a:lnTo>
                    <a:pt x="22674" y="3340637"/>
                  </a:lnTo>
                  <a:lnTo>
                    <a:pt x="22775" y="3340787"/>
                  </a:lnTo>
                  <a:lnTo>
                    <a:pt x="55079" y="3368878"/>
                  </a:lnTo>
                  <a:lnTo>
                    <a:pt x="95524" y="3382708"/>
                  </a:lnTo>
                  <a:lnTo>
                    <a:pt x="109791" y="3383648"/>
                  </a:lnTo>
                  <a:lnTo>
                    <a:pt x="3319551" y="3383648"/>
                  </a:lnTo>
                  <a:lnTo>
                    <a:pt x="3361622" y="3375290"/>
                  </a:lnTo>
                  <a:lnTo>
                    <a:pt x="3397126" y="3351468"/>
                  </a:lnTo>
                  <a:lnTo>
                    <a:pt x="3420902" y="3315915"/>
                  </a:lnTo>
                  <a:lnTo>
                    <a:pt x="3425558" y="3302331"/>
                  </a:lnTo>
                  <a:lnTo>
                    <a:pt x="3425620" y="3302149"/>
                  </a:lnTo>
                  <a:lnTo>
                    <a:pt x="3428383" y="3288274"/>
                  </a:lnTo>
                  <a:lnTo>
                    <a:pt x="3428415" y="3288113"/>
                  </a:lnTo>
                  <a:lnTo>
                    <a:pt x="3429355" y="3273844"/>
                  </a:lnTo>
                  <a:lnTo>
                    <a:pt x="3429332" y="109804"/>
                  </a:lnTo>
                  <a:lnTo>
                    <a:pt x="3421002" y="68095"/>
                  </a:lnTo>
                  <a:lnTo>
                    <a:pt x="3397132" y="32535"/>
                  </a:lnTo>
                  <a:lnTo>
                    <a:pt x="3361422" y="8721"/>
                  </a:lnTo>
                  <a:lnTo>
                    <a:pt x="3319551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9F7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395281" y="2422804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09269" y="2528"/>
                  </a:lnTo>
                  <a:lnTo>
                    <a:pt x="362063" y="10032"/>
                  </a:lnTo>
                  <a:lnTo>
                    <a:pt x="315963" y="22392"/>
                  </a:lnTo>
                  <a:lnTo>
                    <a:pt x="271348" y="39489"/>
                  </a:lnTo>
                  <a:lnTo>
                    <a:pt x="228600" y="61201"/>
                  </a:lnTo>
                  <a:lnTo>
                    <a:pt x="188380" y="87419"/>
                  </a:lnTo>
                  <a:lnTo>
                    <a:pt x="151272" y="117528"/>
                  </a:lnTo>
                  <a:lnTo>
                    <a:pt x="117534" y="151268"/>
                  </a:lnTo>
                  <a:lnTo>
                    <a:pt x="87424" y="188379"/>
                  </a:lnTo>
                  <a:lnTo>
                    <a:pt x="61201" y="228600"/>
                  </a:lnTo>
                  <a:lnTo>
                    <a:pt x="39489" y="271347"/>
                  </a:lnTo>
                  <a:lnTo>
                    <a:pt x="22392" y="315959"/>
                  </a:lnTo>
                  <a:lnTo>
                    <a:pt x="10032" y="362058"/>
                  </a:lnTo>
                  <a:lnTo>
                    <a:pt x="2528" y="409264"/>
                  </a:lnTo>
                  <a:lnTo>
                    <a:pt x="0" y="457200"/>
                  </a:lnTo>
                  <a:lnTo>
                    <a:pt x="2528" y="505130"/>
                  </a:lnTo>
                  <a:lnTo>
                    <a:pt x="10032" y="552336"/>
                  </a:lnTo>
                  <a:lnTo>
                    <a:pt x="22392" y="598436"/>
                  </a:lnTo>
                  <a:lnTo>
                    <a:pt x="39489" y="643051"/>
                  </a:lnTo>
                  <a:lnTo>
                    <a:pt x="61201" y="685800"/>
                  </a:lnTo>
                  <a:lnTo>
                    <a:pt x="87424" y="726019"/>
                  </a:lnTo>
                  <a:lnTo>
                    <a:pt x="117534" y="763127"/>
                  </a:lnTo>
                  <a:lnTo>
                    <a:pt x="151272" y="796865"/>
                  </a:lnTo>
                  <a:lnTo>
                    <a:pt x="188380" y="826975"/>
                  </a:lnTo>
                  <a:lnTo>
                    <a:pt x="228600" y="853198"/>
                  </a:lnTo>
                  <a:lnTo>
                    <a:pt x="271348" y="874906"/>
                  </a:lnTo>
                  <a:lnTo>
                    <a:pt x="315963" y="892001"/>
                  </a:lnTo>
                  <a:lnTo>
                    <a:pt x="362063" y="904363"/>
                  </a:lnTo>
                  <a:lnTo>
                    <a:pt x="409269" y="911870"/>
                  </a:lnTo>
                  <a:lnTo>
                    <a:pt x="457200" y="914400"/>
                  </a:lnTo>
                  <a:lnTo>
                    <a:pt x="505130" y="911870"/>
                  </a:lnTo>
                  <a:lnTo>
                    <a:pt x="552336" y="904363"/>
                  </a:lnTo>
                  <a:lnTo>
                    <a:pt x="598436" y="892001"/>
                  </a:lnTo>
                  <a:lnTo>
                    <a:pt x="643051" y="874906"/>
                  </a:lnTo>
                  <a:lnTo>
                    <a:pt x="685800" y="853198"/>
                  </a:lnTo>
                  <a:lnTo>
                    <a:pt x="726019" y="826975"/>
                  </a:lnTo>
                  <a:lnTo>
                    <a:pt x="763127" y="796865"/>
                  </a:lnTo>
                  <a:lnTo>
                    <a:pt x="796865" y="763127"/>
                  </a:lnTo>
                  <a:lnTo>
                    <a:pt x="826975" y="726019"/>
                  </a:lnTo>
                  <a:lnTo>
                    <a:pt x="853198" y="685800"/>
                  </a:lnTo>
                  <a:lnTo>
                    <a:pt x="874906" y="643051"/>
                  </a:lnTo>
                  <a:lnTo>
                    <a:pt x="892001" y="598436"/>
                  </a:lnTo>
                  <a:lnTo>
                    <a:pt x="904363" y="552336"/>
                  </a:lnTo>
                  <a:lnTo>
                    <a:pt x="911870" y="505130"/>
                  </a:lnTo>
                  <a:lnTo>
                    <a:pt x="914400" y="457200"/>
                  </a:lnTo>
                  <a:lnTo>
                    <a:pt x="911870" y="409264"/>
                  </a:lnTo>
                  <a:lnTo>
                    <a:pt x="904363" y="362058"/>
                  </a:lnTo>
                  <a:lnTo>
                    <a:pt x="892001" y="315959"/>
                  </a:lnTo>
                  <a:lnTo>
                    <a:pt x="874906" y="271347"/>
                  </a:lnTo>
                  <a:lnTo>
                    <a:pt x="853198" y="228600"/>
                  </a:lnTo>
                  <a:lnTo>
                    <a:pt x="826975" y="188379"/>
                  </a:lnTo>
                  <a:lnTo>
                    <a:pt x="796865" y="151268"/>
                  </a:lnTo>
                  <a:lnTo>
                    <a:pt x="763127" y="117528"/>
                  </a:lnTo>
                  <a:lnTo>
                    <a:pt x="726019" y="87419"/>
                  </a:lnTo>
                  <a:lnTo>
                    <a:pt x="685800" y="61201"/>
                  </a:lnTo>
                  <a:lnTo>
                    <a:pt x="643051" y="39489"/>
                  </a:lnTo>
                  <a:lnTo>
                    <a:pt x="598436" y="22392"/>
                  </a:lnTo>
                  <a:lnTo>
                    <a:pt x="552336" y="10032"/>
                  </a:lnTo>
                  <a:lnTo>
                    <a:pt x="505130" y="2528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0AB5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 descr="icons/route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33241" y="2660395"/>
              <a:ext cx="438480" cy="438480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9455657" y="3518903"/>
            <a:ext cx="793115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spc="70" dirty="0">
                <a:solidFill>
                  <a:srgbClr val="079094"/>
                </a:solidFill>
                <a:latin typeface="Calibri"/>
                <a:cs typeface="Calibri"/>
              </a:rPr>
              <a:t>MONTHS</a:t>
            </a:r>
            <a:r>
              <a:rPr sz="1050" b="1" spc="190" dirty="0">
                <a:solidFill>
                  <a:srgbClr val="079094"/>
                </a:solidFill>
                <a:latin typeface="Calibri"/>
                <a:cs typeface="Calibri"/>
              </a:rPr>
              <a:t> </a:t>
            </a:r>
            <a:r>
              <a:rPr sz="1050" b="1" spc="-20" dirty="0">
                <a:solidFill>
                  <a:srgbClr val="079094"/>
                </a:solidFill>
                <a:latin typeface="Calibri"/>
                <a:cs typeface="Calibri"/>
              </a:rPr>
              <a:t>5</a:t>
            </a:r>
            <a:r>
              <a:rPr sz="1050" b="1" spc="-130" dirty="0">
                <a:solidFill>
                  <a:srgbClr val="079094"/>
                </a:solidFill>
                <a:latin typeface="Calibri"/>
                <a:cs typeface="Calibri"/>
              </a:rPr>
              <a:t> </a:t>
            </a:r>
            <a:r>
              <a:rPr sz="1050" b="1" spc="-50" dirty="0">
                <a:solidFill>
                  <a:srgbClr val="079094"/>
                </a:solidFill>
                <a:latin typeface="Calibri"/>
                <a:cs typeface="Calibri"/>
              </a:rPr>
              <a:t>+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25" name="object 25"/>
          <p:cNvSpPr txBox="1"/>
          <p:nvPr/>
        </p:nvSpPr>
        <p:spPr>
          <a:xfrm>
            <a:off x="9034094" y="3838587"/>
            <a:ext cx="163448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Arial"/>
                <a:cs typeface="Arial"/>
              </a:rPr>
              <a:t>Phase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3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—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spc="-20" dirty="0">
                <a:latin typeface="Arial"/>
                <a:cs typeface="Arial"/>
              </a:rPr>
              <a:t>Scale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3940" y="4472238"/>
            <a:ext cx="2574290" cy="656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" algn="ctr">
              <a:lnSpc>
                <a:spcPct val="120000"/>
              </a:lnSpc>
              <a:spcBef>
                <a:spcPts val="100"/>
              </a:spcBef>
            </a:pPr>
            <a:r>
              <a:rPr sz="1150" spc="-10" dirty="0">
                <a:solidFill>
                  <a:srgbClr val="494949"/>
                </a:solidFill>
                <a:latin typeface="Calibri"/>
                <a:cs typeface="Calibri"/>
              </a:rPr>
              <a:t>Cooperative-</a:t>
            </a: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wide</a:t>
            </a:r>
            <a:r>
              <a:rPr sz="1150" spc="-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rollout,</a:t>
            </a:r>
            <a:r>
              <a:rPr sz="1150" spc="-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plus</a:t>
            </a:r>
            <a:r>
              <a:rPr sz="1150" spc="-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the</a:t>
            </a:r>
            <a:r>
              <a:rPr sz="1150" spc="-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spc="-20" dirty="0">
                <a:solidFill>
                  <a:srgbClr val="494949"/>
                </a:solidFill>
                <a:latin typeface="Calibri"/>
                <a:cs typeface="Calibri"/>
              </a:rPr>
              <a:t>text-</a:t>
            </a: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message</a:t>
            </a:r>
            <a:r>
              <a:rPr sz="1150" spc="-2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channel</a:t>
            </a:r>
            <a:r>
              <a:rPr sz="1150" spc="-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94949"/>
                </a:solidFill>
                <a:latin typeface="Calibri"/>
                <a:cs typeface="Calibri"/>
              </a:rPr>
              <a:t>reaching</a:t>
            </a:r>
            <a:r>
              <a:rPr sz="1150" spc="-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494949"/>
                </a:solidFill>
                <a:latin typeface="Calibri"/>
                <a:cs typeface="Calibri"/>
              </a:rPr>
              <a:t>farmers</a:t>
            </a:r>
            <a:r>
              <a:rPr sz="1150" spc="-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494949"/>
                </a:solidFill>
                <a:latin typeface="Calibri"/>
                <a:cs typeface="Calibri"/>
              </a:rPr>
              <a:t>without smartphones.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58" y="6858000"/>
                </a:lnTo>
                <a:lnTo>
                  <a:pt x="12191758" y="0"/>
                </a:lnTo>
                <a:close/>
              </a:path>
            </a:pathLst>
          </a:custGeom>
          <a:solidFill>
            <a:srgbClr val="FCF6F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355" y="-355"/>
            <a:ext cx="3840479" cy="6858000"/>
            <a:chOff x="-355" y="-355"/>
            <a:chExt cx="3840479" cy="6858000"/>
          </a:xfrm>
        </p:grpSpPr>
        <p:sp>
          <p:nvSpPr>
            <p:cNvPr id="4" name="object 4"/>
            <p:cNvSpPr/>
            <p:nvPr/>
          </p:nvSpPr>
          <p:spPr>
            <a:xfrm>
              <a:off x="-355" y="-355"/>
              <a:ext cx="3840479" cy="6858000"/>
            </a:xfrm>
            <a:custGeom>
              <a:avLst/>
              <a:gdLst/>
              <a:ahLst/>
              <a:cxnLst/>
              <a:rect l="l" t="t" r="r" b="b"/>
              <a:pathLst>
                <a:path w="3840479" h="6858000">
                  <a:moveTo>
                    <a:pt x="3840111" y="0"/>
                  </a:moveTo>
                  <a:lnTo>
                    <a:pt x="0" y="0"/>
                  </a:lnTo>
                  <a:lnTo>
                    <a:pt x="0" y="6857631"/>
                  </a:lnTo>
                  <a:lnTo>
                    <a:pt x="1920239" y="6857631"/>
                  </a:lnTo>
                  <a:lnTo>
                    <a:pt x="3840111" y="6857631"/>
                  </a:lnTo>
                  <a:lnTo>
                    <a:pt x="3840111" y="0"/>
                  </a:lnTo>
                  <a:close/>
                </a:path>
              </a:pathLst>
            </a:custGeom>
            <a:solidFill>
              <a:srgbClr val="0AB5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 descr="assets/megaphone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88719" y="2651391"/>
              <a:ext cx="1462684" cy="1462684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284624" y="702982"/>
            <a:ext cx="83121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60" dirty="0"/>
              <a:t>CTA</a:t>
            </a:r>
            <a:endParaRPr sz="3200"/>
          </a:p>
        </p:txBody>
      </p:sp>
      <p:sp>
        <p:nvSpPr>
          <p:cNvPr id="7" name="object 7"/>
          <p:cNvSpPr txBox="1"/>
          <p:nvPr/>
        </p:nvSpPr>
        <p:spPr>
          <a:xfrm>
            <a:off x="4284624" y="1921573"/>
            <a:ext cx="7255509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latin typeface="Arial"/>
                <a:cs typeface="Arial"/>
              </a:rPr>
              <a:t>Approve</a:t>
            </a:r>
            <a:r>
              <a:rPr sz="2600" b="1" spc="-40" dirty="0">
                <a:latin typeface="Arial"/>
                <a:cs typeface="Arial"/>
              </a:rPr>
              <a:t> </a:t>
            </a:r>
            <a:r>
              <a:rPr sz="2600" b="1" dirty="0">
                <a:latin typeface="Arial"/>
                <a:cs typeface="Arial"/>
              </a:rPr>
              <a:t>a</a:t>
            </a:r>
            <a:r>
              <a:rPr sz="2600" b="1" spc="-30" dirty="0">
                <a:latin typeface="Arial"/>
                <a:cs typeface="Arial"/>
              </a:rPr>
              <a:t> </a:t>
            </a:r>
            <a:r>
              <a:rPr sz="2600" b="1" spc="-20" dirty="0">
                <a:latin typeface="Arial"/>
                <a:cs typeface="Arial"/>
              </a:rPr>
              <a:t>90-</a:t>
            </a:r>
            <a:r>
              <a:rPr sz="2600" b="1" dirty="0">
                <a:latin typeface="Arial"/>
                <a:cs typeface="Arial"/>
              </a:rPr>
              <a:t>day</a:t>
            </a:r>
            <a:r>
              <a:rPr sz="2600" b="1" spc="-35" dirty="0">
                <a:latin typeface="Arial"/>
                <a:cs typeface="Arial"/>
              </a:rPr>
              <a:t> </a:t>
            </a:r>
            <a:r>
              <a:rPr sz="2600" b="1" dirty="0">
                <a:latin typeface="Arial"/>
                <a:cs typeface="Arial"/>
              </a:rPr>
              <a:t>pilot</a:t>
            </a:r>
            <a:r>
              <a:rPr sz="2600" b="1" spc="-25" dirty="0">
                <a:latin typeface="Arial"/>
                <a:cs typeface="Arial"/>
              </a:rPr>
              <a:t> </a:t>
            </a:r>
            <a:r>
              <a:rPr sz="2600" b="1" dirty="0">
                <a:latin typeface="Arial"/>
                <a:cs typeface="Arial"/>
              </a:rPr>
              <a:t>at</a:t>
            </a:r>
            <a:r>
              <a:rPr sz="2600" b="1" spc="-35" dirty="0">
                <a:latin typeface="Arial"/>
                <a:cs typeface="Arial"/>
              </a:rPr>
              <a:t> </a:t>
            </a:r>
            <a:r>
              <a:rPr sz="2600" b="1" dirty="0">
                <a:latin typeface="Arial"/>
                <a:cs typeface="Arial"/>
              </a:rPr>
              <a:t>one</a:t>
            </a:r>
            <a:r>
              <a:rPr sz="2600" b="1" spc="-35" dirty="0">
                <a:latin typeface="Arial"/>
                <a:cs typeface="Arial"/>
              </a:rPr>
              <a:t> </a:t>
            </a:r>
            <a:r>
              <a:rPr sz="2600" b="1" dirty="0">
                <a:latin typeface="Arial"/>
                <a:cs typeface="Arial"/>
              </a:rPr>
              <a:t>collection</a:t>
            </a:r>
            <a:r>
              <a:rPr sz="2600" b="1" spc="-40" dirty="0">
                <a:latin typeface="Arial"/>
                <a:cs typeface="Arial"/>
              </a:rPr>
              <a:t> </a:t>
            </a:r>
            <a:r>
              <a:rPr sz="2600" b="1" spc="-10" dirty="0">
                <a:latin typeface="Arial"/>
                <a:cs typeface="Arial"/>
              </a:rPr>
              <a:t>point.</a:t>
            </a:r>
            <a:endParaRPr sz="2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84624" y="3106122"/>
            <a:ext cx="7235825" cy="920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900"/>
              </a:lnSpc>
              <a:spcBef>
                <a:spcPts val="100"/>
              </a:spcBef>
            </a:pPr>
            <a:r>
              <a:rPr sz="1450" dirty="0">
                <a:solidFill>
                  <a:srgbClr val="494949"/>
                </a:solidFill>
                <a:latin typeface="Calibri"/>
                <a:cs typeface="Calibri"/>
              </a:rPr>
              <a:t>Full</a:t>
            </a:r>
            <a:r>
              <a:rPr sz="1450" spc="-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450" spc="-35" dirty="0">
                <a:solidFill>
                  <a:srgbClr val="494949"/>
                </a:solidFill>
                <a:latin typeface="Calibri"/>
                <a:cs typeface="Calibri"/>
              </a:rPr>
              <a:t>first-</a:t>
            </a:r>
            <a:r>
              <a:rPr sz="1450" dirty="0">
                <a:solidFill>
                  <a:srgbClr val="494949"/>
                </a:solidFill>
                <a:latin typeface="Calibri"/>
                <a:cs typeface="Calibri"/>
              </a:rPr>
              <a:t>year</a:t>
            </a:r>
            <a:r>
              <a:rPr sz="1450" spc="-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494949"/>
                </a:solidFill>
                <a:latin typeface="Calibri"/>
                <a:cs typeface="Calibri"/>
              </a:rPr>
              <a:t>investment:</a:t>
            </a:r>
            <a:r>
              <a:rPr sz="1450" spc="-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494949"/>
                </a:solidFill>
                <a:latin typeface="Calibri"/>
                <a:cs typeface="Calibri"/>
              </a:rPr>
              <a:t>KES</a:t>
            </a:r>
            <a:r>
              <a:rPr sz="1450" spc="-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494949"/>
                </a:solidFill>
                <a:latin typeface="Calibri"/>
                <a:cs typeface="Calibri"/>
              </a:rPr>
              <a:t>450,000.</a:t>
            </a:r>
            <a:r>
              <a:rPr sz="1450" spc="-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494949"/>
                </a:solidFill>
                <a:latin typeface="Calibri"/>
                <a:cs typeface="Calibri"/>
              </a:rPr>
              <a:t>Projected</a:t>
            </a:r>
            <a:r>
              <a:rPr sz="1450" spc="-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494949"/>
                </a:solidFill>
                <a:latin typeface="Calibri"/>
                <a:cs typeface="Calibri"/>
              </a:rPr>
              <a:t>payback:</a:t>
            </a:r>
            <a:r>
              <a:rPr sz="1450" spc="-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494949"/>
                </a:solidFill>
                <a:latin typeface="Calibri"/>
                <a:cs typeface="Calibri"/>
              </a:rPr>
              <a:t>under</a:t>
            </a:r>
            <a:r>
              <a:rPr sz="1450" spc="-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494949"/>
                </a:solidFill>
                <a:latin typeface="Calibri"/>
                <a:cs typeface="Calibri"/>
              </a:rPr>
              <a:t>2</a:t>
            </a:r>
            <a:r>
              <a:rPr sz="1450" spc="-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494949"/>
                </a:solidFill>
                <a:latin typeface="Calibri"/>
                <a:cs typeface="Calibri"/>
              </a:rPr>
              <a:t>months,</a:t>
            </a:r>
            <a:r>
              <a:rPr sz="1450" spc="-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494949"/>
                </a:solidFill>
                <a:latin typeface="Calibri"/>
                <a:cs typeface="Calibri"/>
              </a:rPr>
              <a:t>even</a:t>
            </a:r>
            <a:r>
              <a:rPr sz="1450" spc="-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494949"/>
                </a:solidFill>
                <a:latin typeface="Calibri"/>
                <a:cs typeface="Calibri"/>
              </a:rPr>
              <a:t>at</a:t>
            </a:r>
            <a:r>
              <a:rPr sz="1450" spc="-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494949"/>
                </a:solidFill>
                <a:latin typeface="Calibri"/>
                <a:cs typeface="Calibri"/>
              </a:rPr>
              <a:t>pilot</a:t>
            </a:r>
            <a:r>
              <a:rPr sz="1450" spc="-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494949"/>
                </a:solidFill>
                <a:latin typeface="Calibri"/>
                <a:cs typeface="Calibri"/>
              </a:rPr>
              <a:t>scale. </a:t>
            </a:r>
            <a:r>
              <a:rPr sz="1450" dirty="0">
                <a:solidFill>
                  <a:srgbClr val="494949"/>
                </a:solidFill>
                <a:latin typeface="Calibri"/>
                <a:cs typeface="Calibri"/>
              </a:rPr>
              <a:t>Full</a:t>
            </a:r>
            <a:r>
              <a:rPr sz="1450" spc="-1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450" spc="-20" dirty="0">
                <a:solidFill>
                  <a:srgbClr val="494949"/>
                </a:solidFill>
                <a:latin typeface="Calibri"/>
                <a:cs typeface="Calibri"/>
              </a:rPr>
              <a:t>cooperative-</a:t>
            </a:r>
            <a:r>
              <a:rPr sz="1450" dirty="0">
                <a:solidFill>
                  <a:srgbClr val="494949"/>
                </a:solidFill>
                <a:latin typeface="Calibri"/>
                <a:cs typeface="Calibri"/>
              </a:rPr>
              <a:t>wide</a:t>
            </a:r>
            <a:r>
              <a:rPr sz="1450" spc="-2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494949"/>
                </a:solidFill>
                <a:latin typeface="Calibri"/>
                <a:cs typeface="Calibri"/>
              </a:rPr>
              <a:t>commitment</a:t>
            </a:r>
            <a:r>
              <a:rPr sz="1450" spc="-1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494949"/>
                </a:solidFill>
                <a:latin typeface="Calibri"/>
                <a:cs typeface="Calibri"/>
              </a:rPr>
              <a:t>—</a:t>
            </a:r>
            <a:r>
              <a:rPr sz="1450" spc="-1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494949"/>
                </a:solidFill>
                <a:latin typeface="Calibri"/>
                <a:cs typeface="Calibri"/>
              </a:rPr>
              <a:t>and</a:t>
            </a:r>
            <a:r>
              <a:rPr sz="1450" spc="-1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494949"/>
                </a:solidFill>
                <a:latin typeface="Calibri"/>
                <a:cs typeface="Calibri"/>
              </a:rPr>
              <a:t>any</a:t>
            </a:r>
            <a:r>
              <a:rPr sz="1450" spc="-1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494949"/>
                </a:solidFill>
                <a:latin typeface="Calibri"/>
                <a:cs typeface="Calibri"/>
              </a:rPr>
              <a:t>external</a:t>
            </a:r>
            <a:r>
              <a:rPr sz="1450" spc="-2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494949"/>
                </a:solidFill>
                <a:latin typeface="Calibri"/>
                <a:cs typeface="Calibri"/>
              </a:rPr>
              <a:t>partnership</a:t>
            </a:r>
            <a:r>
              <a:rPr sz="1450" spc="-1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494949"/>
                </a:solidFill>
                <a:latin typeface="Calibri"/>
                <a:cs typeface="Calibri"/>
              </a:rPr>
              <a:t>or</a:t>
            </a:r>
            <a:r>
              <a:rPr sz="1450" spc="-2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494949"/>
                </a:solidFill>
                <a:latin typeface="Calibri"/>
                <a:cs typeface="Calibri"/>
              </a:rPr>
              <a:t>investment</a:t>
            </a:r>
            <a:r>
              <a:rPr sz="1450" spc="-1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494949"/>
                </a:solidFill>
                <a:latin typeface="Calibri"/>
                <a:cs typeface="Calibri"/>
              </a:rPr>
              <a:t>to</a:t>
            </a:r>
            <a:r>
              <a:rPr sz="1450" spc="-1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494949"/>
                </a:solidFill>
                <a:latin typeface="Calibri"/>
                <a:cs typeface="Calibri"/>
              </a:rPr>
              <a:t>help</a:t>
            </a:r>
            <a:r>
              <a:rPr sz="1450" spc="-1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494949"/>
                </a:solidFill>
                <a:latin typeface="Calibri"/>
                <a:cs typeface="Calibri"/>
              </a:rPr>
              <a:t>fund</a:t>
            </a:r>
            <a:r>
              <a:rPr sz="1450" spc="-1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450" spc="-25" dirty="0">
                <a:solidFill>
                  <a:srgbClr val="494949"/>
                </a:solidFill>
                <a:latin typeface="Calibri"/>
                <a:cs typeface="Calibri"/>
              </a:rPr>
              <a:t>it</a:t>
            </a:r>
            <a:endParaRPr sz="1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450" dirty="0">
                <a:solidFill>
                  <a:srgbClr val="494949"/>
                </a:solidFill>
                <a:latin typeface="Calibri"/>
                <a:cs typeface="Calibri"/>
              </a:rPr>
              <a:t>—</a:t>
            </a:r>
            <a:r>
              <a:rPr sz="1450" spc="-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494949"/>
                </a:solidFill>
                <a:latin typeface="Calibri"/>
                <a:cs typeface="Calibri"/>
              </a:rPr>
              <a:t>comes</a:t>
            </a:r>
            <a:r>
              <a:rPr sz="1450" spc="-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494949"/>
                </a:solidFill>
                <a:latin typeface="Calibri"/>
                <a:cs typeface="Calibri"/>
              </a:rPr>
              <a:t>only</a:t>
            </a:r>
            <a:r>
              <a:rPr sz="1450" spc="-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494949"/>
                </a:solidFill>
                <a:latin typeface="Calibri"/>
                <a:cs typeface="Calibri"/>
              </a:rPr>
              <a:t>after</a:t>
            </a:r>
            <a:r>
              <a:rPr sz="1450" spc="-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494949"/>
                </a:solidFill>
                <a:latin typeface="Calibri"/>
                <a:cs typeface="Calibri"/>
              </a:rPr>
              <a:t>the</a:t>
            </a:r>
            <a:r>
              <a:rPr sz="1450" spc="-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494949"/>
                </a:solidFill>
                <a:latin typeface="Calibri"/>
                <a:cs typeface="Calibri"/>
              </a:rPr>
              <a:t>pilot</a:t>
            </a:r>
            <a:r>
              <a:rPr sz="1450" spc="-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494949"/>
                </a:solidFill>
                <a:latin typeface="Calibri"/>
                <a:cs typeface="Calibri"/>
              </a:rPr>
              <a:t>proves</a:t>
            </a:r>
            <a:r>
              <a:rPr sz="1450" spc="-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494949"/>
                </a:solidFill>
                <a:latin typeface="Calibri"/>
                <a:cs typeface="Calibri"/>
              </a:rPr>
              <a:t>the</a:t>
            </a:r>
            <a:r>
              <a:rPr sz="1450" spc="-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494949"/>
                </a:solidFill>
                <a:latin typeface="Calibri"/>
                <a:cs typeface="Calibri"/>
              </a:rPr>
              <a:t>numbers</a:t>
            </a:r>
            <a:r>
              <a:rPr sz="1450" spc="-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494949"/>
                </a:solidFill>
                <a:latin typeface="Calibri"/>
                <a:cs typeface="Calibri"/>
              </a:rPr>
              <a:t>on</a:t>
            </a:r>
            <a:r>
              <a:rPr sz="1450" spc="-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494949"/>
                </a:solidFill>
                <a:latin typeface="Calibri"/>
                <a:cs typeface="Calibri"/>
              </a:rPr>
              <a:t>real</a:t>
            </a:r>
            <a:r>
              <a:rPr sz="1450" spc="-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494949"/>
                </a:solidFill>
                <a:latin typeface="Calibri"/>
                <a:cs typeface="Calibri"/>
              </a:rPr>
              <a:t>harvests.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297324" y="4572000"/>
            <a:ext cx="7223759" cy="960119"/>
          </a:xfrm>
          <a:custGeom>
            <a:avLst/>
            <a:gdLst/>
            <a:ahLst/>
            <a:cxnLst/>
            <a:rect l="l" t="t" r="r" b="b"/>
            <a:pathLst>
              <a:path w="7223759" h="960120">
                <a:moveTo>
                  <a:pt x="7131951" y="0"/>
                </a:moveTo>
                <a:lnTo>
                  <a:pt x="91439" y="0"/>
                </a:lnTo>
                <a:lnTo>
                  <a:pt x="79433" y="798"/>
                </a:lnTo>
                <a:lnTo>
                  <a:pt x="35675" y="18836"/>
                </a:lnTo>
                <a:lnTo>
                  <a:pt x="6981" y="56510"/>
                </a:lnTo>
                <a:lnTo>
                  <a:pt x="0" y="91439"/>
                </a:lnTo>
                <a:lnTo>
                  <a:pt x="0" y="868680"/>
                </a:lnTo>
                <a:lnTo>
                  <a:pt x="774" y="880324"/>
                </a:lnTo>
                <a:lnTo>
                  <a:pt x="798" y="880685"/>
                </a:lnTo>
                <a:lnTo>
                  <a:pt x="3075" y="891989"/>
                </a:lnTo>
                <a:lnTo>
                  <a:pt x="3148" y="892349"/>
                </a:lnTo>
                <a:lnTo>
                  <a:pt x="26679" y="933438"/>
                </a:lnTo>
                <a:lnTo>
                  <a:pt x="67765" y="956970"/>
                </a:lnTo>
                <a:lnTo>
                  <a:pt x="91439" y="960119"/>
                </a:lnTo>
                <a:lnTo>
                  <a:pt x="7132319" y="959764"/>
                </a:lnTo>
                <a:lnTo>
                  <a:pt x="7178040" y="947521"/>
                </a:lnTo>
                <a:lnTo>
                  <a:pt x="7211517" y="914044"/>
                </a:lnTo>
                <a:lnTo>
                  <a:pt x="7220482" y="892349"/>
                </a:lnTo>
                <a:lnTo>
                  <a:pt x="7220605" y="891989"/>
                </a:lnTo>
                <a:lnTo>
                  <a:pt x="7222886" y="880685"/>
                </a:lnTo>
                <a:lnTo>
                  <a:pt x="7222959" y="880324"/>
                </a:lnTo>
                <a:lnTo>
                  <a:pt x="7223736" y="868680"/>
                </a:lnTo>
                <a:lnTo>
                  <a:pt x="7223759" y="868324"/>
                </a:lnTo>
                <a:lnTo>
                  <a:pt x="7223391" y="91439"/>
                </a:lnTo>
                <a:lnTo>
                  <a:pt x="7211161" y="45719"/>
                </a:lnTo>
                <a:lnTo>
                  <a:pt x="7177671" y="12242"/>
                </a:lnTo>
                <a:lnTo>
                  <a:pt x="7143958" y="798"/>
                </a:lnTo>
                <a:lnTo>
                  <a:pt x="7131951" y="0"/>
                </a:lnTo>
                <a:close/>
              </a:path>
            </a:pathLst>
          </a:custGeom>
          <a:solidFill>
            <a:srgbClr val="8F10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558944" y="4779975"/>
            <a:ext cx="5960110" cy="544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GO</a:t>
            </a:r>
            <a:r>
              <a:rPr sz="17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sz="17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phased.</a:t>
            </a:r>
            <a:r>
              <a:rPr sz="17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Low</a:t>
            </a:r>
            <a:r>
              <a:rPr sz="17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cost.</a:t>
            </a:r>
            <a:r>
              <a:rPr sz="17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Fast</a:t>
            </a:r>
            <a:r>
              <a:rPr sz="17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proof.</a:t>
            </a:r>
            <a:r>
              <a:rPr sz="17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Full</a:t>
            </a:r>
            <a:r>
              <a:rPr sz="17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rollout</a:t>
            </a:r>
            <a:r>
              <a:rPr sz="17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only</a:t>
            </a:r>
            <a:r>
              <a:rPr sz="17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Arial"/>
                <a:cs typeface="Arial"/>
              </a:rPr>
              <a:t>after validation.</a:t>
            </a:r>
            <a:endParaRPr sz="17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9895" y="-355"/>
            <a:ext cx="933450" cy="6867525"/>
            <a:chOff x="-9895" y="-355"/>
            <a:chExt cx="933450" cy="6867525"/>
          </a:xfrm>
        </p:grpSpPr>
        <p:sp>
          <p:nvSpPr>
            <p:cNvPr id="3" name="object 3"/>
            <p:cNvSpPr/>
            <p:nvPr/>
          </p:nvSpPr>
          <p:spPr>
            <a:xfrm>
              <a:off x="-355" y="-355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6831" y="0"/>
                  </a:moveTo>
                  <a:lnTo>
                    <a:pt x="0" y="0"/>
                  </a:lnTo>
                  <a:lnTo>
                    <a:pt x="0" y="456831"/>
                  </a:lnTo>
                  <a:lnTo>
                    <a:pt x="228600" y="456831"/>
                  </a:lnTo>
                  <a:lnTo>
                    <a:pt x="456831" y="456831"/>
                  </a:lnTo>
                  <a:lnTo>
                    <a:pt x="456831" y="0"/>
                  </a:lnTo>
                  <a:close/>
                </a:path>
                <a:path w="914400" h="914400">
                  <a:moveTo>
                    <a:pt x="914031" y="457200"/>
                  </a:moveTo>
                  <a:lnTo>
                    <a:pt x="457200" y="457200"/>
                  </a:lnTo>
                  <a:lnTo>
                    <a:pt x="457200" y="914031"/>
                  </a:lnTo>
                  <a:lnTo>
                    <a:pt x="685800" y="914031"/>
                  </a:lnTo>
                  <a:lnTo>
                    <a:pt x="914031" y="914031"/>
                  </a:lnTo>
                  <a:lnTo>
                    <a:pt x="914031" y="457200"/>
                  </a:lnTo>
                  <a:close/>
                </a:path>
              </a:pathLst>
            </a:custGeom>
            <a:solidFill>
              <a:srgbClr val="8F10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56844" y="45684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6831"/>
                  </a:moveTo>
                  <a:lnTo>
                    <a:pt x="0" y="456831"/>
                  </a:lnTo>
                  <a:lnTo>
                    <a:pt x="0" y="0"/>
                  </a:lnTo>
                  <a:lnTo>
                    <a:pt x="456831" y="0"/>
                  </a:lnTo>
                  <a:lnTo>
                    <a:pt x="456831" y="456831"/>
                  </a:lnTo>
                  <a:lnTo>
                    <a:pt x="228600" y="456831"/>
                  </a:lnTo>
                  <a:close/>
                </a:path>
              </a:pathLst>
            </a:custGeom>
            <a:ln w="1907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355" y="91404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6831" y="0"/>
                  </a:moveTo>
                  <a:lnTo>
                    <a:pt x="0" y="0"/>
                  </a:lnTo>
                  <a:lnTo>
                    <a:pt x="0" y="456831"/>
                  </a:lnTo>
                  <a:lnTo>
                    <a:pt x="228600" y="456831"/>
                  </a:lnTo>
                  <a:lnTo>
                    <a:pt x="456831" y="456831"/>
                  </a:lnTo>
                  <a:lnTo>
                    <a:pt x="456831" y="0"/>
                  </a:lnTo>
                  <a:close/>
                </a:path>
              </a:pathLst>
            </a:custGeom>
            <a:solidFill>
              <a:srgbClr val="8F10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-355" y="914044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228600" y="456831"/>
                  </a:moveTo>
                  <a:lnTo>
                    <a:pt x="0" y="456831"/>
                  </a:lnTo>
                  <a:lnTo>
                    <a:pt x="0" y="0"/>
                  </a:lnTo>
                  <a:lnTo>
                    <a:pt x="456831" y="0"/>
                  </a:lnTo>
                  <a:lnTo>
                    <a:pt x="456831" y="456831"/>
                  </a:lnTo>
                  <a:lnTo>
                    <a:pt x="228600" y="456831"/>
                  </a:lnTo>
                  <a:close/>
                </a:path>
                <a:path w="914400" h="914400">
                  <a:moveTo>
                    <a:pt x="685800" y="456831"/>
                  </a:moveTo>
                  <a:lnTo>
                    <a:pt x="457200" y="456831"/>
                  </a:lnTo>
                  <a:lnTo>
                    <a:pt x="457200" y="0"/>
                  </a:lnTo>
                  <a:lnTo>
                    <a:pt x="914031" y="0"/>
                  </a:lnTo>
                  <a:lnTo>
                    <a:pt x="914031" y="456831"/>
                  </a:lnTo>
                  <a:lnTo>
                    <a:pt x="685800" y="456831"/>
                  </a:lnTo>
                  <a:close/>
                </a:path>
                <a:path w="914400" h="914400">
                  <a:moveTo>
                    <a:pt x="228600" y="914031"/>
                  </a:moveTo>
                  <a:lnTo>
                    <a:pt x="0" y="914031"/>
                  </a:lnTo>
                  <a:lnTo>
                    <a:pt x="0" y="457200"/>
                  </a:lnTo>
                  <a:lnTo>
                    <a:pt x="456831" y="457200"/>
                  </a:lnTo>
                  <a:lnTo>
                    <a:pt x="456831" y="914031"/>
                  </a:lnTo>
                  <a:lnTo>
                    <a:pt x="228600" y="914031"/>
                  </a:lnTo>
                  <a:close/>
                </a:path>
              </a:pathLst>
            </a:custGeom>
            <a:ln w="1907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6844" y="137124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6831" y="0"/>
                  </a:moveTo>
                  <a:lnTo>
                    <a:pt x="0" y="0"/>
                  </a:lnTo>
                  <a:lnTo>
                    <a:pt x="0" y="456831"/>
                  </a:lnTo>
                  <a:lnTo>
                    <a:pt x="228600" y="456831"/>
                  </a:lnTo>
                  <a:lnTo>
                    <a:pt x="456831" y="456831"/>
                  </a:lnTo>
                  <a:lnTo>
                    <a:pt x="456831" y="0"/>
                  </a:lnTo>
                  <a:close/>
                </a:path>
              </a:pathLst>
            </a:custGeom>
            <a:solidFill>
              <a:srgbClr val="8F10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6844" y="137124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6831"/>
                  </a:moveTo>
                  <a:lnTo>
                    <a:pt x="0" y="456831"/>
                  </a:lnTo>
                  <a:lnTo>
                    <a:pt x="0" y="0"/>
                  </a:lnTo>
                  <a:lnTo>
                    <a:pt x="456831" y="0"/>
                  </a:lnTo>
                  <a:lnTo>
                    <a:pt x="456831" y="456831"/>
                  </a:lnTo>
                  <a:lnTo>
                    <a:pt x="228600" y="456831"/>
                  </a:lnTo>
                  <a:close/>
                </a:path>
              </a:pathLst>
            </a:custGeom>
            <a:ln w="1907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-355" y="182844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6831" y="0"/>
                  </a:moveTo>
                  <a:lnTo>
                    <a:pt x="0" y="0"/>
                  </a:lnTo>
                  <a:lnTo>
                    <a:pt x="0" y="456831"/>
                  </a:lnTo>
                  <a:lnTo>
                    <a:pt x="228600" y="456831"/>
                  </a:lnTo>
                  <a:lnTo>
                    <a:pt x="456831" y="456831"/>
                  </a:lnTo>
                  <a:lnTo>
                    <a:pt x="456831" y="0"/>
                  </a:lnTo>
                  <a:close/>
                </a:path>
              </a:pathLst>
            </a:custGeom>
            <a:solidFill>
              <a:srgbClr val="8F10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-355" y="1828444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228600" y="456831"/>
                  </a:moveTo>
                  <a:lnTo>
                    <a:pt x="0" y="456831"/>
                  </a:lnTo>
                  <a:lnTo>
                    <a:pt x="0" y="0"/>
                  </a:lnTo>
                  <a:lnTo>
                    <a:pt x="456831" y="0"/>
                  </a:lnTo>
                  <a:lnTo>
                    <a:pt x="456831" y="456831"/>
                  </a:lnTo>
                  <a:lnTo>
                    <a:pt x="228600" y="456831"/>
                  </a:lnTo>
                  <a:close/>
                </a:path>
                <a:path w="914400" h="914400">
                  <a:moveTo>
                    <a:pt x="685800" y="456831"/>
                  </a:moveTo>
                  <a:lnTo>
                    <a:pt x="457200" y="456831"/>
                  </a:lnTo>
                  <a:lnTo>
                    <a:pt x="457200" y="0"/>
                  </a:lnTo>
                  <a:lnTo>
                    <a:pt x="914031" y="0"/>
                  </a:lnTo>
                  <a:lnTo>
                    <a:pt x="914031" y="456831"/>
                  </a:lnTo>
                  <a:lnTo>
                    <a:pt x="685800" y="456831"/>
                  </a:lnTo>
                  <a:close/>
                </a:path>
                <a:path w="914400" h="914400">
                  <a:moveTo>
                    <a:pt x="228600" y="914031"/>
                  </a:moveTo>
                  <a:lnTo>
                    <a:pt x="0" y="914031"/>
                  </a:lnTo>
                  <a:lnTo>
                    <a:pt x="0" y="457200"/>
                  </a:lnTo>
                  <a:lnTo>
                    <a:pt x="456831" y="457200"/>
                  </a:lnTo>
                  <a:lnTo>
                    <a:pt x="456831" y="914031"/>
                  </a:lnTo>
                  <a:lnTo>
                    <a:pt x="228600" y="914031"/>
                  </a:lnTo>
                  <a:close/>
                </a:path>
              </a:pathLst>
            </a:custGeom>
            <a:ln w="1907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6844" y="228564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6831" y="0"/>
                  </a:moveTo>
                  <a:lnTo>
                    <a:pt x="0" y="0"/>
                  </a:lnTo>
                  <a:lnTo>
                    <a:pt x="0" y="456831"/>
                  </a:lnTo>
                  <a:lnTo>
                    <a:pt x="228600" y="456831"/>
                  </a:lnTo>
                  <a:lnTo>
                    <a:pt x="456831" y="456831"/>
                  </a:lnTo>
                  <a:lnTo>
                    <a:pt x="456831" y="0"/>
                  </a:lnTo>
                  <a:close/>
                </a:path>
              </a:pathLst>
            </a:custGeom>
            <a:solidFill>
              <a:srgbClr val="8F10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6844" y="228564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6831"/>
                  </a:moveTo>
                  <a:lnTo>
                    <a:pt x="0" y="456831"/>
                  </a:lnTo>
                  <a:lnTo>
                    <a:pt x="0" y="0"/>
                  </a:lnTo>
                  <a:lnTo>
                    <a:pt x="456831" y="0"/>
                  </a:lnTo>
                  <a:lnTo>
                    <a:pt x="456831" y="456831"/>
                  </a:lnTo>
                  <a:lnTo>
                    <a:pt x="228600" y="456831"/>
                  </a:lnTo>
                  <a:close/>
                </a:path>
              </a:pathLst>
            </a:custGeom>
            <a:ln w="1907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-355" y="274284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6831" y="0"/>
                  </a:moveTo>
                  <a:lnTo>
                    <a:pt x="0" y="0"/>
                  </a:lnTo>
                  <a:lnTo>
                    <a:pt x="0" y="456831"/>
                  </a:lnTo>
                  <a:lnTo>
                    <a:pt x="228600" y="456831"/>
                  </a:lnTo>
                  <a:lnTo>
                    <a:pt x="456831" y="456831"/>
                  </a:lnTo>
                  <a:lnTo>
                    <a:pt x="456831" y="0"/>
                  </a:lnTo>
                  <a:close/>
                </a:path>
              </a:pathLst>
            </a:custGeom>
            <a:solidFill>
              <a:srgbClr val="8F10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-355" y="2742844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228600" y="456831"/>
                  </a:moveTo>
                  <a:lnTo>
                    <a:pt x="0" y="456831"/>
                  </a:lnTo>
                  <a:lnTo>
                    <a:pt x="0" y="0"/>
                  </a:lnTo>
                  <a:lnTo>
                    <a:pt x="456831" y="0"/>
                  </a:lnTo>
                  <a:lnTo>
                    <a:pt x="456831" y="456831"/>
                  </a:lnTo>
                  <a:lnTo>
                    <a:pt x="228600" y="456831"/>
                  </a:lnTo>
                  <a:close/>
                </a:path>
                <a:path w="914400" h="914400">
                  <a:moveTo>
                    <a:pt x="685800" y="456831"/>
                  </a:moveTo>
                  <a:lnTo>
                    <a:pt x="457200" y="456831"/>
                  </a:lnTo>
                  <a:lnTo>
                    <a:pt x="457200" y="0"/>
                  </a:lnTo>
                  <a:lnTo>
                    <a:pt x="914031" y="0"/>
                  </a:lnTo>
                  <a:lnTo>
                    <a:pt x="914031" y="456831"/>
                  </a:lnTo>
                  <a:lnTo>
                    <a:pt x="685800" y="456831"/>
                  </a:lnTo>
                  <a:close/>
                </a:path>
                <a:path w="914400" h="914400">
                  <a:moveTo>
                    <a:pt x="228600" y="914031"/>
                  </a:moveTo>
                  <a:lnTo>
                    <a:pt x="0" y="914031"/>
                  </a:lnTo>
                  <a:lnTo>
                    <a:pt x="0" y="457200"/>
                  </a:lnTo>
                  <a:lnTo>
                    <a:pt x="456831" y="457200"/>
                  </a:lnTo>
                  <a:lnTo>
                    <a:pt x="456831" y="914031"/>
                  </a:lnTo>
                  <a:lnTo>
                    <a:pt x="228600" y="914031"/>
                  </a:lnTo>
                  <a:close/>
                </a:path>
              </a:pathLst>
            </a:custGeom>
            <a:ln w="1907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6844" y="320004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6831" y="0"/>
                  </a:moveTo>
                  <a:lnTo>
                    <a:pt x="0" y="0"/>
                  </a:lnTo>
                  <a:lnTo>
                    <a:pt x="0" y="456831"/>
                  </a:lnTo>
                  <a:lnTo>
                    <a:pt x="228600" y="456831"/>
                  </a:lnTo>
                  <a:lnTo>
                    <a:pt x="456831" y="456831"/>
                  </a:lnTo>
                  <a:lnTo>
                    <a:pt x="456831" y="0"/>
                  </a:lnTo>
                  <a:close/>
                </a:path>
              </a:pathLst>
            </a:custGeom>
            <a:solidFill>
              <a:srgbClr val="8F10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56844" y="320004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6831"/>
                  </a:moveTo>
                  <a:lnTo>
                    <a:pt x="0" y="456831"/>
                  </a:lnTo>
                  <a:lnTo>
                    <a:pt x="0" y="0"/>
                  </a:lnTo>
                  <a:lnTo>
                    <a:pt x="456831" y="0"/>
                  </a:lnTo>
                  <a:lnTo>
                    <a:pt x="456831" y="456831"/>
                  </a:lnTo>
                  <a:lnTo>
                    <a:pt x="228600" y="456831"/>
                  </a:lnTo>
                  <a:close/>
                </a:path>
              </a:pathLst>
            </a:custGeom>
            <a:ln w="1907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-355" y="365724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6831" y="0"/>
                  </a:moveTo>
                  <a:lnTo>
                    <a:pt x="0" y="0"/>
                  </a:lnTo>
                  <a:lnTo>
                    <a:pt x="0" y="456831"/>
                  </a:lnTo>
                  <a:lnTo>
                    <a:pt x="228600" y="456831"/>
                  </a:lnTo>
                  <a:lnTo>
                    <a:pt x="456831" y="456831"/>
                  </a:lnTo>
                  <a:lnTo>
                    <a:pt x="456831" y="0"/>
                  </a:lnTo>
                  <a:close/>
                </a:path>
              </a:pathLst>
            </a:custGeom>
            <a:solidFill>
              <a:srgbClr val="8F10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-355" y="3657244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228600" y="456831"/>
                  </a:moveTo>
                  <a:lnTo>
                    <a:pt x="0" y="456831"/>
                  </a:lnTo>
                  <a:lnTo>
                    <a:pt x="0" y="0"/>
                  </a:lnTo>
                  <a:lnTo>
                    <a:pt x="456831" y="0"/>
                  </a:lnTo>
                  <a:lnTo>
                    <a:pt x="456831" y="456831"/>
                  </a:lnTo>
                  <a:lnTo>
                    <a:pt x="228600" y="456831"/>
                  </a:lnTo>
                  <a:close/>
                </a:path>
                <a:path w="914400" h="914400">
                  <a:moveTo>
                    <a:pt x="685800" y="456831"/>
                  </a:moveTo>
                  <a:lnTo>
                    <a:pt x="457200" y="456831"/>
                  </a:lnTo>
                  <a:lnTo>
                    <a:pt x="457200" y="0"/>
                  </a:lnTo>
                  <a:lnTo>
                    <a:pt x="914031" y="0"/>
                  </a:lnTo>
                  <a:lnTo>
                    <a:pt x="914031" y="456831"/>
                  </a:lnTo>
                  <a:lnTo>
                    <a:pt x="685800" y="456831"/>
                  </a:lnTo>
                  <a:close/>
                </a:path>
                <a:path w="914400" h="914400">
                  <a:moveTo>
                    <a:pt x="228600" y="914031"/>
                  </a:moveTo>
                  <a:lnTo>
                    <a:pt x="0" y="914031"/>
                  </a:lnTo>
                  <a:lnTo>
                    <a:pt x="0" y="457200"/>
                  </a:lnTo>
                  <a:lnTo>
                    <a:pt x="456831" y="457200"/>
                  </a:lnTo>
                  <a:lnTo>
                    <a:pt x="456831" y="914031"/>
                  </a:lnTo>
                  <a:lnTo>
                    <a:pt x="228600" y="914031"/>
                  </a:lnTo>
                  <a:close/>
                </a:path>
              </a:pathLst>
            </a:custGeom>
            <a:ln w="1907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56844" y="411444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6831" y="0"/>
                  </a:moveTo>
                  <a:lnTo>
                    <a:pt x="0" y="0"/>
                  </a:lnTo>
                  <a:lnTo>
                    <a:pt x="0" y="456831"/>
                  </a:lnTo>
                  <a:lnTo>
                    <a:pt x="228600" y="456831"/>
                  </a:lnTo>
                  <a:lnTo>
                    <a:pt x="456831" y="456831"/>
                  </a:lnTo>
                  <a:lnTo>
                    <a:pt x="456831" y="0"/>
                  </a:lnTo>
                  <a:close/>
                </a:path>
              </a:pathLst>
            </a:custGeom>
            <a:solidFill>
              <a:srgbClr val="8F10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6844" y="411444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6831"/>
                  </a:moveTo>
                  <a:lnTo>
                    <a:pt x="0" y="456831"/>
                  </a:lnTo>
                  <a:lnTo>
                    <a:pt x="0" y="0"/>
                  </a:lnTo>
                  <a:lnTo>
                    <a:pt x="456831" y="0"/>
                  </a:lnTo>
                  <a:lnTo>
                    <a:pt x="456831" y="456831"/>
                  </a:lnTo>
                  <a:lnTo>
                    <a:pt x="228600" y="456831"/>
                  </a:lnTo>
                  <a:close/>
                </a:path>
              </a:pathLst>
            </a:custGeom>
            <a:ln w="1907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-355" y="457164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6831" y="0"/>
                  </a:moveTo>
                  <a:lnTo>
                    <a:pt x="0" y="0"/>
                  </a:lnTo>
                  <a:lnTo>
                    <a:pt x="0" y="456831"/>
                  </a:lnTo>
                  <a:lnTo>
                    <a:pt x="228600" y="456831"/>
                  </a:lnTo>
                  <a:lnTo>
                    <a:pt x="456831" y="456831"/>
                  </a:lnTo>
                  <a:lnTo>
                    <a:pt x="456831" y="0"/>
                  </a:lnTo>
                  <a:close/>
                </a:path>
              </a:pathLst>
            </a:custGeom>
            <a:solidFill>
              <a:srgbClr val="8F10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-355" y="4571644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228600" y="456831"/>
                  </a:moveTo>
                  <a:lnTo>
                    <a:pt x="0" y="456831"/>
                  </a:lnTo>
                  <a:lnTo>
                    <a:pt x="0" y="0"/>
                  </a:lnTo>
                  <a:lnTo>
                    <a:pt x="456831" y="0"/>
                  </a:lnTo>
                  <a:lnTo>
                    <a:pt x="456831" y="456831"/>
                  </a:lnTo>
                  <a:lnTo>
                    <a:pt x="228600" y="456831"/>
                  </a:lnTo>
                  <a:close/>
                </a:path>
                <a:path w="914400" h="914400">
                  <a:moveTo>
                    <a:pt x="685800" y="456831"/>
                  </a:moveTo>
                  <a:lnTo>
                    <a:pt x="457200" y="456831"/>
                  </a:lnTo>
                  <a:lnTo>
                    <a:pt x="457200" y="0"/>
                  </a:lnTo>
                  <a:lnTo>
                    <a:pt x="914031" y="0"/>
                  </a:lnTo>
                  <a:lnTo>
                    <a:pt x="914031" y="456831"/>
                  </a:lnTo>
                  <a:lnTo>
                    <a:pt x="685800" y="456831"/>
                  </a:lnTo>
                  <a:close/>
                </a:path>
                <a:path w="914400" h="914400">
                  <a:moveTo>
                    <a:pt x="228600" y="914031"/>
                  </a:moveTo>
                  <a:lnTo>
                    <a:pt x="0" y="914031"/>
                  </a:lnTo>
                  <a:lnTo>
                    <a:pt x="0" y="457200"/>
                  </a:lnTo>
                  <a:lnTo>
                    <a:pt x="456831" y="457200"/>
                  </a:lnTo>
                  <a:lnTo>
                    <a:pt x="456831" y="914031"/>
                  </a:lnTo>
                  <a:lnTo>
                    <a:pt x="228600" y="914031"/>
                  </a:lnTo>
                  <a:close/>
                </a:path>
              </a:pathLst>
            </a:custGeom>
            <a:ln w="1907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6844" y="502884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6831" y="0"/>
                  </a:moveTo>
                  <a:lnTo>
                    <a:pt x="0" y="0"/>
                  </a:lnTo>
                  <a:lnTo>
                    <a:pt x="0" y="456831"/>
                  </a:lnTo>
                  <a:lnTo>
                    <a:pt x="228600" y="456831"/>
                  </a:lnTo>
                  <a:lnTo>
                    <a:pt x="456831" y="456831"/>
                  </a:lnTo>
                  <a:lnTo>
                    <a:pt x="456831" y="0"/>
                  </a:lnTo>
                  <a:close/>
                </a:path>
              </a:pathLst>
            </a:custGeom>
            <a:solidFill>
              <a:srgbClr val="8F10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6844" y="502884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6831"/>
                  </a:moveTo>
                  <a:lnTo>
                    <a:pt x="0" y="456831"/>
                  </a:lnTo>
                  <a:lnTo>
                    <a:pt x="0" y="0"/>
                  </a:lnTo>
                  <a:lnTo>
                    <a:pt x="456831" y="0"/>
                  </a:lnTo>
                  <a:lnTo>
                    <a:pt x="456831" y="456831"/>
                  </a:lnTo>
                  <a:lnTo>
                    <a:pt x="228600" y="456831"/>
                  </a:lnTo>
                  <a:close/>
                </a:path>
              </a:pathLst>
            </a:custGeom>
            <a:ln w="1907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-355" y="548604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6831" y="0"/>
                  </a:moveTo>
                  <a:lnTo>
                    <a:pt x="0" y="0"/>
                  </a:lnTo>
                  <a:lnTo>
                    <a:pt x="0" y="456831"/>
                  </a:lnTo>
                  <a:lnTo>
                    <a:pt x="228600" y="456831"/>
                  </a:lnTo>
                  <a:lnTo>
                    <a:pt x="456831" y="456831"/>
                  </a:lnTo>
                  <a:lnTo>
                    <a:pt x="456831" y="0"/>
                  </a:lnTo>
                  <a:close/>
                </a:path>
              </a:pathLst>
            </a:custGeom>
            <a:solidFill>
              <a:srgbClr val="8F10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-355" y="5486044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228600" y="456831"/>
                  </a:moveTo>
                  <a:lnTo>
                    <a:pt x="0" y="456831"/>
                  </a:lnTo>
                  <a:lnTo>
                    <a:pt x="0" y="0"/>
                  </a:lnTo>
                  <a:lnTo>
                    <a:pt x="456831" y="0"/>
                  </a:lnTo>
                  <a:lnTo>
                    <a:pt x="456831" y="456831"/>
                  </a:lnTo>
                  <a:lnTo>
                    <a:pt x="228600" y="456831"/>
                  </a:lnTo>
                  <a:close/>
                </a:path>
                <a:path w="914400" h="914400">
                  <a:moveTo>
                    <a:pt x="685800" y="456831"/>
                  </a:moveTo>
                  <a:lnTo>
                    <a:pt x="457200" y="456831"/>
                  </a:lnTo>
                  <a:lnTo>
                    <a:pt x="457200" y="0"/>
                  </a:lnTo>
                  <a:lnTo>
                    <a:pt x="914031" y="0"/>
                  </a:lnTo>
                  <a:lnTo>
                    <a:pt x="914031" y="456831"/>
                  </a:lnTo>
                  <a:lnTo>
                    <a:pt x="685800" y="456831"/>
                  </a:lnTo>
                  <a:close/>
                </a:path>
                <a:path w="914400" h="914400">
                  <a:moveTo>
                    <a:pt x="228600" y="914031"/>
                  </a:moveTo>
                  <a:lnTo>
                    <a:pt x="0" y="914031"/>
                  </a:lnTo>
                  <a:lnTo>
                    <a:pt x="0" y="457200"/>
                  </a:lnTo>
                  <a:lnTo>
                    <a:pt x="456831" y="457200"/>
                  </a:lnTo>
                  <a:lnTo>
                    <a:pt x="456831" y="914031"/>
                  </a:lnTo>
                  <a:lnTo>
                    <a:pt x="228600" y="914031"/>
                  </a:lnTo>
                  <a:close/>
                </a:path>
              </a:pathLst>
            </a:custGeom>
            <a:ln w="1907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6844" y="594324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6831" y="0"/>
                  </a:moveTo>
                  <a:lnTo>
                    <a:pt x="0" y="0"/>
                  </a:lnTo>
                  <a:lnTo>
                    <a:pt x="0" y="456831"/>
                  </a:lnTo>
                  <a:lnTo>
                    <a:pt x="228600" y="456831"/>
                  </a:lnTo>
                  <a:lnTo>
                    <a:pt x="456831" y="456831"/>
                  </a:lnTo>
                  <a:lnTo>
                    <a:pt x="456831" y="0"/>
                  </a:lnTo>
                  <a:close/>
                </a:path>
              </a:pathLst>
            </a:custGeom>
            <a:solidFill>
              <a:srgbClr val="8F10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6844" y="594324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6831"/>
                  </a:moveTo>
                  <a:lnTo>
                    <a:pt x="0" y="456831"/>
                  </a:lnTo>
                  <a:lnTo>
                    <a:pt x="0" y="0"/>
                  </a:lnTo>
                  <a:lnTo>
                    <a:pt x="456831" y="0"/>
                  </a:lnTo>
                  <a:lnTo>
                    <a:pt x="456831" y="456831"/>
                  </a:lnTo>
                  <a:lnTo>
                    <a:pt x="228600" y="456831"/>
                  </a:lnTo>
                  <a:close/>
                </a:path>
              </a:pathLst>
            </a:custGeom>
            <a:ln w="1907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-355" y="640044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6831" y="0"/>
                  </a:moveTo>
                  <a:lnTo>
                    <a:pt x="0" y="0"/>
                  </a:lnTo>
                  <a:lnTo>
                    <a:pt x="0" y="456831"/>
                  </a:lnTo>
                  <a:lnTo>
                    <a:pt x="228600" y="456831"/>
                  </a:lnTo>
                  <a:lnTo>
                    <a:pt x="456831" y="456831"/>
                  </a:lnTo>
                  <a:lnTo>
                    <a:pt x="456831" y="0"/>
                  </a:lnTo>
                  <a:close/>
                </a:path>
              </a:pathLst>
            </a:custGeom>
            <a:solidFill>
              <a:srgbClr val="8F10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-355" y="6400444"/>
              <a:ext cx="914400" cy="457200"/>
            </a:xfrm>
            <a:custGeom>
              <a:avLst/>
              <a:gdLst/>
              <a:ahLst/>
              <a:cxnLst/>
              <a:rect l="l" t="t" r="r" b="b"/>
              <a:pathLst>
                <a:path w="914400" h="457200">
                  <a:moveTo>
                    <a:pt x="228600" y="456831"/>
                  </a:moveTo>
                  <a:lnTo>
                    <a:pt x="0" y="456831"/>
                  </a:lnTo>
                  <a:lnTo>
                    <a:pt x="0" y="0"/>
                  </a:lnTo>
                  <a:lnTo>
                    <a:pt x="456831" y="0"/>
                  </a:lnTo>
                  <a:lnTo>
                    <a:pt x="456831" y="456831"/>
                  </a:lnTo>
                  <a:lnTo>
                    <a:pt x="228600" y="456831"/>
                  </a:lnTo>
                  <a:close/>
                </a:path>
                <a:path w="914400" h="457200">
                  <a:moveTo>
                    <a:pt x="685800" y="456831"/>
                  </a:moveTo>
                  <a:lnTo>
                    <a:pt x="457200" y="456831"/>
                  </a:lnTo>
                  <a:lnTo>
                    <a:pt x="457200" y="0"/>
                  </a:lnTo>
                  <a:lnTo>
                    <a:pt x="914031" y="0"/>
                  </a:lnTo>
                  <a:lnTo>
                    <a:pt x="914031" y="456831"/>
                  </a:lnTo>
                  <a:lnTo>
                    <a:pt x="685800" y="456831"/>
                  </a:lnTo>
                  <a:close/>
                </a:path>
              </a:pathLst>
            </a:custGeom>
            <a:ln w="1907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 descr="$PPTXTitle"/>
          <p:cNvSpPr txBox="1">
            <a:spLocks noGrp="1"/>
          </p:cNvSpPr>
          <p:nvPr>
            <p:ph type="title"/>
          </p:nvPr>
        </p:nvSpPr>
        <p:spPr>
          <a:xfrm>
            <a:off x="1449984" y="794423"/>
            <a:ext cx="295465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0" dirty="0"/>
              <a:t>Team</a:t>
            </a:r>
            <a:r>
              <a:rPr sz="3200" spc="-200" dirty="0"/>
              <a:t> </a:t>
            </a:r>
            <a:r>
              <a:rPr sz="3200" spc="-10" dirty="0"/>
              <a:t>Members</a:t>
            </a:r>
            <a:endParaRPr sz="3200"/>
          </a:p>
        </p:txBody>
      </p:sp>
      <p:pic>
        <p:nvPicPr>
          <p:cNvPr id="32" name="object 32" descr="assets/headshot_kelvin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7360" y="1371244"/>
            <a:ext cx="2377071" cy="2925712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2206345" y="4589183"/>
            <a:ext cx="152745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b="1" spc="-20" dirty="0">
                <a:solidFill>
                  <a:srgbClr val="8F103D"/>
                </a:solidFill>
                <a:latin typeface="Arial"/>
                <a:cs typeface="Arial"/>
              </a:rPr>
              <a:t>AMOS</a:t>
            </a:r>
            <a:r>
              <a:rPr sz="1400" b="1" spc="-35" dirty="0">
                <a:solidFill>
                  <a:srgbClr val="8F103D"/>
                </a:solidFill>
                <a:latin typeface="Arial"/>
                <a:cs typeface="Arial"/>
              </a:rPr>
              <a:t> </a:t>
            </a:r>
            <a:r>
              <a:rPr lang="en-US" sz="1400" b="1" spc="-10" dirty="0">
                <a:solidFill>
                  <a:srgbClr val="8F103D"/>
                </a:solidFill>
                <a:latin typeface="Arial"/>
                <a:cs typeface="Arial"/>
              </a:rPr>
              <a:t>NDUNGO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316137" y="5081295"/>
            <a:ext cx="1798294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300" spc="-10" dirty="0">
                <a:solidFill>
                  <a:srgbClr val="8F103D"/>
                </a:solidFill>
                <a:latin typeface="Calibri"/>
                <a:cs typeface="Calibri"/>
              </a:rPr>
              <a:t>Backend</a:t>
            </a:r>
            <a:r>
              <a:rPr lang="en-US" sz="1300" spc="-35" dirty="0">
                <a:solidFill>
                  <a:srgbClr val="8F103D"/>
                </a:solidFill>
                <a:latin typeface="Calibri"/>
                <a:cs typeface="Calibri"/>
              </a:rPr>
              <a:t> </a:t>
            </a:r>
            <a:r>
              <a:rPr lang="en-US" sz="1300" dirty="0">
                <a:solidFill>
                  <a:srgbClr val="8F103D"/>
                </a:solidFill>
                <a:latin typeface="Calibri"/>
                <a:cs typeface="Calibri"/>
              </a:rPr>
              <a:t>&amp;</a:t>
            </a:r>
            <a:r>
              <a:rPr lang="en-US" sz="1300" spc="-30" dirty="0">
                <a:solidFill>
                  <a:srgbClr val="8F103D"/>
                </a:solidFill>
                <a:latin typeface="Calibri"/>
                <a:cs typeface="Calibri"/>
              </a:rPr>
              <a:t> </a:t>
            </a:r>
            <a:r>
              <a:rPr lang="en-US" sz="1300" spc="-10" dirty="0">
                <a:solidFill>
                  <a:srgbClr val="8F103D"/>
                </a:solidFill>
                <a:latin typeface="Calibri"/>
                <a:cs typeface="Calibri"/>
              </a:rPr>
              <a:t>Infrastructure</a:t>
            </a:r>
            <a:endParaRPr lang="en-US" sz="1300" dirty="0">
              <a:latin typeface="Calibri"/>
              <a:cs typeface="Calibri"/>
            </a:endParaRPr>
          </a:p>
        </p:txBody>
      </p:sp>
      <p:pic>
        <p:nvPicPr>
          <p:cNvPr id="35" name="object 35" descr="assets/headshot_yvonne.jp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00600" y="1143000"/>
            <a:ext cx="2514600" cy="3153955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5099659" y="4589183"/>
            <a:ext cx="17780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8F103D"/>
                </a:solidFill>
                <a:latin typeface="Arial"/>
                <a:cs typeface="Arial"/>
              </a:rPr>
              <a:t>YVONNE</a:t>
            </a:r>
            <a:r>
              <a:rPr sz="1400" b="1" spc="-55" dirty="0">
                <a:solidFill>
                  <a:srgbClr val="8F103D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8F103D"/>
                </a:solidFill>
                <a:latin typeface="Arial"/>
                <a:cs typeface="Arial"/>
              </a:rPr>
              <a:t>WOCHUNA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671337" y="5081295"/>
            <a:ext cx="63563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8F103D"/>
                </a:solidFill>
                <a:latin typeface="Calibri"/>
                <a:cs typeface="Calibri"/>
              </a:rPr>
              <a:t>Frontend</a:t>
            </a:r>
            <a:endParaRPr sz="1300">
              <a:latin typeface="Calibri"/>
              <a:cs typeface="Calibri"/>
            </a:endParaRPr>
          </a:p>
        </p:txBody>
      </p:sp>
      <p:pic>
        <p:nvPicPr>
          <p:cNvPr id="38" name="object 38" descr="assets/headshot_amos.jp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63840" y="1371244"/>
            <a:ext cx="2377071" cy="2925711"/>
          </a:xfrm>
          <a:prstGeom prst="rect">
            <a:avLst/>
          </a:prstGeom>
        </p:spPr>
      </p:pic>
      <p:sp>
        <p:nvSpPr>
          <p:cNvPr id="39" name="object 39"/>
          <p:cNvSpPr txBox="1"/>
          <p:nvPr/>
        </p:nvSpPr>
        <p:spPr>
          <a:xfrm>
            <a:off x="8351177" y="4571644"/>
            <a:ext cx="1437004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dirty="0">
                <a:solidFill>
                  <a:srgbClr val="C00000"/>
                </a:solidFill>
                <a:latin typeface="Arial"/>
                <a:cs typeface="Arial"/>
              </a:rPr>
              <a:t>KELVIN MORURI </a:t>
            </a:r>
            <a:endParaRPr sz="1400" dirty="0">
              <a:solidFill>
                <a:srgbClr val="C00000"/>
              </a:solidFill>
              <a:latin typeface="Arial"/>
              <a:cs typeface="Arial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40" name="object 40"/>
          <p:cNvSpPr txBox="1"/>
          <p:nvPr/>
        </p:nvSpPr>
        <p:spPr>
          <a:xfrm>
            <a:off x="8204657" y="5081295"/>
            <a:ext cx="1693545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300" dirty="0">
                <a:latin typeface="Calibri"/>
                <a:cs typeface="Calibri"/>
              </a:rPr>
              <a:t>Machine Learning</a:t>
            </a:r>
            <a:endParaRPr sz="13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09904" y="4452010"/>
            <a:ext cx="2573020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dirty="0">
                <a:solidFill>
                  <a:srgbClr val="000000"/>
                </a:solidFill>
              </a:rPr>
              <a:t>Thank</a:t>
            </a:r>
            <a:r>
              <a:rPr sz="3800" spc="-114" dirty="0">
                <a:solidFill>
                  <a:srgbClr val="000000"/>
                </a:solidFill>
              </a:rPr>
              <a:t> </a:t>
            </a:r>
            <a:r>
              <a:rPr sz="3800" spc="-20" dirty="0">
                <a:solidFill>
                  <a:srgbClr val="000000"/>
                </a:solidFill>
              </a:rPr>
              <a:t>you.</a:t>
            </a:r>
            <a:endParaRPr sz="38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09904" y="5214149"/>
            <a:ext cx="21437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079094"/>
                </a:solidFill>
                <a:latin typeface="Calibri"/>
                <a:cs typeface="Calibri"/>
              </a:rPr>
              <a:t>Questions</a:t>
            </a:r>
            <a:r>
              <a:rPr sz="1600" spc="-15" dirty="0">
                <a:solidFill>
                  <a:srgbClr val="07909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79094"/>
                </a:solidFill>
                <a:latin typeface="Calibri"/>
                <a:cs typeface="Calibri"/>
              </a:rPr>
              <a:t>and</a:t>
            </a:r>
            <a:r>
              <a:rPr sz="1600" spc="-15" dirty="0">
                <a:solidFill>
                  <a:srgbClr val="079094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79094"/>
                </a:solidFill>
                <a:latin typeface="Calibri"/>
                <a:cs typeface="Calibri"/>
              </a:rPr>
              <a:t>discussion.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9904" y="6387731"/>
            <a:ext cx="27355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9BA09F"/>
                </a:solidFill>
                <a:latin typeface="Calibri"/>
                <a:cs typeface="Calibri"/>
              </a:rPr>
              <a:t>Amos</a:t>
            </a:r>
            <a:r>
              <a:rPr sz="1200" spc="-20" dirty="0">
                <a:solidFill>
                  <a:srgbClr val="9BA09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BA09F"/>
                </a:solidFill>
                <a:latin typeface="Calibri"/>
                <a:cs typeface="Calibri"/>
              </a:rPr>
              <a:t>Ndungo</a:t>
            </a:r>
            <a:r>
              <a:rPr sz="1200" spc="229" dirty="0">
                <a:solidFill>
                  <a:srgbClr val="9BA09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BA09F"/>
                </a:solidFill>
                <a:latin typeface="Calibri"/>
                <a:cs typeface="Calibri"/>
              </a:rPr>
              <a:t>|</a:t>
            </a:r>
            <a:r>
              <a:rPr sz="1200" spc="229" dirty="0">
                <a:solidFill>
                  <a:srgbClr val="9BA09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BA09F"/>
                </a:solidFill>
                <a:latin typeface="Calibri"/>
                <a:cs typeface="Calibri"/>
              </a:rPr>
              <a:t>Fresh</a:t>
            </a:r>
            <a:r>
              <a:rPr sz="1200" spc="-25" dirty="0">
                <a:solidFill>
                  <a:srgbClr val="9BA09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BA09F"/>
                </a:solidFill>
                <a:latin typeface="Calibri"/>
                <a:cs typeface="Calibri"/>
              </a:rPr>
              <a:t>Supplies</a:t>
            </a:r>
            <a:r>
              <a:rPr sz="1200" spc="245" dirty="0">
                <a:solidFill>
                  <a:srgbClr val="9BA09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BA09F"/>
                </a:solidFill>
                <a:latin typeface="Calibri"/>
                <a:cs typeface="Calibri"/>
              </a:rPr>
              <a:t>|</a:t>
            </a:r>
            <a:r>
              <a:rPr sz="1200" spc="225" dirty="0">
                <a:solidFill>
                  <a:srgbClr val="9BA09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9BA09F"/>
                </a:solidFill>
                <a:latin typeface="Calibri"/>
                <a:cs typeface="Calibri"/>
              </a:rPr>
              <a:t>Week</a:t>
            </a:r>
            <a:r>
              <a:rPr sz="1200" spc="-20" dirty="0">
                <a:solidFill>
                  <a:srgbClr val="9BA09F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9BA09F"/>
                </a:solidFill>
                <a:latin typeface="Calibri"/>
                <a:cs typeface="Calibri"/>
              </a:rPr>
              <a:t>11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956</Words>
  <Application>Microsoft Office PowerPoint</Application>
  <PresentationFormat>Widescreen</PresentationFormat>
  <Paragraphs>134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Fresh Supplies</vt:lpstr>
      <vt:lpstr>Problem Statement</vt:lpstr>
      <vt:lpstr>Every season this goes unsolved, it compounds.</vt:lpstr>
      <vt:lpstr>Our Solution</vt:lpstr>
      <vt:lpstr>Built for Every Farmer</vt:lpstr>
      <vt:lpstr>How The Prediction Works</vt:lpstr>
      <vt:lpstr>Business Value</vt:lpstr>
      <vt:lpstr>The math, in full.</vt:lpstr>
      <vt:lpstr>Current Status</vt:lpstr>
      <vt:lpstr>Risks &amp; Mitigation</vt:lpstr>
      <vt:lpstr>Roadmap</vt:lpstr>
      <vt:lpstr>CTA</vt:lpstr>
      <vt:lpstr>Team Members</vt:lpstr>
      <vt:lpstr>Thank you.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Yvonne Wochuna</cp:lastModifiedBy>
  <cp:revision>2</cp:revision>
  <dcterms:created xsi:type="dcterms:W3CDTF">2026-09-18T12:49:27Z</dcterms:created>
  <dcterms:modified xsi:type="dcterms:W3CDTF">2026-09-18T13:06:26Z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2026-09-18T00:00:00Z</vt:filetime>
  </property>
  <property fmtid="{D5CDD505-2E9C-101B-9397-08002B2CF9AE}" pid="4" name="Creator">
    <vt:lpwstr>Impress</vt:lpwstr>
  </property>
  <property fmtid="{D5CDD505-2E9C-101B-9397-08002B2CF9AE}" pid="5" name="Producer">
    <vt:lpwstr>LibreOffice 24.2</vt:lpwstr>
  </property>
  <property fmtid="{D5CDD505-2E9C-101B-9397-08002B2CF9AE}" pid="6" name="LastSaved">
    <vt:filetime>2026-09-18T00:00:00Z</vt:filetime>
  </property>
</Properties>
</file>